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74" r:id="rId106"/>
    <p:sldId id="379" r:id="rId111"/>
    <p:sldId id="362" r:id="rId94"/>
    <p:sldId id="371" r:id="rId103"/>
    <p:sldId id="364" r:id="rId96"/>
    <p:sldId id="368" r:id="rId100"/>
    <p:sldId id="383" r:id="rId115"/>
    <p:sldId id="373" r:id="rId105"/>
    <p:sldId id="388" r:id="rId120"/>
    <p:sldId id="16669906" r:id="rId125"/>
    <p:sldId id="370" r:id="rId102"/>
    <p:sldId id="385" r:id="rId1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91" Type="http://schemas.openxmlformats.org/officeDocument/2006/relationships/slide" Target="slides/slide1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1.xlsx"/><Relationship Id="rId2" Type="http://schemas.microsoft.com/office/2011/relationships/chartStyle" Target="style39.xml"/><Relationship Id="rId3" Type="http://schemas.microsoft.com/office/2011/relationships/chartColorStyle" Target="colors39.xml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2.xlsx"/><Relationship Id="rId2" Type="http://schemas.microsoft.com/office/2011/relationships/chartStyle" Target="style40.xml"/><Relationship Id="rId3" Type="http://schemas.microsoft.com/office/2011/relationships/chartColorStyle" Target="colors40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3.xlsx"/><Relationship Id="rId2" Type="http://schemas.microsoft.com/office/2011/relationships/chartStyle" Target="style41.xml"/><Relationship Id="rId3" Type="http://schemas.microsoft.com/office/2011/relationships/chartColorStyle" Target="colors41.xml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4.xlsx"/><Relationship Id="rId2" Type="http://schemas.microsoft.com/office/2011/relationships/chartStyle" Target="style42.xml"/><Relationship Id="rId3" Type="http://schemas.microsoft.com/office/2011/relationships/chartColorStyle" Target="colors42.xml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5.xlsx"/><Relationship Id="rId2" Type="http://schemas.microsoft.com/office/2011/relationships/chartStyle" Target="style43.xml"/><Relationship Id="rId3" Type="http://schemas.microsoft.com/office/2011/relationships/chartColorStyle" Target="colors43.xml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6.xlsx"/><Relationship Id="rId2" Type="http://schemas.microsoft.com/office/2011/relationships/chartStyle" Target="style44.xml"/><Relationship Id="rId3" Type="http://schemas.microsoft.com/office/2011/relationships/chartColorStyle" Target="colors44.xml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8.xlsx"/><Relationship Id="rId2" Type="http://schemas.microsoft.com/office/2011/relationships/chartStyle" Target="style45.xml"/><Relationship Id="rId3" Type="http://schemas.microsoft.com/office/2011/relationships/chartColorStyle" Target="colors45.xml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643391408"/>
        <c:crosses val="autoZero"/>
        <c:auto val="0"/>
        <c:lblAlgn val="ctr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"/>
          <c:y val="0.128023791482117"/>
          <c:w val="0.50232461598815"/>
          <c:h val="0.753486764719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0.01220879148345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80159125929055e-17"/>
                  <c:y val="-0.03662637445036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305219787086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183131872251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61932126872528"/>
                  <c:y val="0.154838238319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381346462111931"/>
                  <c:y val="0.07548109367699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1546677412322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5722376840501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76638103644423"/>
                  <c:y val="0.1827656085073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61932126872528"/>
                  <c:y val="0.19146461276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61932126872528"/>
                  <c:y val="0.099898676643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61932126872529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268317841398303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0.103</c:v>
                </c:pt>
                <c:pt idx="3">
                  <c:v>0.111</c:v>
                </c:pt>
                <c:pt idx="4">
                  <c:v>0.173</c:v>
                </c:pt>
                <c:pt idx="5">
                  <c:v>0.188</c:v>
                </c:pt>
                <c:pt idx="6">
                  <c:v>0.2</c:v>
                </c:pt>
                <c:pt idx="7">
                  <c:v>0.195</c:v>
                </c:pt>
                <c:pt idx="8">
                  <c:v>0.154</c:v>
                </c:pt>
                <c:pt idx="9">
                  <c:v>0.157</c:v>
                </c:pt>
                <c:pt idx="10">
                  <c:v>0.165</c:v>
                </c:pt>
                <c:pt idx="11">
                  <c:v>0.235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ayout>
        <c:manualLayout>
          <c:xMode val="edge"/>
          <c:yMode val="edge"/>
          <c:x val="0.21096486628365"/>
          <c:y val="0.0854615403841828"/>
          <c:w val="0.566940262253303"/>
          <c:h val="0.103103244077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8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2.xml"/><Relationship Id="rId2" Type="http://schemas.openxmlformats.org/officeDocument/2006/relationships/tags" Target="../tags/tag483.xml"/><Relationship Id="rId3" Type="http://schemas.openxmlformats.org/officeDocument/2006/relationships/tags" Target="../tags/tag484.xml"/><Relationship Id="rId4" Type="http://schemas.openxmlformats.org/officeDocument/2006/relationships/tags" Target="../tags/tag485.xml"/><Relationship Id="rId5" Type="http://schemas.openxmlformats.org/officeDocument/2006/relationships/tags" Target="../tags/tag486.xml"/><Relationship Id="rId6" Type="http://schemas.openxmlformats.org/officeDocument/2006/relationships/tags" Target="../tags/tag487.xml"/><Relationship Id="rId7" Type="http://schemas.openxmlformats.org/officeDocument/2006/relationships/tags" Target="../tags/tag488.xml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tags" Target="../tags/tag500.xml"/><Relationship Id="rId20" Type="http://schemas.openxmlformats.org/officeDocument/2006/relationships/tags" Target="../tags/tag501.xml"/><Relationship Id="rId21" Type="http://schemas.openxmlformats.org/officeDocument/2006/relationships/tags" Target="../tags/tag502.xml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20" Type="http://schemas.openxmlformats.org/officeDocument/2006/relationships/tags" Target="../tags/tag522.xml"/><Relationship Id="rId21" Type="http://schemas.openxmlformats.org/officeDocument/2006/relationships/tags" Target="../tags/tag523.xml"/><Relationship Id="rId22" Type="http://schemas.openxmlformats.org/officeDocument/2006/relationships/tags" Target="../tags/tag524.xml"/><Relationship Id="rId23" Type="http://schemas.openxmlformats.org/officeDocument/2006/relationships/tags" Target="../tags/tag525.xml"/><Relationship Id="rId24" Type="http://schemas.openxmlformats.org/officeDocument/2006/relationships/tags" Target="../tags/tag526.xml"/><Relationship Id="rId25" Type="http://schemas.openxmlformats.org/officeDocument/2006/relationships/tags" Target="../tags/tag527.xml"/><Relationship Id="rId26" Type="http://schemas.openxmlformats.org/officeDocument/2006/relationships/tags" Target="../tags/tag528.xml"/><Relationship Id="rId27" Type="http://schemas.openxmlformats.org/officeDocument/2006/relationships/tags" Target="../tags/tag529.xml"/><Relationship Id="rId28" Type="http://schemas.openxmlformats.org/officeDocument/2006/relationships/tags" Target="../tags/tag530.xml"/><Relationship Id="rId29" Type="http://schemas.openxmlformats.org/officeDocument/2006/relationships/tags" Target="../tags/tag531.xml"/><Relationship Id="rId30" Type="http://schemas.openxmlformats.org/officeDocument/2006/relationships/tags" Target="../tags/tag532.xml"/><Relationship Id="rId31" Type="http://schemas.openxmlformats.org/officeDocument/2006/relationships/tags" Target="../tags/tag533.xml"/><Relationship Id="rId32" Type="http://schemas.openxmlformats.org/officeDocument/2006/relationships/tags" Target="../tags/tag534.xml"/><Relationship Id="rId33" Type="http://schemas.openxmlformats.org/officeDocument/2006/relationships/tags" Target="../tags/tag535.xml"/><Relationship Id="rId34" Type="http://schemas.openxmlformats.org/officeDocument/2006/relationships/tags" Target="../tags/tag536.xml"/><Relationship Id="rId35" Type="http://schemas.openxmlformats.org/officeDocument/2006/relationships/tags" Target="../tags/tag537.xml"/><Relationship Id="rId36" Type="http://schemas.openxmlformats.org/officeDocument/2006/relationships/tags" Target="../tags/tag538.xml"/><Relationship Id="rId37" Type="http://schemas.openxmlformats.org/officeDocument/2006/relationships/tags" Target="../tags/tag539.xml"/><Relationship Id="rId38" Type="http://schemas.openxmlformats.org/officeDocument/2006/relationships/tags" Target="../tags/tag540.xml"/><Relationship Id="rId39" Type="http://schemas.openxmlformats.org/officeDocument/2006/relationships/tags" Target="../tags/tag541.xml"/><Relationship Id="rId40" Type="http://schemas.openxmlformats.org/officeDocument/2006/relationships/tags" Target="../tags/tag542.xml"/><Relationship Id="rId41" Type="http://schemas.openxmlformats.org/officeDocument/2006/relationships/tags" Target="../tags/tag543.xml"/><Relationship Id="rId42" Type="http://schemas.openxmlformats.org/officeDocument/2006/relationships/tags" Target="../tags/tag544.xml"/><Relationship Id="rId43" Type="http://schemas.openxmlformats.org/officeDocument/2006/relationships/tags" Target="../tags/tag545.xml"/><Relationship Id="rId44" Type="http://schemas.openxmlformats.org/officeDocument/2006/relationships/tags" Target="../tags/tag546.xml"/><Relationship Id="rId45" Type="http://schemas.openxmlformats.org/officeDocument/2006/relationships/tags" Target="../tags/tag547.xml"/><Relationship Id="rId46" Type="http://schemas.openxmlformats.org/officeDocument/2006/relationships/tags" Target="../tags/tag548.xml"/><Relationship Id="rId47" Type="http://schemas.openxmlformats.org/officeDocument/2006/relationships/tags" Target="../tags/tag549.xml"/><Relationship Id="rId48" Type="http://schemas.openxmlformats.org/officeDocument/2006/relationships/tags" Target="../tags/tag550.xml"/><Relationship Id="rId49" Type="http://schemas.openxmlformats.org/officeDocument/2006/relationships/tags" Target="../tags/tag551.xml"/><Relationship Id="rId50" Type="http://schemas.openxmlformats.org/officeDocument/2006/relationships/tags" Target="../tags/tag552.xml"/><Relationship Id="rId51" Type="http://schemas.openxmlformats.org/officeDocument/2006/relationships/tags" Target="../tags/tag553.xml"/><Relationship Id="rId52" Type="http://schemas.openxmlformats.org/officeDocument/2006/relationships/tags" Target="../tags/tag554.xml"/><Relationship Id="rId53" Type="http://schemas.openxmlformats.org/officeDocument/2006/relationships/tags" Target="../tags/tag555.xml"/><Relationship Id="rId54" Type="http://schemas.openxmlformats.org/officeDocument/2006/relationships/tags" Target="../tags/tag556.xml"/><Relationship Id="rId55" Type="http://schemas.openxmlformats.org/officeDocument/2006/relationships/tags" Target="../tags/tag557.xml"/><Relationship Id="rId56" Type="http://schemas.openxmlformats.org/officeDocument/2006/relationships/tags" Target="../tags/tag558.xml"/><Relationship Id="rId57" Type="http://schemas.openxmlformats.org/officeDocument/2006/relationships/tags" Target="../tags/tag559.xml"/><Relationship Id="rId58" Type="http://schemas.openxmlformats.org/officeDocument/2006/relationships/tags" Target="../tags/tag560.xml"/><Relationship Id="rId59" Type="http://schemas.openxmlformats.org/officeDocument/2006/relationships/tags" Target="../tags/tag561.xml"/><Relationship Id="rId60" Type="http://schemas.openxmlformats.org/officeDocument/2006/relationships/tags" Target="../tags/tag562.xml"/><Relationship Id="rId61" Type="http://schemas.openxmlformats.org/officeDocument/2006/relationships/tags" Target="../tags/tag563.xml"/><Relationship Id="rId62" Type="http://schemas.openxmlformats.org/officeDocument/2006/relationships/tags" Target="../tags/tag564.xml"/><Relationship Id="rId63" Type="http://schemas.openxmlformats.org/officeDocument/2006/relationships/slideLayout" Target="../slideLayouts/slideLayout5.xml"/><Relationship Id="rId64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9.svg"/><Relationship Id="rId3" Type="http://schemas.openxmlformats.org/officeDocument/2006/relationships/image" Target="../media/image59.png"/><Relationship Id="rId4" Type="http://schemas.openxmlformats.org/officeDocument/2006/relationships/image" Target="../media/image20.svg"/><Relationship Id="rId5" Type="http://schemas.openxmlformats.org/officeDocument/2006/relationships/image" Target="../media/image60.png"/><Relationship Id="rId6" Type="http://schemas.openxmlformats.org/officeDocument/2006/relationships/image" Target="../media/image21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65.xml"/><Relationship Id="rId1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24.svg"/><Relationship Id="rId3" Type="http://schemas.openxmlformats.org/officeDocument/2006/relationships/tags" Target="../tags/tag566.xml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25.svg"/><Relationship Id="rId3" Type="http://schemas.openxmlformats.org/officeDocument/2006/relationships/image" Target="../media/image65.png"/><Relationship Id="rId4" Type="http://schemas.openxmlformats.org/officeDocument/2006/relationships/image" Target="../media/image26.svg"/><Relationship Id="rId5" Type="http://schemas.openxmlformats.org/officeDocument/2006/relationships/tags" Target="../tags/tag568.xml"/><Relationship Id="rId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7.svg"/><Relationship Id="rId3" Type="http://schemas.openxmlformats.org/officeDocument/2006/relationships/image" Target="../media/image66.png"/><Relationship Id="rId4" Type="http://schemas.openxmlformats.org/officeDocument/2006/relationships/image" Target="../media/image28.svg"/><Relationship Id="rId5" Type="http://schemas.openxmlformats.org/officeDocument/2006/relationships/image" Target="../media/image59.png"/><Relationship Id="rId6" Type="http://schemas.openxmlformats.org/officeDocument/2006/relationships/image" Target="../media/image29.svg"/><Relationship Id="rId7" Type="http://schemas.openxmlformats.org/officeDocument/2006/relationships/image" Target="../media/image60.png"/><Relationship Id="rId8" Type="http://schemas.openxmlformats.org/officeDocument/2006/relationships/image" Target="../media/image30.svg"/><Relationship Id="rId9" Type="http://schemas.openxmlformats.org/officeDocument/2006/relationships/image" Target="../media/image67.png"/><Relationship Id="rId10" Type="http://schemas.openxmlformats.org/officeDocument/2006/relationships/image" Target="../media/image31.svg"/><Relationship Id="rId11" Type="http://schemas.openxmlformats.org/officeDocument/2006/relationships/image" Target="../media/image62.png"/><Relationship Id="rId12" Type="http://schemas.openxmlformats.org/officeDocument/2006/relationships/image" Target="../media/image32.svg"/><Relationship Id="rId13" Type="http://schemas.openxmlformats.org/officeDocument/2006/relationships/tags" Target="../tags/tag569.xml"/><Relationship Id="rId1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33.svg"/><Relationship Id="rId3" Type="http://schemas.openxmlformats.org/officeDocument/2006/relationships/image" Target="../media/image69.png"/><Relationship Id="rId4" Type="http://schemas.openxmlformats.org/officeDocument/2006/relationships/image" Target="../media/image34.svg"/><Relationship Id="rId5" Type="http://schemas.openxmlformats.org/officeDocument/2006/relationships/image" Target="../media/image70.png"/><Relationship Id="rId6" Type="http://schemas.openxmlformats.org/officeDocument/2006/relationships/image" Target="../media/image35.svg"/><Relationship Id="rId7" Type="http://schemas.openxmlformats.org/officeDocument/2006/relationships/tags" Target="../tags/tag570.xml"/><Relationship Id="rId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36.svg"/><Relationship Id="rId3" Type="http://schemas.openxmlformats.org/officeDocument/2006/relationships/image" Target="../media/image61.png"/><Relationship Id="rId4" Type="http://schemas.openxmlformats.org/officeDocument/2006/relationships/image" Target="../media/image37.svg"/><Relationship Id="rId5" Type="http://schemas.openxmlformats.org/officeDocument/2006/relationships/image" Target="../media/image66.png"/><Relationship Id="rId6" Type="http://schemas.openxmlformats.org/officeDocument/2006/relationships/image" Target="../media/image38.svg"/><Relationship Id="rId7" Type="http://schemas.openxmlformats.org/officeDocument/2006/relationships/image" Target="../media/image62.png"/><Relationship Id="rId8" Type="http://schemas.openxmlformats.org/officeDocument/2006/relationships/image" Target="../media/image39.svg"/><Relationship Id="rId9" Type="http://schemas.openxmlformats.org/officeDocument/2006/relationships/image" Target="../media/image67.png"/><Relationship Id="rId10" Type="http://schemas.openxmlformats.org/officeDocument/2006/relationships/image" Target="../media/image40.svg"/><Relationship Id="rId11" Type="http://schemas.openxmlformats.org/officeDocument/2006/relationships/tags" Target="../tags/tag571.xml"/><Relationship Id="rId1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2.xml"/><Relationship Id="rId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7.svg"/><Relationship Id="rId3" Type="http://schemas.openxmlformats.org/officeDocument/2006/relationships/image" Target="../media/image66.png"/><Relationship Id="rId4" Type="http://schemas.openxmlformats.org/officeDocument/2006/relationships/image" Target="../media/image38.svg"/><Relationship Id="rId5" Type="http://schemas.openxmlformats.org/officeDocument/2006/relationships/image" Target="../media/image62.png"/><Relationship Id="rId6" Type="http://schemas.openxmlformats.org/officeDocument/2006/relationships/image" Target="../media/image39.svg"/><Relationship Id="rId7" Type="http://schemas.openxmlformats.org/officeDocument/2006/relationships/image" Target="../media/image67.png"/><Relationship Id="rId8" Type="http://schemas.openxmlformats.org/officeDocument/2006/relationships/image" Target="../media/image40.svg"/><Relationship Id="rId9" Type="http://schemas.openxmlformats.org/officeDocument/2006/relationships/tags" Target="../tags/tag573.xml"/><Relationship Id="rId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2.svg"/><Relationship Id="rId3" Type="http://schemas.openxmlformats.org/officeDocument/2006/relationships/image" Target="../media/image66.png"/><Relationship Id="rId4" Type="http://schemas.openxmlformats.org/officeDocument/2006/relationships/image" Target="../media/image42.svg"/><Relationship Id="rId5" Type="http://schemas.openxmlformats.org/officeDocument/2006/relationships/image" Target="../media/image62.png"/><Relationship Id="rId6" Type="http://schemas.openxmlformats.org/officeDocument/2006/relationships/image" Target="../media/image23.svg"/><Relationship Id="rId7" Type="http://schemas.openxmlformats.org/officeDocument/2006/relationships/image" Target="../media/image59.png"/><Relationship Id="rId8" Type="http://schemas.openxmlformats.org/officeDocument/2006/relationships/image" Target="../media/image20.svg"/><Relationship Id="rId9" Type="http://schemas.openxmlformats.org/officeDocument/2006/relationships/image" Target="../media/image60.png"/><Relationship Id="rId10" Type="http://schemas.openxmlformats.org/officeDocument/2006/relationships/image" Target="../media/image21.svg"/><Relationship Id="rId11" Type="http://schemas.openxmlformats.org/officeDocument/2006/relationships/image" Target="../media/image67.png"/><Relationship Id="rId12" Type="http://schemas.openxmlformats.org/officeDocument/2006/relationships/image" Target="../media/image43.svg"/><Relationship Id="rId13" Type="http://schemas.openxmlformats.org/officeDocument/2006/relationships/image" Target="../media/image68.png"/><Relationship Id="rId14" Type="http://schemas.openxmlformats.org/officeDocument/2006/relationships/image" Target="../media/image41.svg"/><Relationship Id="rId15" Type="http://schemas.openxmlformats.org/officeDocument/2006/relationships/tags" Target="../tags/tag574.xml"/><Relationship Id="rId1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575.xml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7.png"/><Relationship Id="rId6" Type="http://schemas.openxmlformats.org/officeDocument/2006/relationships/image" Target="../media/image43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76.xml"/><Relationship Id="rId1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7.xml"/><Relationship Id="rId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2.png"/><Relationship Id="rId4" Type="http://schemas.openxmlformats.org/officeDocument/2006/relationships/image" Target="../media/image23.svg"/><Relationship Id="rId5" Type="http://schemas.openxmlformats.org/officeDocument/2006/relationships/tags" Target="../tags/tag578.xml"/><Relationship Id="rId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21.svg"/><Relationship Id="rId3" Type="http://schemas.openxmlformats.org/officeDocument/2006/relationships/image" Target="../media/image67.png"/><Relationship Id="rId4" Type="http://schemas.openxmlformats.org/officeDocument/2006/relationships/image" Target="../media/image43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79.xml"/><Relationship Id="rId1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44.svg"/><Relationship Id="rId3" Type="http://schemas.openxmlformats.org/officeDocument/2006/relationships/image" Target="../media/image72.png"/><Relationship Id="rId4" Type="http://schemas.openxmlformats.org/officeDocument/2006/relationships/image" Target="../media/image45.svg"/><Relationship Id="rId5" Type="http://schemas.openxmlformats.org/officeDocument/2006/relationships/image" Target="../media/image73.png"/><Relationship Id="rId6" Type="http://schemas.openxmlformats.org/officeDocument/2006/relationships/image" Target="../media/image46.svg"/><Relationship Id="rId7" Type="http://schemas.openxmlformats.org/officeDocument/2006/relationships/tags" Target="../tags/tag580.xml"/><Relationship Id="rId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47.svg"/><Relationship Id="rId3" Type="http://schemas.openxmlformats.org/officeDocument/2006/relationships/tags" Target="../tags/tag581.xml"/><Relationship Id="rId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82.xml"/><Relationship Id="rId1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83.xml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84.xml"/><Relationship Id="rId2" Type="http://schemas.openxmlformats.org/officeDocument/2006/relationships/tags" Target="../tags/tag585.xml"/><Relationship Id="rId3" Type="http://schemas.openxmlformats.org/officeDocument/2006/relationships/tags" Target="../tags/tag586.xml"/><Relationship Id="rId4" Type="http://schemas.openxmlformats.org/officeDocument/2006/relationships/tags" Target="../tags/tag587.xml"/><Relationship Id="rId5" Type="http://schemas.openxmlformats.org/officeDocument/2006/relationships/tags" Target="../tags/tag588.xml"/><Relationship Id="rId6" Type="http://schemas.openxmlformats.org/officeDocument/2006/relationships/tags" Target="../tags/tag589.xml"/><Relationship Id="rId7" Type="http://schemas.openxmlformats.org/officeDocument/2006/relationships/tags" Target="../tags/tag590.xml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image" Target="../media/image59.png"/><Relationship Id="rId19" Type="http://schemas.openxmlformats.org/officeDocument/2006/relationships/image" Target="../media/image20.svg"/><Relationship Id="rId20" Type="http://schemas.openxmlformats.org/officeDocument/2006/relationships/image" Target="../media/image60.png"/><Relationship Id="rId21" Type="http://schemas.openxmlformats.org/officeDocument/2006/relationships/image" Target="../media/image21.svg"/><Relationship Id="rId22" Type="http://schemas.openxmlformats.org/officeDocument/2006/relationships/tags" Target="../tags/tag601.xml"/><Relationship Id="rId23" Type="http://schemas.openxmlformats.org/officeDocument/2006/relationships/image" Target="../media/image61.png"/><Relationship Id="rId24" Type="http://schemas.openxmlformats.org/officeDocument/2006/relationships/image" Target="../media/image22.svg"/><Relationship Id="rId25" Type="http://schemas.openxmlformats.org/officeDocument/2006/relationships/tags" Target="../tags/tag602.xml"/><Relationship Id="rId26" Type="http://schemas.openxmlformats.org/officeDocument/2006/relationships/image" Target="../media/image62.png"/><Relationship Id="rId27" Type="http://schemas.openxmlformats.org/officeDocument/2006/relationships/image" Target="../media/image23.svg"/><Relationship Id="rId28" Type="http://schemas.openxmlformats.org/officeDocument/2006/relationships/tags" Target="../tags/tag603.xml"/><Relationship Id="rId2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48.svg"/><Relationship Id="rId3" Type="http://schemas.openxmlformats.org/officeDocument/2006/relationships/image" Target="../media/image76.png"/><Relationship Id="rId4" Type="http://schemas.openxmlformats.org/officeDocument/2006/relationships/image" Target="../media/image49.svg"/><Relationship Id="rId5" Type="http://schemas.openxmlformats.org/officeDocument/2006/relationships/image" Target="../media/image77.png"/><Relationship Id="rId6" Type="http://schemas.openxmlformats.org/officeDocument/2006/relationships/image" Target="../media/image50.svg"/><Relationship Id="rId7" Type="http://schemas.openxmlformats.org/officeDocument/2006/relationships/image" Target="../media/image78.png"/><Relationship Id="rId8" Type="http://schemas.openxmlformats.org/officeDocument/2006/relationships/image" Target="../media/image51.svg"/><Relationship Id="rId9" Type="http://schemas.openxmlformats.org/officeDocument/2006/relationships/image" Target="../media/image79.png"/><Relationship Id="rId10" Type="http://schemas.openxmlformats.org/officeDocument/2006/relationships/image" Target="../media/image52.svg"/><Relationship Id="rId11" Type="http://schemas.openxmlformats.org/officeDocument/2006/relationships/tags" Target="../tags/tag604.xml"/><Relationship Id="rId1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chart" Target="../charts/chart48.xml"/><Relationship Id="rId3" Type="http://schemas.openxmlformats.org/officeDocument/2006/relationships/tags" Target="../tags/tag605.xml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606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7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08.xml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53.svg"/><Relationship Id="rId3" Type="http://schemas.openxmlformats.org/officeDocument/2006/relationships/tags" Target="../tags/tag609.xml"/><Relationship Id="rId4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10.xml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12.xml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tags" Target="../tags/tag635.xml"/><Relationship Id="rId24" Type="http://schemas.openxmlformats.org/officeDocument/2006/relationships/tags" Target="../tags/tag636.xml"/><Relationship Id="rId25" Type="http://schemas.openxmlformats.org/officeDocument/2006/relationships/tags" Target="../tags/tag637.xml"/><Relationship Id="rId26" Type="http://schemas.openxmlformats.org/officeDocument/2006/relationships/tags" Target="../tags/tag638.xml"/><Relationship Id="rId27" Type="http://schemas.openxmlformats.org/officeDocument/2006/relationships/tags" Target="../tags/tag639.xml"/><Relationship Id="rId28" Type="http://schemas.openxmlformats.org/officeDocument/2006/relationships/tags" Target="../tags/tag640.xml"/><Relationship Id="rId29" Type="http://schemas.openxmlformats.org/officeDocument/2006/relationships/tags" Target="../tags/tag641.xml"/><Relationship Id="rId30" Type="http://schemas.openxmlformats.org/officeDocument/2006/relationships/tags" Target="../tags/tag642.xml"/><Relationship Id="rId31" Type="http://schemas.openxmlformats.org/officeDocument/2006/relationships/tags" Target="../tags/tag643.xml"/><Relationship Id="rId32" Type="http://schemas.openxmlformats.org/officeDocument/2006/relationships/tags" Target="../tags/tag644.xml"/><Relationship Id="rId33" Type="http://schemas.openxmlformats.org/officeDocument/2006/relationships/tags" Target="../tags/tag645.xml"/><Relationship Id="rId34" Type="http://schemas.openxmlformats.org/officeDocument/2006/relationships/tags" Target="../tags/tag646.xml"/><Relationship Id="rId35" Type="http://schemas.openxmlformats.org/officeDocument/2006/relationships/tags" Target="../tags/tag647.xml"/><Relationship Id="rId36" Type="http://schemas.openxmlformats.org/officeDocument/2006/relationships/tags" Target="../tags/tag648.xml"/><Relationship Id="rId37" Type="http://schemas.openxmlformats.org/officeDocument/2006/relationships/tags" Target="../tags/tag649.xml"/><Relationship Id="rId38" Type="http://schemas.openxmlformats.org/officeDocument/2006/relationships/tags" Target="../tags/tag650.xml"/><Relationship Id="rId39" Type="http://schemas.openxmlformats.org/officeDocument/2006/relationships/tags" Target="../tags/tag651.xml"/><Relationship Id="rId40" Type="http://schemas.openxmlformats.org/officeDocument/2006/relationships/tags" Target="../tags/tag652.xml"/><Relationship Id="rId41" Type="http://schemas.openxmlformats.org/officeDocument/2006/relationships/tags" Target="../tags/tag653.xml"/><Relationship Id="rId42" Type="http://schemas.openxmlformats.org/officeDocument/2006/relationships/image" Target="../media/image59.png"/><Relationship Id="rId43" Type="http://schemas.openxmlformats.org/officeDocument/2006/relationships/image" Target="../media/image20.svg"/><Relationship Id="rId44" Type="http://schemas.openxmlformats.org/officeDocument/2006/relationships/image" Target="../media/image60.png"/><Relationship Id="rId45" Type="http://schemas.openxmlformats.org/officeDocument/2006/relationships/image" Target="../media/image21.svg"/><Relationship Id="rId46" Type="http://schemas.openxmlformats.org/officeDocument/2006/relationships/image" Target="../media/image61.png"/><Relationship Id="rId47" Type="http://schemas.openxmlformats.org/officeDocument/2006/relationships/image" Target="../media/image22.svg"/><Relationship Id="rId48" Type="http://schemas.openxmlformats.org/officeDocument/2006/relationships/image" Target="../media/image62.png"/><Relationship Id="rId49" Type="http://schemas.openxmlformats.org/officeDocument/2006/relationships/image" Target="../media/image23.svg"/><Relationship Id="rId50" Type="http://schemas.openxmlformats.org/officeDocument/2006/relationships/tags" Target="../tags/tag654.xml"/><Relationship Id="rId5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/>
                <a:gridCol w="9469120"/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Heavy" panose="020B0A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年初基准期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短视频推广启动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老用户裂变活动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秋季推广活动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年底收尾期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组合 202"/>
          <p:cNvGrpSpPr/>
          <p:nvPr/>
        </p:nvGrpSpPr>
        <p:grpSpPr>
          <a:xfrm>
            <a:off x="310515" y="1012190"/>
            <a:ext cx="11621135" cy="2516505"/>
            <a:chOff x="478" y="1594"/>
            <a:chExt cx="18301" cy="3963"/>
          </a:xfrm>
        </p:grpSpPr>
        <p:sp>
          <p:nvSpPr>
            <p:cNvPr id="200" name="任意多边形 199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2" name="任意多边形 201"/>
            <p:cNvSpPr/>
            <p:nvPr/>
          </p:nvSpPr>
          <p:spPr>
            <a:xfrm flipH="1">
              <a:off x="9847" y="1594"/>
              <a:ext cx="8932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 flipV="1">
            <a:off x="310515" y="3891915"/>
            <a:ext cx="11541125" cy="2515870"/>
            <a:chOff x="478" y="1594"/>
            <a:chExt cx="18175" cy="3962"/>
          </a:xfrm>
        </p:grpSpPr>
        <p:sp>
          <p:nvSpPr>
            <p:cNvPr id="205" name="任意多边形 204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 flipH="1">
              <a:off x="9847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86690" y="15811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8295" y="1192530"/>
            <a:ext cx="1461770" cy="227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S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57813" y="981060"/>
            <a:ext cx="2259965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W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8509" y="3983162"/>
            <a:ext cx="18072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O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89968" y="3983162"/>
            <a:ext cx="14516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T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4401820" y="2001838"/>
            <a:ext cx="3408045" cy="3364230"/>
          </a:xfrm>
          <a:prstGeom prst="flowChartDecision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V="1">
            <a:off x="328295" y="3671313"/>
            <a:ext cx="4705460" cy="13256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6933998" y="3684569"/>
            <a:ext cx="4807763" cy="0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6096000" y="4573367"/>
            <a:ext cx="0" cy="1963179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6096000" y="945371"/>
            <a:ext cx="0" cy="1801107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菱形 185"/>
          <p:cNvSpPr/>
          <p:nvPr/>
        </p:nvSpPr>
        <p:spPr>
          <a:xfrm>
            <a:off x="5034767" y="2612877"/>
            <a:ext cx="2142151" cy="2142151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231389" y="3400868"/>
            <a:ext cx="16262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SWOT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508635" y="318008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核心能力与成果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 rot="18900000">
            <a:off x="4552315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Strengths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11" name="组合 210"/>
          <p:cNvGrpSpPr/>
          <p:nvPr>
            <p:custDataLst>
              <p:tags r:id="rId1"/>
            </p:custDataLst>
          </p:nvPr>
        </p:nvGrpSpPr>
        <p:grpSpPr>
          <a:xfrm>
            <a:off x="508635" y="1111885"/>
            <a:ext cx="5013325" cy="799465"/>
            <a:chOff x="801" y="1751"/>
            <a:chExt cx="7895" cy="1259"/>
          </a:xfrm>
        </p:grpSpPr>
        <p:sp>
          <p:nvSpPr>
            <p:cNvPr id="209" name="文本框 81"/>
            <p:cNvSpPr txBox="1"/>
            <p:nvPr>
              <p:custDataLst>
                <p:tags r:id="rId2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关键词：短视频精准投放、老用户分层裂变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单季新增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万用户（占全年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），获客成本降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，可复用至新业务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用户增长组合策略（短视频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裂变）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grpSp>
        <p:nvGrpSpPr>
          <p:cNvPr id="212" name="组合 211"/>
          <p:cNvGrpSpPr/>
          <p:nvPr>
            <p:custDataLst>
              <p:tags r:id="rId4"/>
            </p:custDataLst>
          </p:nvPr>
        </p:nvGrpSpPr>
        <p:grpSpPr>
          <a:xfrm>
            <a:off x="508635" y="2044065"/>
            <a:ext cx="3893185" cy="799465"/>
            <a:chOff x="801" y="1751"/>
            <a:chExt cx="6131" cy="1259"/>
          </a:xfrm>
        </p:grpSpPr>
        <p:sp>
          <p:nvSpPr>
            <p:cNvPr id="213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801" y="2325"/>
              <a:ext cx="6131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4" name="圆角矩形 213"/>
            <p:cNvSpPr/>
            <p:nvPr>
              <p:custDataLst>
                <p:tags r:id="rId6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项目管理高效模式（调研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预案）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 rot="2700000">
            <a:off x="5894070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Weaknesses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3" name="文本框 222"/>
          <p:cNvSpPr txBox="1"/>
          <p:nvPr/>
        </p:nvSpPr>
        <p:spPr>
          <a:xfrm rot="2700000" flipH="1">
            <a:off x="4556760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Opportunities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 rot="18900000" flipH="1">
            <a:off x="5898515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Threats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6781165" y="1111885"/>
            <a:ext cx="5013325" cy="1731645"/>
            <a:chOff x="10503" y="1934"/>
            <a:chExt cx="7895" cy="2727"/>
          </a:xfrm>
        </p:grpSpPr>
        <p:grpSp>
          <p:nvGrpSpPr>
            <p:cNvPr id="231" name="组合 230"/>
            <p:cNvGrpSpPr/>
            <p:nvPr/>
          </p:nvGrpSpPr>
          <p:grpSpPr>
            <a:xfrm>
              <a:off x="10503" y="1934"/>
              <a:ext cx="7895" cy="1057"/>
              <a:chOff x="10503" y="1934"/>
              <a:chExt cx="7895" cy="1057"/>
            </a:xfrm>
          </p:grpSpPr>
          <p:sp>
            <p:nvSpPr>
              <p:cNvPr id="226" name="文本框 8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503" y="2508"/>
                <a:ext cx="7895" cy="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关键词：新客差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家、销售渠道单一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依据：目标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30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家实际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家，仅依赖线上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老客推荐，错失线下传统行业客户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27" name="圆角矩形 2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新客签约缺口（渠道单一）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29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个项目平均延期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名核心开发离职致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个项目停滞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0" name="圆角矩形 229"/>
            <p:cNvSpPr/>
            <p:nvPr>
              <p:custDataLst>
                <p:tags r:id="rId10"/>
              </p:custDataLst>
            </p:nvPr>
          </p:nvSpPr>
          <p:spPr>
            <a:xfrm>
              <a:off x="14761" y="3402"/>
              <a:ext cx="3637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项目交付风险（需求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资源）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8532495" y="3018155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待改进短板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劣势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34" name="组合 233"/>
          <p:cNvGrpSpPr/>
          <p:nvPr/>
        </p:nvGrpSpPr>
        <p:grpSpPr>
          <a:xfrm>
            <a:off x="6781165" y="4018280"/>
            <a:ext cx="5013325" cy="1731645"/>
            <a:chOff x="10503" y="1934"/>
            <a:chExt cx="7895" cy="2727"/>
          </a:xfrm>
        </p:grpSpPr>
        <p:grpSp>
          <p:nvGrpSpPr>
            <p:cNvPr id="235" name="组合 234"/>
            <p:cNvGrpSpPr/>
            <p:nvPr/>
          </p:nvGrpSpPr>
          <p:grpSpPr>
            <a:xfrm>
              <a:off x="10503" y="1934"/>
              <a:ext cx="7895" cy="1259"/>
              <a:chOff x="10503" y="1934"/>
              <a:chExt cx="7895" cy="1259"/>
            </a:xfrm>
          </p:grpSpPr>
          <p:sp>
            <p:nvSpPr>
              <p:cNvPr id="236" name="文本框 8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503" y="2508"/>
                <a:ext cx="7895" cy="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关键词：竞品优惠策略、客户流失风险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首单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折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免费运维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，抢占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15%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潜在客户（如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B/C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企业）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37" name="圆角矩形 2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行业竞争加剧（竞品抢客）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38" name="文本框 81"/>
            <p:cNvSpPr txBox="1"/>
            <p:nvPr>
              <p:custDataLst>
                <p:tags r:id="rId13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依据：服务器供应商因上游芯片短缺延期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9" name="圆角矩形 238"/>
            <p:cNvSpPr/>
            <p:nvPr>
              <p:custDataLst>
                <p:tags r:id="rId14"/>
              </p:custDataLst>
            </p:nvPr>
          </p:nvSpPr>
          <p:spPr>
            <a:xfrm>
              <a:off x="15677" y="3402"/>
              <a:ext cx="272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外部供应链不稳定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853249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外部风险与挑战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威胁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863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可拓展空间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42" name="组合 241"/>
          <p:cNvGrpSpPr/>
          <p:nvPr>
            <p:custDataLst>
              <p:tags r:id="rId15"/>
            </p:custDataLst>
          </p:nvPr>
        </p:nvGrpSpPr>
        <p:grpSpPr>
          <a:xfrm>
            <a:off x="508635" y="3983355"/>
            <a:ext cx="5013325" cy="799465"/>
            <a:chOff x="801" y="1751"/>
            <a:chExt cx="7895" cy="1259"/>
          </a:xfrm>
        </p:grpSpPr>
        <p:sp>
          <p:nvSpPr>
            <p:cNvPr id="243" name="文本框 81"/>
            <p:cNvSpPr txBox="1"/>
            <p:nvPr>
              <p:custDataLst>
                <p:tags r:id="rId16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4" name="圆角矩形 243"/>
            <p:cNvSpPr/>
            <p:nvPr>
              <p:custDataLst>
                <p:tags r:id="rId17"/>
              </p:custDataLst>
            </p:nvPr>
          </p:nvSpPr>
          <p:spPr>
            <a:xfrm>
              <a:off x="801" y="1751"/>
              <a:ext cx="370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新业务冷启动（复用成熟策略）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grpSp>
        <p:nvGrpSpPr>
          <p:cNvPr id="245" name="组合 244"/>
          <p:cNvGrpSpPr/>
          <p:nvPr>
            <p:custDataLst>
              <p:tags r:id="rId18"/>
            </p:custDataLst>
          </p:nvPr>
        </p:nvGrpSpPr>
        <p:grpSpPr>
          <a:xfrm>
            <a:off x="508635" y="4915535"/>
            <a:ext cx="4723130" cy="799465"/>
            <a:chOff x="801" y="1751"/>
            <a:chExt cx="7438" cy="1259"/>
          </a:xfrm>
        </p:grpSpPr>
        <p:sp>
          <p:nvSpPr>
            <p:cNvPr id="246" name="文本框 81"/>
            <p:cNvSpPr txBox="1"/>
            <p:nvPr>
              <p:custDataLst>
                <p:tags r:id="rId19"/>
              </p:custDataLst>
            </p:nvPr>
          </p:nvSpPr>
          <p:spPr>
            <a:xfrm>
              <a:off x="801" y="2325"/>
              <a:ext cx="7438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依据：定制项目获感谢信，合作意向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7" name="圆角矩形 246"/>
            <p:cNvSpPr/>
            <p:nvPr>
              <p:custDataLst>
                <p:tags r:id="rId20"/>
              </p:custDataLst>
            </p:nvPr>
          </p:nvSpPr>
          <p:spPr>
            <a:xfrm>
              <a:off x="801" y="1751"/>
              <a:ext cx="289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客户定制需求扩容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55600" y="1427163"/>
            <a:ext cx="2719070" cy="3839845"/>
            <a:chOff x="644" y="1893"/>
            <a:chExt cx="4282" cy="6047"/>
          </a:xfrm>
        </p:grpSpPr>
        <p:sp>
          <p:nvSpPr>
            <p:cNvPr id="15" name="任意形状 14"/>
            <p:cNvSpPr/>
            <p:nvPr>
              <p:custDataLst>
                <p:tags r:id="rId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" name="任意形状 18"/>
            <p:cNvSpPr/>
            <p:nvPr>
              <p:custDataLst>
                <p:tags r:id="rId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核心能力与成果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4" name="直线连接符 1"/>
            <p:cNvCxnSpPr/>
            <p:nvPr>
              <p:custDataLst>
                <p:tags r:id="rId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（低于全年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关键词：跨部门角色前置、需求返工率低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依据：跨部门需求返工率从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降至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，客户定制项目满意度达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7" name="椭圆 6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26" name="椭圆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2" name="椭圆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STRENGTHS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6"/>
            </p:custDataLst>
          </p:nvPr>
        </p:nvGrpSpPr>
        <p:grpSpPr>
          <a:xfrm>
            <a:off x="3308985" y="1427163"/>
            <a:ext cx="2719070" cy="3840480"/>
            <a:chOff x="644" y="1893"/>
            <a:chExt cx="4282" cy="6048"/>
          </a:xfrm>
        </p:grpSpPr>
        <p:sp>
          <p:nvSpPr>
            <p:cNvPr id="49" name="任意形状 14"/>
            <p:cNvSpPr/>
            <p:nvPr>
              <p:custDataLst>
                <p:tags r:id="rId1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任意形状 18"/>
            <p:cNvSpPr/>
            <p:nvPr>
              <p:custDataLst>
                <p:tags r:id="rId1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待改进短板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57" name="直线连接符 1"/>
            <p:cNvCxnSpPr/>
            <p:nvPr>
              <p:custDataLst>
                <p:tags r:id="rId1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81"/>
            <p:cNvSpPr txBox="1"/>
            <p:nvPr>
              <p:custDataLst>
                <p:tags r:id="rId2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依据：目标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家实际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家，仅依赖线上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老客推荐，错失线下传统行业客户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关键词：数据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-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决策联动弱、经验判断为主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依据：未用用户行为数据指导决策，部分功能（智能推荐）使用率仅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60" name="椭圆 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1" name="椭圆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63" name="椭圆 6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5" name="椭圆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70" name="椭圆 69"/>
              <p:cNvSpPr/>
              <p:nvPr>
                <p:custDataLst>
                  <p:tags r:id="rId2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2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73" name="椭圆 7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75" name="矩形 74"/>
            <p:cNvSpPr/>
            <p:nvPr>
              <p:custDataLst>
                <p:tags r:id="rId2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3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WEAKNESSES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31"/>
            </p:custDataLst>
          </p:nvPr>
        </p:nvGrpSpPr>
        <p:grpSpPr>
          <a:xfrm>
            <a:off x="6262370" y="1427163"/>
            <a:ext cx="2719070" cy="3840480"/>
            <a:chOff x="644" y="1893"/>
            <a:chExt cx="4282" cy="6048"/>
          </a:xfrm>
        </p:grpSpPr>
        <p:sp>
          <p:nvSpPr>
            <p:cNvPr id="78" name="任意形状 14"/>
            <p:cNvSpPr/>
            <p:nvPr>
              <p:custDataLst>
                <p:tags r:id="rId3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形状 18"/>
            <p:cNvSpPr/>
            <p:nvPr>
              <p:custDataLst>
                <p:tags r:id="rId3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可拓展空间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82" name="直线连接符 1"/>
            <p:cNvCxnSpPr/>
            <p:nvPr>
              <p:custDataLst>
                <p:tags r:id="rId3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1"/>
            <p:cNvSpPr txBox="1"/>
            <p:nvPr>
              <p:custDataLst>
                <p:tags r:id="rId3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依据：后续合作意向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85" name="椭圆 84"/>
              <p:cNvSpPr/>
              <p:nvPr>
                <p:custDataLst>
                  <p:tags r:id="rId3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88" name="椭圆 8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9" name="椭圆 88"/>
              <p:cNvSpPr/>
              <p:nvPr>
                <p:custDataLst>
                  <p:tags r:id="rId3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91" name="椭圆 90"/>
              <p:cNvSpPr/>
              <p:nvPr>
                <p:custDataLst>
                  <p:tags r:id="rId4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2" name="椭圆 91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5" name="椭圆 94"/>
              <p:cNvSpPr/>
              <p:nvPr>
                <p:custDataLst>
                  <p:tags r:id="rId4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96" name="矩形 95"/>
            <p:cNvSpPr/>
            <p:nvPr>
              <p:custDataLst>
                <p:tags r:id="rId4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4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OPPORTUNITIES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46"/>
            </p:custDataLst>
          </p:nvPr>
        </p:nvGrpSpPr>
        <p:grpSpPr>
          <a:xfrm>
            <a:off x="9215755" y="1427163"/>
            <a:ext cx="2719070" cy="3840480"/>
            <a:chOff x="644" y="1893"/>
            <a:chExt cx="4282" cy="6048"/>
          </a:xfrm>
        </p:grpSpPr>
        <p:sp>
          <p:nvSpPr>
            <p:cNvPr id="99" name="任意形状 14"/>
            <p:cNvSpPr/>
            <p:nvPr>
              <p:custDataLst>
                <p:tags r:id="rId4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形状 18"/>
            <p:cNvSpPr/>
            <p:nvPr>
              <p:custDataLst>
                <p:tags r:id="rId4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外部风险与挑战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101" name="直线连接符 1"/>
            <p:cNvCxnSpPr/>
            <p:nvPr>
              <p:custDataLst>
                <p:tags r:id="rId4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81"/>
            <p:cNvSpPr txBox="1"/>
            <p:nvPr>
              <p:custDataLst>
                <p:tags r:id="rId5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关键词：竞品优惠策略、客户流失风险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家竞品推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免费运维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，抢占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潜在客户（如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B/C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天，无备选供应商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104" name="椭圆 103"/>
              <p:cNvSpPr/>
              <p:nvPr>
                <p:custDataLst>
                  <p:tags r:id="rId5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5" name="椭圆 104"/>
              <p:cNvSpPr/>
              <p:nvPr>
                <p:custDataLst>
                  <p:tags r:id="rId5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107" name="椭圆 106"/>
              <p:cNvSpPr/>
              <p:nvPr>
                <p:custDataLst>
                  <p:tags r:id="rId5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8" name="椭圆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110" name="椭圆 10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13" name="椭圆 112"/>
              <p:cNvSpPr/>
              <p:nvPr>
                <p:custDataLst>
                  <p:tags r:id="rId5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4" name="椭圆 113"/>
              <p:cNvSpPr/>
              <p:nvPr>
                <p:custDataLst>
                  <p:tags r:id="rId5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15" name="矩形 114"/>
            <p:cNvSpPr/>
            <p:nvPr>
              <p:custDataLst>
                <p:tags r:id="rId5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6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THREATS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4257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354965" y="5503545"/>
            <a:ext cx="11579225" cy="421640"/>
          </a:xfrm>
          <a:custGeom>
            <a:avLst/>
            <a:gdLst>
              <a:gd name="connsiteX0" fmla="*/ 10363200 w 11266169"/>
              <a:gd name="connsiteY0" fmla="*/ 0 h 421639"/>
              <a:gd name="connsiteX1" fmla="*/ 7865110 w 11266169"/>
              <a:gd name="connsiteY1" fmla="*/ 0 h 421639"/>
              <a:gd name="connsiteX2" fmla="*/ 3401060 w 11266169"/>
              <a:gd name="connsiteY2" fmla="*/ 0 h 421639"/>
              <a:gd name="connsiteX3" fmla="*/ 902970 w 11266169"/>
              <a:gd name="connsiteY3" fmla="*/ 0 h 421639"/>
              <a:gd name="connsiteX4" fmla="*/ 0 w 11266169"/>
              <a:gd name="connsiteY4" fmla="*/ 421640 h 421639"/>
              <a:gd name="connsiteX5" fmla="*/ 3401060 w 11266169"/>
              <a:gd name="connsiteY5" fmla="*/ 421640 h 421639"/>
              <a:gd name="connsiteX6" fmla="*/ 7865110 w 11266169"/>
              <a:gd name="connsiteY6" fmla="*/ 421640 h 421639"/>
              <a:gd name="connsiteX7" fmla="*/ 11266170 w 11266169"/>
              <a:gd name="connsiteY7" fmla="*/ 421640 h 42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6169" h="421639">
                <a:moveTo>
                  <a:pt x="10363200" y="0"/>
                </a:moveTo>
                <a:lnTo>
                  <a:pt x="7865110" y="0"/>
                </a:lnTo>
                <a:lnTo>
                  <a:pt x="3401060" y="0"/>
                </a:lnTo>
                <a:lnTo>
                  <a:pt x="902970" y="0"/>
                </a:lnTo>
                <a:lnTo>
                  <a:pt x="0" y="421640"/>
                </a:lnTo>
                <a:lnTo>
                  <a:pt x="3401060" y="421640"/>
                </a:lnTo>
                <a:lnTo>
                  <a:pt x="7865110" y="421640"/>
                </a:lnTo>
                <a:lnTo>
                  <a:pt x="11266170" y="42164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61"/>
            </p:custDataLst>
          </p:nvPr>
        </p:nvSpPr>
        <p:spPr>
          <a:xfrm>
            <a:off x="354965" y="5925185"/>
            <a:ext cx="11579860" cy="7334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3815715"/>
            <a:ext cx="302006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S 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85775" y="5977255"/>
            <a:ext cx="1128649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聚焦 “增长策略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管理机制” 强化复用，巩固用户与项目优势。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优先解决 “渠道拓展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数据驱动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资源调配”，降低交付风险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借新业务与短视频流量扩大成果，抓住定制客户需求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建立竞品监测与供应链备选方案，对冲外部风险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92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W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967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O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755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T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805466" y="1125322"/>
            <a:ext cx="4602664" cy="4602664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>
            <a:off x="2887550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9469464 w 12192000"/>
              <a:gd name="connsiteY0" fmla="*/ 0 h 6858000"/>
              <a:gd name="connsiteX1" fmla="*/ 12154063 w 12192000"/>
              <a:gd name="connsiteY1" fmla="*/ 0 h 6858000"/>
              <a:gd name="connsiteX2" fmla="*/ 12192000 w 12192000"/>
              <a:gd name="connsiteY2" fmla="*/ 57262 h 6858000"/>
              <a:gd name="connsiteX3" fmla="*/ 12192000 w 12192000"/>
              <a:gd name="connsiteY3" fmla="*/ 6858000 h 6858000"/>
              <a:gd name="connsiteX4" fmla="*/ 10414732 w 12192000"/>
              <a:gd name="connsiteY4" fmla="*/ 6858000 h 6858000"/>
              <a:gd name="connsiteX5" fmla="*/ 10514157 w 12192000"/>
              <a:gd name="connsiteY5" fmla="*/ 6713637 h 6858000"/>
              <a:gd name="connsiteX6" fmla="*/ 11300551 w 12192000"/>
              <a:gd name="connsiteY6" fmla="*/ 3961448 h 6858000"/>
              <a:gd name="connsiteX7" fmla="*/ 9686830 w 12192000"/>
              <a:gd name="connsiteY7" fmla="*/ 194037 h 6858000"/>
              <a:gd name="connsiteX8" fmla="*/ 37938 w 12192000"/>
              <a:gd name="connsiteY8" fmla="*/ 0 h 6858000"/>
              <a:gd name="connsiteX9" fmla="*/ 2722537 w 12192000"/>
              <a:gd name="connsiteY9" fmla="*/ 0 h 6858000"/>
              <a:gd name="connsiteX10" fmla="*/ 2505170 w 12192000"/>
              <a:gd name="connsiteY10" fmla="*/ 194037 h 6858000"/>
              <a:gd name="connsiteX11" fmla="*/ 891449 w 12192000"/>
              <a:gd name="connsiteY11" fmla="*/ 3961448 h 6858000"/>
              <a:gd name="connsiteX12" fmla="*/ 1677843 w 12192000"/>
              <a:gd name="connsiteY12" fmla="*/ 6713637 h 6858000"/>
              <a:gd name="connsiteX13" fmla="*/ 1777268 w 12192000"/>
              <a:gd name="connsiteY13" fmla="*/ 6858000 h 6858000"/>
              <a:gd name="connsiteX14" fmla="*/ 0 w 12192000"/>
              <a:gd name="connsiteY14" fmla="*/ 6858000 h 6858000"/>
              <a:gd name="connsiteX15" fmla="*/ 0 w 12192000"/>
              <a:gd name="connsiteY15" fmla="*/ 57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469464" y="0"/>
                </a:moveTo>
                <a:lnTo>
                  <a:pt x="12154063" y="0"/>
                </a:lnTo>
                <a:lnTo>
                  <a:pt x="12192000" y="57262"/>
                </a:lnTo>
                <a:lnTo>
                  <a:pt x="12192000" y="6858000"/>
                </a:lnTo>
                <a:lnTo>
                  <a:pt x="10414732" y="6858000"/>
                </a:lnTo>
                <a:lnTo>
                  <a:pt x="10514157" y="6713637"/>
                </a:lnTo>
                <a:cubicBezTo>
                  <a:pt x="11012553" y="5915241"/>
                  <a:pt x="11300551" y="4971977"/>
                  <a:pt x="11300551" y="3961448"/>
                </a:cubicBezTo>
                <a:cubicBezTo>
                  <a:pt x="11300551" y="2479339"/>
                  <a:pt x="10681034" y="1141925"/>
                  <a:pt x="9686830" y="194037"/>
                </a:cubicBezTo>
                <a:close/>
                <a:moveTo>
                  <a:pt x="37938" y="0"/>
                </a:moveTo>
                <a:lnTo>
                  <a:pt x="2722537" y="0"/>
                </a:lnTo>
                <a:lnTo>
                  <a:pt x="2505170" y="194037"/>
                </a:lnTo>
                <a:cubicBezTo>
                  <a:pt x="1510966" y="1141925"/>
                  <a:pt x="891449" y="2479339"/>
                  <a:pt x="891449" y="3961448"/>
                </a:cubicBezTo>
                <a:cubicBezTo>
                  <a:pt x="891449" y="4971977"/>
                  <a:pt x="1179448" y="5915241"/>
                  <a:pt x="1677843" y="6713637"/>
                </a:cubicBezTo>
                <a:lnTo>
                  <a:pt x="1777268" y="6858000"/>
                </a:lnTo>
                <a:lnTo>
                  <a:pt x="0" y="6858000"/>
                </a:lnTo>
                <a:lnTo>
                  <a:pt x="0" y="572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7243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三重合规障碍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六边形 71"/>
          <p:cNvSpPr/>
          <p:nvPr/>
        </p:nvSpPr>
        <p:spPr>
          <a:xfrm>
            <a:off x="155574" y="6096998"/>
            <a:ext cx="11880852" cy="632680"/>
          </a:xfrm>
          <a:prstGeom prst="hexagon">
            <a:avLst/>
          </a:prstGeom>
          <a:solidFill>
            <a:schemeClr val="accent2"/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834978" y="1856569"/>
            <a:ext cx="327440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须提供增值电信许可证与ICP备案，无证经营达入罪标准可构成非法经营罪。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顶角 97"/>
          <p:cNvSpPr/>
          <p:nvPr/>
        </p:nvSpPr>
        <p:spPr>
          <a:xfrm rot="16200000" flipH="1">
            <a:off x="10415725" y="245493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656030" y="12811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电信许可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: 圆顶角 96"/>
          <p:cNvSpPr/>
          <p:nvPr/>
        </p:nvSpPr>
        <p:spPr>
          <a:xfrm rot="5400000">
            <a:off x="1354816" y="24549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71207" y="128114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AI备案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7561" y="4753553"/>
            <a:ext cx="332552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用户请求含个人信息与商业秘密，路由境外构成数据出境，达规模须安全评估或标准合同。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顶角 99"/>
          <p:cNvSpPr/>
          <p:nvPr/>
        </p:nvSpPr>
        <p:spPr>
          <a:xfrm rot="5400000">
            <a:off x="1366431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79625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数据出境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15421" y="4753553"/>
            <a:ext cx="32116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2026年5月上海首例站长刑拘37天，标志监管从默许观察进入主动执法阶段。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顶角 98"/>
          <p:cNvSpPr/>
          <p:nvPr/>
        </p:nvSpPr>
        <p:spPr>
          <a:xfrm rot="16200000" flipH="1">
            <a:off x="10373410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628018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刑事风险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771740" y="6213283"/>
            <a:ext cx="8648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许可、备案、出境三重合规缺口叠加刑事执法风险。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7512548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01425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4788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401425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4788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Oval 9+"/>
          <p:cNvSpPr/>
          <p:nvPr/>
        </p:nvSpPr>
        <p:spPr>
          <a:xfrm>
            <a:off x="4353131" y="1683885"/>
            <a:ext cx="3507336" cy="3507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文本框 31"/>
          <p:cNvSpPr txBox="1"/>
          <p:nvPr/>
        </p:nvSpPr>
        <p:spPr>
          <a:xfrm>
            <a:off x="4983066" y="3209770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执行协同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4983066" y="1354951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弧形 7"/>
          <p:cNvSpPr/>
          <p:nvPr/>
        </p:nvSpPr>
        <p:spPr>
          <a:xfrm rot="698178">
            <a:off x="4280609" y="1491633"/>
            <a:ext cx="3891841" cy="3891841"/>
          </a:xfrm>
          <a:prstGeom prst="arc">
            <a:avLst>
              <a:gd name="adj1" fmla="val 17597700"/>
              <a:gd name="adj2" fmla="val 2999322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弧形 8"/>
          <p:cNvSpPr/>
          <p:nvPr/>
        </p:nvSpPr>
        <p:spPr>
          <a:xfrm rot="404240" flipH="1" flipV="1">
            <a:off x="4091005" y="1491633"/>
            <a:ext cx="3891841" cy="3891841"/>
          </a:xfrm>
          <a:prstGeom prst="arc">
            <a:avLst>
              <a:gd name="adj1" fmla="val 17641698"/>
              <a:gd name="adj2" fmla="val 268807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9714" y="1856568"/>
            <a:ext cx="32933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OpenAI等海外模型未在网信办备案，中转站客观上无法走通生成式AI服务备案程序。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91136" y="369339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运营短板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统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040" y="2492375"/>
            <a:ext cx="1109980" cy="1109980"/>
          </a:xfrm>
          <a:prstGeom prst="rect">
            <a:avLst/>
          </a:prstGeom>
        </p:spPr>
      </p:pic>
      <p:pic>
        <p:nvPicPr>
          <p:cNvPr id="21" name="图片 20" descr="视角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0173" y="4207193"/>
            <a:ext cx="363220" cy="363220"/>
          </a:xfrm>
          <a:prstGeom prst="rect">
            <a:avLst/>
          </a:prstGeom>
        </p:spPr>
      </p:pic>
      <p:pic>
        <p:nvPicPr>
          <p:cNvPr id="23" name="图片 22" descr="表格填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535" y="4207193"/>
            <a:ext cx="363220" cy="363220"/>
          </a:xfrm>
          <a:prstGeom prst="rect">
            <a:avLst/>
          </a:prstGeom>
        </p:spPr>
      </p:pic>
      <p:pic>
        <p:nvPicPr>
          <p:cNvPr id="24" name="图片 23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0173" y="1299528"/>
            <a:ext cx="363220" cy="36322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535" y="1299528"/>
            <a:ext cx="363220" cy="3632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 flipH="1">
            <a:off x="739542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7276951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flipH="1">
            <a:off x="7284271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9104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191047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91048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3942319" y="1965515"/>
            <a:ext cx="1729054" cy="4064822"/>
          </a:xfrm>
          <a:custGeom>
            <a:avLst/>
            <a:gdLst>
              <a:gd name="connsiteX0" fmla="*/ 1449035 w 1729054"/>
              <a:gd name="connsiteY0" fmla="*/ 0 h 4064822"/>
              <a:gd name="connsiteX1" fmla="*/ 1729054 w 1729054"/>
              <a:gd name="connsiteY1" fmla="*/ 795554 h 4064822"/>
              <a:gd name="connsiteX2" fmla="*/ 1647787 w 1729054"/>
              <a:gd name="connsiteY2" fmla="*/ 825298 h 4064822"/>
              <a:gd name="connsiteX3" fmla="*/ 844119 w 1729054"/>
              <a:gd name="connsiteY3" fmla="*/ 2037750 h 4064822"/>
              <a:gd name="connsiteX4" fmla="*/ 1647787 w 1729054"/>
              <a:gd name="connsiteY4" fmla="*/ 3250203 h 4064822"/>
              <a:gd name="connsiteX5" fmla="*/ 1699878 w 1729054"/>
              <a:gd name="connsiteY5" fmla="*/ 3269268 h 4064822"/>
              <a:gd name="connsiteX6" fmla="*/ 1419859 w 1729054"/>
              <a:gd name="connsiteY6" fmla="*/ 4064822 h 4064822"/>
              <a:gd name="connsiteX7" fmla="*/ 1319217 w 1729054"/>
              <a:gd name="connsiteY7" fmla="*/ 4027986 h 4064822"/>
              <a:gd name="connsiteX8" fmla="*/ 0 w 1729054"/>
              <a:gd name="connsiteY8" fmla="*/ 2037750 h 4064822"/>
              <a:gd name="connsiteX9" fmla="*/ 1319217 w 1729054"/>
              <a:gd name="connsiteY9" fmla="*/ 47514 h 406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054" h="4064822">
                <a:moveTo>
                  <a:pt x="1449035" y="0"/>
                </a:moveTo>
                <a:lnTo>
                  <a:pt x="1729054" y="795554"/>
                </a:lnTo>
                <a:lnTo>
                  <a:pt x="1647787" y="825298"/>
                </a:lnTo>
                <a:cubicBezTo>
                  <a:pt x="1175505" y="1025056"/>
                  <a:pt x="844119" y="1492703"/>
                  <a:pt x="844119" y="2037750"/>
                </a:cubicBezTo>
                <a:cubicBezTo>
                  <a:pt x="844119" y="2582797"/>
                  <a:pt x="1175505" y="3050444"/>
                  <a:pt x="1647787" y="3250203"/>
                </a:cubicBezTo>
                <a:lnTo>
                  <a:pt x="1699878" y="3269268"/>
                </a:lnTo>
                <a:lnTo>
                  <a:pt x="1419859" y="4064822"/>
                </a:lnTo>
                <a:lnTo>
                  <a:pt x="1319217" y="4027986"/>
                </a:lnTo>
                <a:cubicBezTo>
                  <a:pt x="543969" y="3700084"/>
                  <a:pt x="0" y="2932442"/>
                  <a:pt x="0" y="2037750"/>
                </a:cubicBezTo>
                <a:cubicBezTo>
                  <a:pt x="0" y="1143058"/>
                  <a:pt x="543969" y="375416"/>
                  <a:pt x="1319217" y="475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898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改进措施与处理方案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箭头: 五边形 7"/>
          <p:cNvSpPr/>
          <p:nvPr/>
        </p:nvSpPr>
        <p:spPr>
          <a:xfrm>
            <a:off x="175090" y="1279184"/>
            <a:ext cx="5903328" cy="5400908"/>
          </a:xfrm>
          <a:prstGeom prst="homePlate">
            <a:avLst>
              <a:gd name="adj" fmla="val 17599"/>
            </a:avLst>
          </a:prstGeom>
          <a:noFill/>
          <a:ln w="38100">
            <a:gradFill flip="none" rotWithShape="1">
              <a:gsLst>
                <a:gs pos="42000">
                  <a:schemeClr val="accent1">
                    <a:alpha val="0"/>
                  </a:schemeClr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五边形 8"/>
          <p:cNvSpPr/>
          <p:nvPr/>
        </p:nvSpPr>
        <p:spPr>
          <a:xfrm flipH="1">
            <a:off x="6196478" y="1279184"/>
            <a:ext cx="5845805" cy="5400908"/>
          </a:xfrm>
          <a:prstGeom prst="homePlate">
            <a:avLst>
              <a:gd name="adj" fmla="val 19870"/>
            </a:avLst>
          </a:prstGeom>
          <a:noFill/>
          <a:ln w="38100">
            <a:gradFill flip="none" rotWithShape="1">
              <a:gsLst>
                <a:gs pos="36000">
                  <a:schemeClr val="accent2">
                    <a:alpha val="0"/>
                  </a:schemeClr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351" y="1012669"/>
            <a:ext cx="37103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改进措施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improvement measures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12353" y="1012669"/>
            <a:ext cx="30295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处理方案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Solution Strategy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rot="5400000">
            <a:off x="1115584" y="1169679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113" y="21383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拓展多元流量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860" y="2543711"/>
            <a:ext cx="36860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每周发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条小红书笔记、月联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位达人直播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87392" y="2209953"/>
            <a:ext cx="381841" cy="226160"/>
            <a:chOff x="2492256" y="2336056"/>
            <a:chExt cx="894017" cy="529516"/>
          </a:xfrm>
          <a:noFill/>
        </p:grpSpPr>
        <p:sp>
          <p:nvSpPr>
            <p:cNvPr id="79" name="任意多边形: 形状 78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230860" y="2800665"/>
            <a:ext cx="3463515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个月内自然流量占比提至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rot="5400000">
            <a:off x="1115584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5113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优化转化细节​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0860" y="4023512"/>
            <a:ext cx="3459336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天内更新详情页，设自动回复，响应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，转化率提至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287392" y="3677366"/>
            <a:ext cx="381841" cy="226160"/>
            <a:chOff x="2492256" y="2336056"/>
            <a:chExt cx="894017" cy="529516"/>
          </a:xfrm>
          <a:noFill/>
        </p:grpSpPr>
        <p:sp>
          <p:nvSpPr>
            <p:cNvPr id="90" name="任意多边形: 形状 89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矩形: 圆顶角 29"/>
          <p:cNvSpPr/>
          <p:nvPr/>
        </p:nvSpPr>
        <p:spPr>
          <a:xfrm rot="5400000">
            <a:off x="1115584" y="40918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113" y="50605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加强部门联动​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860" y="5470962"/>
            <a:ext cx="3563084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每日同步库存，活动前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天沟通设计，发货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延迟率≤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87392" y="5132166"/>
            <a:ext cx="381841" cy="226160"/>
            <a:chOff x="2492256" y="2336056"/>
            <a:chExt cx="894017" cy="529516"/>
          </a:xfrm>
          <a:noFill/>
        </p:grpSpPr>
        <p:sp>
          <p:nvSpPr>
            <p:cNvPr id="94" name="任意多边形: 形状 93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1" name="矩形: 圆顶角 30"/>
          <p:cNvSpPr/>
          <p:nvPr/>
        </p:nvSpPr>
        <p:spPr>
          <a:xfrm rot="16200000" flipH="1">
            <a:off x="10679489" y="1166430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986401" y="213511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库存预警机制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16650" y="2545381"/>
            <a:ext cx="332365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接入管理系统设预警线，月周转率提升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减少资金占用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 flipH="1">
            <a:off x="11559963" y="2206701"/>
            <a:ext cx="381841" cy="226160"/>
            <a:chOff x="2492256" y="2336056"/>
            <a:chExt cx="894017" cy="529516"/>
          </a:xfrm>
          <a:noFill/>
        </p:grpSpPr>
        <p:sp>
          <p:nvSpPr>
            <p:cNvPr id="98" name="任意多边形: 形状 97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矩形: 圆顶角 33"/>
          <p:cNvSpPr/>
          <p:nvPr/>
        </p:nvSpPr>
        <p:spPr>
          <a:xfrm rot="16200000" flipH="1">
            <a:off x="10678285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986401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443686" y="4023512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启用实时看板，每日出异常报告，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内响应问题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 flipH="1">
            <a:off x="11559963" y="3677366"/>
            <a:ext cx="381841" cy="226160"/>
            <a:chOff x="2492256" y="2336056"/>
            <a:chExt cx="894017" cy="529516"/>
          </a:xfrm>
          <a:noFill/>
        </p:grpSpPr>
        <p:sp>
          <p:nvSpPr>
            <p:cNvPr id="102" name="任意多边形: 形状 101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5" name="矩形: 圆顶角 34"/>
          <p:cNvSpPr/>
          <p:nvPr/>
        </p:nvSpPr>
        <p:spPr>
          <a:xfrm rot="16200000" flipH="1">
            <a:off x="10678285" y="4091315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55568" y="50600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活动全流程方案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43686" y="5470384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周规划预热，分时段投券，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小时优化资源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达标率≥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 flipH="1">
            <a:off x="11559963" y="5131588"/>
            <a:ext cx="381841" cy="226160"/>
            <a:chOff x="2492256" y="2336056"/>
            <a:chExt cx="894017" cy="529516"/>
          </a:xfrm>
          <a:noFill/>
        </p:grpSpPr>
        <p:sp>
          <p:nvSpPr>
            <p:cNvPr id="106" name="任意多边形: 形状 105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" name="弧形 2"/>
          <p:cNvSpPr/>
          <p:nvPr/>
        </p:nvSpPr>
        <p:spPr>
          <a:xfrm rot="16486323">
            <a:off x="4065577" y="1721288"/>
            <a:ext cx="4256060" cy="4256058"/>
          </a:xfrm>
          <a:prstGeom prst="arc">
            <a:avLst>
              <a:gd name="adj1" fmla="val 20371739"/>
              <a:gd name="adj2" fmla="val 618278"/>
            </a:avLst>
          </a:prstGeom>
          <a:noFill/>
          <a:ln w="38100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6650244" y="2043356"/>
            <a:ext cx="1598315" cy="3933525"/>
          </a:xfrm>
          <a:custGeom>
            <a:avLst/>
            <a:gdLst>
              <a:gd name="connsiteX0" fmla="*/ 1286094 w 1598315"/>
              <a:gd name="connsiteY0" fmla="*/ 0 h 3933525"/>
              <a:gd name="connsiteX1" fmla="*/ 1130404 w 1598315"/>
              <a:gd name="connsiteY1" fmla="*/ 75000 h 3933525"/>
              <a:gd name="connsiteX2" fmla="*/ 0 w 1598315"/>
              <a:gd name="connsiteY2" fmla="*/ 1974280 h 3933525"/>
              <a:gd name="connsiteX3" fmla="*/ 1130404 w 1598315"/>
              <a:gd name="connsiteY3" fmla="*/ 3873561 h 3933525"/>
              <a:gd name="connsiteX4" fmla="*/ 1254884 w 1598315"/>
              <a:gd name="connsiteY4" fmla="*/ 3933525 h 3933525"/>
              <a:gd name="connsiteX5" fmla="*/ 1567105 w 1598315"/>
              <a:gd name="connsiteY5" fmla="*/ 3147866 h 3933525"/>
              <a:gd name="connsiteX6" fmla="*/ 1532761 w 1598315"/>
              <a:gd name="connsiteY6" fmla="*/ 3131322 h 3933525"/>
              <a:gd name="connsiteX7" fmla="*/ 844119 w 1598315"/>
              <a:gd name="connsiteY7" fmla="*/ 1974280 h 3933525"/>
              <a:gd name="connsiteX8" fmla="*/ 1532761 w 1598315"/>
              <a:gd name="connsiteY8" fmla="*/ 817238 h 3933525"/>
              <a:gd name="connsiteX9" fmla="*/ 1598315 w 1598315"/>
              <a:gd name="connsiteY9" fmla="*/ 785660 h 39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315" h="3933525">
                <a:moveTo>
                  <a:pt x="1286094" y="0"/>
                </a:moveTo>
                <a:lnTo>
                  <a:pt x="1130404" y="75000"/>
                </a:lnTo>
                <a:cubicBezTo>
                  <a:pt x="457085" y="440769"/>
                  <a:pt x="0" y="1154146"/>
                  <a:pt x="0" y="1974280"/>
                </a:cubicBezTo>
                <a:cubicBezTo>
                  <a:pt x="0" y="2794415"/>
                  <a:pt x="457085" y="3507791"/>
                  <a:pt x="1130404" y="3873561"/>
                </a:cubicBezTo>
                <a:lnTo>
                  <a:pt x="1254884" y="3933525"/>
                </a:lnTo>
                <a:lnTo>
                  <a:pt x="1567105" y="3147866"/>
                </a:lnTo>
                <a:lnTo>
                  <a:pt x="1532761" y="3131322"/>
                </a:lnTo>
                <a:cubicBezTo>
                  <a:pt x="1122575" y="2908496"/>
                  <a:pt x="844119" y="2473906"/>
                  <a:pt x="844119" y="1974280"/>
                </a:cubicBezTo>
                <a:cubicBezTo>
                  <a:pt x="844119" y="1474654"/>
                  <a:pt x="1122575" y="1040065"/>
                  <a:pt x="1532761" y="817238"/>
                </a:cubicBezTo>
                <a:lnTo>
                  <a:pt x="1598315" y="785660"/>
                </a:ln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 rot="17233213" flipH="1">
            <a:off x="4032493" y="1736283"/>
            <a:ext cx="4316516" cy="4316514"/>
          </a:xfrm>
          <a:prstGeom prst="arc">
            <a:avLst>
              <a:gd name="adj1" fmla="val 21509489"/>
              <a:gd name="adj2" fmla="val 2006830"/>
            </a:avLst>
          </a:prstGeom>
          <a:noFill/>
          <a:ln w="381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54314" y="2635667"/>
            <a:ext cx="2678890" cy="2678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30"/>
          <p:cNvSpPr txBox="1"/>
          <p:nvPr/>
        </p:nvSpPr>
        <p:spPr>
          <a:xfrm rot="16200000">
            <a:off x="4331968" y="2886388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落地执行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文本框 30"/>
          <p:cNvSpPr txBox="1"/>
          <p:nvPr/>
        </p:nvSpPr>
        <p:spPr>
          <a:xfrm rot="5630948">
            <a:off x="5540775" y="2855907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问题破解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5061045" y="2947578"/>
            <a:ext cx="2055072" cy="2055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1381" y="3517913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115034"/>
            <a:ext cx="12192000" cy="5920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7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利润模型三档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2605551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501901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7432477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984179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>
            <a:off x="192088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顶角 62"/>
          <p:cNvSpPr/>
          <p:nvPr/>
        </p:nvSpPr>
        <p:spPr>
          <a:xfrm>
            <a:off x="2605551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5019014" y="2049562"/>
            <a:ext cx="2153970" cy="5879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顶角 66"/>
          <p:cNvSpPr/>
          <p:nvPr/>
        </p:nvSpPr>
        <p:spPr>
          <a:xfrm>
            <a:off x="7432477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顶角 67"/>
          <p:cNvSpPr/>
          <p:nvPr/>
        </p:nvSpPr>
        <p:spPr>
          <a:xfrm>
            <a:off x="9845939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7299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销售业绩达成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35482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企业大规模采购获折扣，OpenRouter式批发转零售，国内正规站毛利率普遍不足20%。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35482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35482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款核心品，设月度节点，确保季度完成率≥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5482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48945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海外账号池、借免费额度套利，按官方价2-5折售卖，小作坊毛利率常超50%。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945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648945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Listing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，月增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个社媒账号，严控推广代价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648945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062408" y="3148102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模型替换、Token虚报、对话数据倒卖——同行都看不上的无底线行为。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06240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62408" y="4752021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月选品测样，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月上线，搭配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权利拉销量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06240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475871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好评率从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88%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，差评处理及时率百分百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75871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75871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日回询问评价，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小时跟进差评，优化包装与售后卡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75871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885188" y="3148102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库存周转率从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次，滞销品占比≤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88518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885188" y="4752021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周析库存数据，滞销品捆绑销售，按需调整补货周期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518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820762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第一档正规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234225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第二档灰色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647688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第三档欺诈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061150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毛利率对比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278876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69233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105802" y="4186982"/>
            <a:ext cx="198039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19265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93272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715075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&lt;20%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39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50%+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542003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欺诈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55467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口碑优化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368928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" name="等腰三角形 140"/>
          <p:cNvSpPr/>
          <p:nvPr/>
        </p:nvSpPr>
        <p:spPr>
          <a:xfrm flipV="1">
            <a:off x="171164" y="1097629"/>
            <a:ext cx="11844337" cy="8223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86475" y="1175668"/>
            <a:ext cx="40190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三档利润结构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475805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889269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02733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716197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135614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354907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5962540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376003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078946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任意多边形: 形状 105"/>
          <p:cNvSpPr/>
          <p:nvPr/>
        </p:nvSpPr>
        <p:spPr>
          <a:xfrm flipV="1">
            <a:off x="2142969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任意多边形: 形状 106"/>
          <p:cNvSpPr/>
          <p:nvPr/>
        </p:nvSpPr>
        <p:spPr>
          <a:xfrm flipV="1">
            <a:off x="5860117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任意多边形: 形状 107"/>
          <p:cNvSpPr/>
          <p:nvPr/>
        </p:nvSpPr>
        <p:spPr>
          <a:xfrm flipV="1">
            <a:off x="9577265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任意多边形: 形状 102"/>
          <p:cNvSpPr/>
          <p:nvPr/>
        </p:nvSpPr>
        <p:spPr>
          <a:xfrm flipV="1">
            <a:off x="2142969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任意多边形: 形状 103"/>
          <p:cNvSpPr/>
          <p:nvPr/>
        </p:nvSpPr>
        <p:spPr>
          <a:xfrm flipV="1">
            <a:off x="5860117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任意多边形: 形状 104"/>
          <p:cNvSpPr/>
          <p:nvPr/>
        </p:nvSpPr>
        <p:spPr>
          <a:xfrm flipV="1">
            <a:off x="9577265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207722" y="1085339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207722" y="6251743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892" y="2858068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892" y="5110656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113739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81290" y="2244069"/>
            <a:ext cx="10564660" cy="330652"/>
            <a:chOff x="1481290" y="1587796"/>
            <a:chExt cx="10564660" cy="330652"/>
          </a:xfrm>
        </p:grpSpPr>
        <p:sp>
          <p:nvSpPr>
            <p:cNvPr id="14" name="矩形: 圆角 13"/>
            <p:cNvSpPr/>
            <p:nvPr/>
          </p:nvSpPr>
          <p:spPr>
            <a:xfrm>
              <a:off x="1481290" y="1817887"/>
              <a:ext cx="10431310" cy="988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1551920" y="1587796"/>
              <a:ext cx="494030" cy="3306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454152" y="4508833"/>
            <a:ext cx="10564660" cy="330652"/>
            <a:chOff x="1454152" y="4600136"/>
            <a:chExt cx="10564660" cy="330652"/>
          </a:xfrm>
        </p:grpSpPr>
        <p:sp>
          <p:nvSpPr>
            <p:cNvPr id="20" name="矩形: 圆角 19"/>
            <p:cNvSpPr/>
            <p:nvPr/>
          </p:nvSpPr>
          <p:spPr>
            <a:xfrm>
              <a:off x="1454152" y="4829737"/>
              <a:ext cx="10431310" cy="98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11524782" y="4600136"/>
              <a:ext cx="494030" cy="3306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1481290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81290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949260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949260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91556" y="1855028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50419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TMS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科技调度模块上线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覆盖华东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大分拨中心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车辆利用率提升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5248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燃油节省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50419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路径算法优化后，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月平均百公里油耗降至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升，环比节省燃油费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13739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666408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666408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32396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数据迁移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182868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历史运单百分百迁移至新平台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零丢失、零延误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峰值提供数据底座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2396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人效提升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182868" y="5192769"/>
            <a:ext cx="294024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自动排班功能使调度人力减少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，人均日处理订单由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134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915586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915586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383556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383556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849544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用户培训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84715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完成司机端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覆盖司机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1,860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掌握熟练度问卷平均得分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849544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异常下降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984715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运输异常率由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1.9%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客户投诉量同步下降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履约体验成效卓著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等腰三角形 88"/>
          <p:cNvSpPr/>
          <p:nvPr/>
        </p:nvSpPr>
        <p:spPr>
          <a:xfrm rot="5400000">
            <a:off x="1032017" y="3224220"/>
            <a:ext cx="299710" cy="22180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1032017" y="5476808"/>
            <a:ext cx="299710" cy="22180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16507" y="1124761"/>
            <a:ext cx="355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系统上线完成    效率提升显著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602645" y="6291165"/>
            <a:ext cx="298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代价大幅降    效益创新高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17" y="4621530"/>
            <a:ext cx="441960" cy="44196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17" y="2416175"/>
            <a:ext cx="441960" cy="441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/>
        </p:nvSpPr>
        <p:spPr>
          <a:xfrm>
            <a:off x="527901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066197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9786308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9819266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 flipH="1">
            <a:off x="9786308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 flipH="1">
            <a:off x="9819266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39331" y="2394509"/>
            <a:ext cx="2913338" cy="2913338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463" y="63770"/>
            <a:ext cx="4539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7635" y="1698044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市场增速放缓，本钱压力上升，需以科技调度降本增效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8637" y="6019346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先覆盖华东核心枢纽，再扩展华南华北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910640" y="1698044"/>
            <a:ext cx="2853726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，整合仓干配数据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22800" y="6019346"/>
            <a:ext cx="2837161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SaaS+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边缘计算，预算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3282225" y="1088792"/>
            <a:ext cx="5585278" cy="5616807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Oval 99+"/>
          <p:cNvSpPr/>
          <p:nvPr/>
        </p:nvSpPr>
        <p:spPr>
          <a:xfrm>
            <a:off x="4151329" y="1890550"/>
            <a:ext cx="3896282" cy="39182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Oval 99++"/>
          <p:cNvSpPr/>
          <p:nvPr/>
        </p:nvSpPr>
        <p:spPr>
          <a:xfrm>
            <a:off x="4595847" y="2337576"/>
            <a:ext cx="3007246" cy="3024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83809" y="3064859"/>
            <a:ext cx="20313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527901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1066197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5989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什么原因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9897" y="55016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什么地点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1296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什么事情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028384" y="55016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Number6"/>
          <p:cNvSpPr/>
          <p:nvPr/>
        </p:nvSpPr>
        <p:spPr>
          <a:xfrm flipH="1">
            <a:off x="3494721" y="1111517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666291" y="1372167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811362" y="180414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何因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Number6"/>
          <p:cNvSpPr/>
          <p:nvPr/>
        </p:nvSpPr>
        <p:spPr>
          <a:xfrm>
            <a:off x="7475901" y="1111517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583352" y="1360095"/>
            <a:ext cx="101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What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818191" y="175808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Number6"/>
          <p:cNvSpPr/>
          <p:nvPr/>
        </p:nvSpPr>
        <p:spPr>
          <a:xfrm flipH="1">
            <a:off x="3434639" y="5475168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435489" y="5712124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3776928" y="615875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9" name="Number6"/>
          <p:cNvSpPr/>
          <p:nvPr/>
        </p:nvSpPr>
        <p:spPr>
          <a:xfrm>
            <a:off x="7489037" y="5475168"/>
            <a:ext cx="1228320" cy="12283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653395" y="5723245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How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741559" y="6117153"/>
            <a:ext cx="723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2628900" y="1352221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2567351" y="5688687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H="1">
            <a:off x="8635003" y="1352221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66856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05152" y="3306153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173109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10206067" y="3306152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8930" y="3857523"/>
            <a:ext cx="2691947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由运营技术中心牵头，联合区域配送部共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397290" y="3857523"/>
            <a:ext cx="2482233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月启动试点，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月全国推广，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月复盘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98852" y="33580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什么人员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299766" y="3358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什么时候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Number6"/>
          <p:cNvSpPr/>
          <p:nvPr/>
        </p:nvSpPr>
        <p:spPr>
          <a:xfrm>
            <a:off x="8113673" y="3298603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179446" y="3557011"/>
            <a:ext cx="1096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455963" y="3960737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Number6"/>
          <p:cNvSpPr/>
          <p:nvPr/>
        </p:nvSpPr>
        <p:spPr>
          <a:xfrm flipH="1">
            <a:off x="2846649" y="3298603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010204" y="3579869"/>
            <a:ext cx="901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278707" y="398258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2121819" y="3537145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flipH="1">
            <a:off x="9017432" y="353714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>
            <a:off x="8616351" y="571961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" y="3388069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25" y="1207737"/>
            <a:ext cx="309245" cy="309245"/>
          </a:xfrm>
          <a:prstGeom prst="rect">
            <a:avLst/>
          </a:prstGeom>
        </p:spPr>
      </p:pic>
      <p:pic>
        <p:nvPicPr>
          <p:cNvPr id="6" name="图片 5" descr="视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9545" y="3388069"/>
            <a:ext cx="309245" cy="309245"/>
          </a:xfrm>
          <a:prstGeom prst="rect">
            <a:avLst/>
          </a:prstGeom>
        </p:spPr>
      </p:pic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7440" y="120773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2510" y="5531654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" y="5531654"/>
            <a:ext cx="309245" cy="30924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5122159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739262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505056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122159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739262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>
            <a:off x="8137615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5400000" flipH="1">
            <a:off x="-141397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949015" y="2658495"/>
            <a:ext cx="6234233" cy="2601225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036610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67524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63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私域运营策略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702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引流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全域触点布阵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69075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昼夜节奏设计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29290" y="2956616"/>
            <a:ext cx="1866650" cy="550443"/>
          </a:xfrm>
          <a:prstGeom prst="roundRect">
            <a:avLst>
              <a:gd name="adj" fmla="val 16776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59330" y="3717973"/>
            <a:ext cx="1866650" cy="550443"/>
          </a:xfrm>
          <a:prstGeom prst="roundRect">
            <a:avLst>
              <a:gd name="adj" fmla="val 14007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29290" y="4479330"/>
            <a:ext cx="1866650" cy="550443"/>
          </a:xfrm>
          <a:prstGeom prst="roundRect">
            <a:avLst>
              <a:gd name="adj" fmla="val 9854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7785" y="304717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定位私域起点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7825" y="3808528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梳理直播触点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201" y="456988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加粉利益点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flipH="1">
            <a:off x="9899815" y="2956616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flipH="1">
            <a:off x="10169775" y="3717973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flipH="1">
            <a:off x="9899815" y="4479330"/>
            <a:ext cx="1866650" cy="550443"/>
          </a:xfrm>
          <a:prstGeom prst="roundRect">
            <a:avLst>
              <a:gd name="adj" fmla="val 11239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9142" y="3047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干货知识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549102" y="38085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场景种草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79142" y="4569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福利预告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505056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31910" y="118358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RFM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模型落地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70654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三维价值输出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87757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周期唤醒机制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53551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老客带新闭环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70654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人设三维打造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 rot="19076050">
            <a:off x="1194658" y="132412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rot="2952659">
            <a:off x="10406219" y="12970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rot="18339627">
            <a:off x="10289831" y="61110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887757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节点组合打法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 rot="2813091">
            <a:off x="1334882" y="60473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93381" y="2535202"/>
            <a:ext cx="2805238" cy="28052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02067" y="3701071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提升用户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生命周期价值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0" name="弧形 59"/>
          <p:cNvSpPr/>
          <p:nvPr/>
        </p:nvSpPr>
        <p:spPr>
          <a:xfrm flipH="1">
            <a:off x="1718561" y="1592751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 rot="5400000">
            <a:off x="5735275" y="5514931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16200000" flipV="1">
            <a:off x="5735277" y="210291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 flipV="1">
            <a:off x="9063509" y="374108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2">
                  <a:alpha val="0"/>
                </a:schemeClr>
              </a:gs>
              <a:gs pos="90000">
                <a:schemeClr val="accent2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rot="10800000" flipV="1">
            <a:off x="2336457" y="3828675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rot="6072874" flipH="1">
            <a:off x="9347516" y="1354864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弧形 65"/>
          <p:cNvSpPr/>
          <p:nvPr/>
        </p:nvSpPr>
        <p:spPr>
          <a:xfrm rot="11116762" flipH="1">
            <a:off x="9357099" y="5173858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弧形 66"/>
          <p:cNvSpPr/>
          <p:nvPr/>
        </p:nvSpPr>
        <p:spPr>
          <a:xfrm rot="16200000" flipH="1">
            <a:off x="1748068" y="5050600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统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960" y="2872105"/>
            <a:ext cx="635635" cy="63563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0360" y="3222625"/>
            <a:ext cx="478155" cy="478155"/>
          </a:xfrm>
          <a:prstGeom prst="rect">
            <a:avLst/>
          </a:prstGeom>
        </p:spPr>
      </p:pic>
      <p:pic>
        <p:nvPicPr>
          <p:cNvPr id="9" name="图片 8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465" y="3183890"/>
            <a:ext cx="478155" cy="47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470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灰色套利手段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542626" y="2487312"/>
            <a:ext cx="10493799" cy="281730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12600000"/>
              <a:gd name="adj2" fmla="val 162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9000000"/>
              <a:gd name="adj2" fmla="val 126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5400000"/>
              <a:gd name="adj2" fmla="val 90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2183" y="1533916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用廉价开源模型冒充Claude Opus，CISPA论文显示逾四成端点模型指纹验证失败。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04789" y="5522855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部分网关实际收费比预期高出62.8%，后台调高计费倍率截取差价。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25396" y="1533916"/>
            <a:ext cx="245286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用户对话、代码、推理过程被打包出售给国内大模型公司作训练数据。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43678" y="5522855"/>
            <a:ext cx="237333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厂商缓存优惠价被截留；重复内容按原价向用户收费。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1845339" y="3569439"/>
            <a:ext cx="10098636" cy="6140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14598" y="3496111"/>
            <a:ext cx="1614975" cy="755464"/>
            <a:chOff x="4371400" y="3569891"/>
            <a:chExt cx="1614975" cy="755464"/>
          </a:xfrm>
        </p:grpSpPr>
        <p:sp>
          <p:nvSpPr>
            <p:cNvPr id="43" name="矩形 42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8" name="直角三角形 47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直角三角形 5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239198" y="3496111"/>
            <a:ext cx="1614975" cy="755464"/>
            <a:chOff x="4371400" y="3569891"/>
            <a:chExt cx="1614975" cy="755464"/>
          </a:xfrm>
        </p:grpSpPr>
        <p:sp>
          <p:nvSpPr>
            <p:cNvPr id="54" name="矩形 53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直角三角形 54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直角三角形 55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7" name="直角三角形 56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直角三角形 57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949736" y="3496111"/>
            <a:ext cx="1614975" cy="755464"/>
            <a:chOff x="4371400" y="3569891"/>
            <a:chExt cx="1614975" cy="755464"/>
          </a:xfrm>
        </p:grpSpPr>
        <p:sp>
          <p:nvSpPr>
            <p:cNvPr id="60" name="矩形 59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1" name="直角三角形 60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2" name="直角三角形 61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3" name="直角三角形 62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4" name="直角三角形 63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674336" y="3496111"/>
            <a:ext cx="1614975" cy="755464"/>
            <a:chOff x="4371400" y="3569891"/>
            <a:chExt cx="1614975" cy="755464"/>
          </a:xfrm>
        </p:grpSpPr>
        <p:sp>
          <p:nvSpPr>
            <p:cNvPr id="66" name="矩形 65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7" name="直角三角形 66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直角三角形 67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0" name="直角三角形 6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直角三角形 7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4716791" y="383188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替换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417699" y="3831887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虚报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122274" y="3831887"/>
            <a:ext cx="1269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倒卖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004770" y="383188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碳资产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6315688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9747800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592183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025395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592183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模型替换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现金流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25396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Token虚报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净利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304789" y="4394691"/>
            <a:ext cx="1476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数据转卖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停机损失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743678" y="4394691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缓存截留差价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高溢价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542626" y="2481265"/>
            <a:ext cx="2872636" cy="2872633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Freeform 21+"/>
          <p:cNvSpPr/>
          <p:nvPr/>
        </p:nvSpPr>
        <p:spPr>
          <a:xfrm>
            <a:off x="1734118" y="2672758"/>
            <a:ext cx="2489652" cy="2489647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1508" y="3735292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工作亮点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Freeform 22+"/>
          <p:cNvSpPr/>
          <p:nvPr/>
        </p:nvSpPr>
        <p:spPr>
          <a:xfrm>
            <a:off x="2191706" y="1084143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Freeform 27+"/>
          <p:cNvSpPr/>
          <p:nvPr/>
        </p:nvSpPr>
        <p:spPr>
          <a:xfrm>
            <a:off x="315085" y="2187659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Freeform 26+"/>
          <p:cNvSpPr/>
          <p:nvPr/>
        </p:nvSpPr>
        <p:spPr>
          <a:xfrm>
            <a:off x="303510" y="4394691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Freeform 25+"/>
          <p:cNvSpPr/>
          <p:nvPr/>
        </p:nvSpPr>
        <p:spPr>
          <a:xfrm>
            <a:off x="2191706" y="5498207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430042" y="1316953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溢价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翻倍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3420" y="2420469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0405" y="4627501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创收益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91949" y="5800959"/>
            <a:ext cx="1027413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碳期货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515" y="3139440"/>
            <a:ext cx="595630" cy="595630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601" y="3554697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063" y="3554697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7463" y="355469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7201" y="3554697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季度目标完成情况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季度业绩规模与增长态势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季度关键运营成果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私域贡献结构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累计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回头客飙升至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279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刑民风险清单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92088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6439382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92088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6439382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63263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2767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9634" y="2117663"/>
            <a:ext cx="325904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违反许可制度→非法经营罪（《刑法》第225条），个人非法经营5万元即应立案。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6234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非法经营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302956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1100516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71133" y="2117663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出售用户对话数据→侵犯公民个人信息罪（《刑法》第253条之一）。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8956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个人信息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63263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2767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09634" y="5348760"/>
            <a:ext cx="324470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违反《网络安全法》《数据安全法》：未履行安全评估与备案义务。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6235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数据违法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302956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100516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71133" y="5348760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跟踪混凝土、钢筋等主材消耗，核算材料损耗率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2.3%(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0.5%)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；优化机械设备调度方案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项，减少设备闲置时间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28957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严格把控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149588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149588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149588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6729984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729984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729984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4149588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149588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4149588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6729984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6729984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6729984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315293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进度管控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315293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班组协调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15293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工序衔接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895689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技术交底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95689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95689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现场指导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15293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隐患排查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315292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严格培训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315293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制度落实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895689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材料管控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895689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损耗核算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95689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资源优化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312767" y="3890551"/>
            <a:ext cx="11546493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 rot="5400000">
            <a:off x="3467735" y="3865855"/>
            <a:ext cx="5256530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59272" y="1069625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85"/>
          <p:cNvSpPr/>
          <p:nvPr/>
        </p:nvSpPr>
        <p:spPr>
          <a:xfrm flipV="1">
            <a:off x="5959272" y="6481837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等腰三角形 86"/>
          <p:cNvSpPr/>
          <p:nvPr/>
        </p:nvSpPr>
        <p:spPr>
          <a:xfrm rot="5400000" flipV="1">
            <a:off x="176039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87"/>
          <p:cNvSpPr/>
          <p:nvPr/>
        </p:nvSpPr>
        <p:spPr>
          <a:xfrm rot="16200000" flipH="1" flipV="1">
            <a:off x="11781828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6892" y="1470811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3" y="4701908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3" y="1470811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6892" y="4701908"/>
            <a:ext cx="309245" cy="3092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>
            <a:off x="192088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右大括号 12"/>
          <p:cNvSpPr/>
          <p:nvPr/>
        </p:nvSpPr>
        <p:spPr>
          <a:xfrm flipH="1">
            <a:off x="7291854" y="1511595"/>
            <a:ext cx="1735187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 flipH="1">
            <a:off x="7291854" y="3632789"/>
            <a:ext cx="1735188" cy="0"/>
          </a:xfrm>
          <a:prstGeom prst="line">
            <a:avLst/>
          </a:prstGeom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3072808" y="1511595"/>
            <a:ext cx="1827336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9" name="直接连接符 18"/>
          <p:cNvCxnSpPr>
            <a:endCxn id="18" idx="1"/>
          </p:cNvCxnSpPr>
          <p:nvPr/>
        </p:nvCxnSpPr>
        <p:spPr>
          <a:xfrm>
            <a:off x="3072808" y="3632789"/>
            <a:ext cx="1827336" cy="0"/>
          </a:xfrm>
          <a:prstGeom prst="line">
            <a:avLst/>
          </a:prstGeom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39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上海首例案件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12357" y="2803117"/>
            <a:ext cx="2367286" cy="829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2357" y="3632790"/>
            <a:ext cx="2367286" cy="8296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70473" y="2803117"/>
            <a:ext cx="1659345" cy="165934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462181" y="2803117"/>
            <a:ext cx="1659345" cy="165934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2088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2088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369937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369937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9369937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92259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83968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4994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运营模式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45" y="1847193"/>
            <a:ext cx="27712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批量注册境外AI订阅账号构建账号池，借境外服务器反向代理，以远低于官方价转售国内用户。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346" y="3954096"/>
            <a:ext cx="277123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曾打出「1元兑换数百万Token」口号，累计流水涉及金额巨大。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46" y="5927568"/>
            <a:ext cx="277122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涉嫌无证经营增值电信业务、规避生成式AI监管、违反数据出境安全管理规定。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4994" y="345364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处理结果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4994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渠道质量参差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09128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拓展新渠道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552647" y="34536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优化留存策略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52647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筛选优质渠道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Rounded Rectangle 22+"/>
          <p:cNvSpPr/>
          <p:nvPr/>
        </p:nvSpPr>
        <p:spPr>
          <a:xfrm>
            <a:off x="2180466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Rounded Rectangle 30+"/>
          <p:cNvSpPr/>
          <p:nvPr/>
        </p:nvSpPr>
        <p:spPr>
          <a:xfrm>
            <a:off x="2180466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Rounded Rectangle 31+"/>
          <p:cNvSpPr/>
          <p:nvPr/>
        </p:nvSpPr>
        <p:spPr>
          <a:xfrm>
            <a:off x="2180466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Rounded Rectangle 32+"/>
          <p:cNvSpPr/>
          <p:nvPr/>
        </p:nvSpPr>
        <p:spPr>
          <a:xfrm>
            <a:off x="11355941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Rounded Rectangle 33+"/>
          <p:cNvSpPr/>
          <p:nvPr/>
        </p:nvSpPr>
        <p:spPr>
          <a:xfrm>
            <a:off x="11355941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Rounded Rectangle 34+"/>
          <p:cNvSpPr/>
          <p:nvPr/>
        </p:nvSpPr>
        <p:spPr>
          <a:xfrm>
            <a:off x="11355941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69937" y="1847193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2026年5月被上海警方以涉嫌非法经营罪刑事拘留37天，后取保候审，案件侦查中。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369937" y="3954096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这是国内已知首例AI中转站刑事立案，明确释放强监管信号。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69937" y="5927568"/>
            <a:ext cx="274352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暂停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个低效渠道合作，将资源倾斜给转化率超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的核心渠道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4882632" y="1079797"/>
            <a:ext cx="2428274" cy="158259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等腰三角形 72"/>
          <p:cNvSpPr/>
          <p:nvPr/>
        </p:nvSpPr>
        <p:spPr>
          <a:xfrm flipV="1">
            <a:off x="4881862" y="4635823"/>
            <a:ext cx="2428274" cy="158259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311939" y="21230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刑事红线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1170" y="49228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侦查阶段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086" y="3499080"/>
            <a:ext cx="309245" cy="309245"/>
          </a:xfrm>
          <a:prstGeom prst="rect">
            <a:avLst/>
          </a:prstGeom>
        </p:spPr>
      </p:pic>
      <p:pic>
        <p:nvPicPr>
          <p:cNvPr id="2" name="图片 1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086" y="1356972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86" y="5472552"/>
            <a:ext cx="309245" cy="309245"/>
          </a:xfrm>
          <a:prstGeom prst="rect">
            <a:avLst/>
          </a:prstGeom>
        </p:spPr>
      </p:pic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1561" y="3499080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561" y="135697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561" y="5472552"/>
            <a:ext cx="309245" cy="309245"/>
          </a:xfrm>
          <a:prstGeom prst="rect">
            <a:avLst/>
          </a:prstGeom>
        </p:spPr>
      </p:pic>
      <p:pic>
        <p:nvPicPr>
          <p:cNvPr id="20" name="图片 19" descr="统计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360" y="1665605"/>
            <a:ext cx="331470" cy="331470"/>
          </a:xfrm>
          <a:prstGeom prst="rect">
            <a:avLst/>
          </a:prstGeom>
        </p:spPr>
      </p:pic>
      <p:pic>
        <p:nvPicPr>
          <p:cNvPr id="21" name="图片 20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830" y="3096895"/>
            <a:ext cx="452755" cy="452755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551" y="3082290"/>
            <a:ext cx="522605" cy="522605"/>
          </a:xfrm>
          <a:prstGeom prst="rect">
            <a:avLst/>
          </a:prstGeom>
        </p:spPr>
      </p:pic>
      <p:pic>
        <p:nvPicPr>
          <p:cNvPr id="24" name="图片 23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372" y="5313045"/>
            <a:ext cx="389255" cy="3892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9208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23372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9208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372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958" y="63770"/>
            <a:ext cx="3785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60"/>
          <p:cNvSpPr/>
          <p:nvPr/>
        </p:nvSpPr>
        <p:spPr>
          <a:xfrm>
            <a:off x="4709160" y="1383459"/>
            <a:ext cx="2773680" cy="277368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60"/>
          <p:cNvSpPr/>
          <p:nvPr/>
        </p:nvSpPr>
        <p:spPr>
          <a:xfrm>
            <a:off x="4328160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60"/>
          <p:cNvSpPr/>
          <p:nvPr/>
        </p:nvSpPr>
        <p:spPr>
          <a:xfrm>
            <a:off x="6710128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60"/>
          <p:cNvSpPr/>
          <p:nvPr/>
        </p:nvSpPr>
        <p:spPr>
          <a:xfrm>
            <a:off x="4328160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60"/>
          <p:cNvSpPr/>
          <p:nvPr/>
        </p:nvSpPr>
        <p:spPr>
          <a:xfrm>
            <a:off x="6710128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723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订单转化率高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2723" y="1937019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季度开发新客户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，成功签约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；跟进的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万美金大订单顺利交付，客户回头意向明确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2723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跨境电商扶持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2723" y="4170936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国家推出跨境电商出口退税新政，退税周期缩短至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天；亚马逊欧洲站开通新品流量扶持通道，符合公司产品定位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5728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小语种能力缺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07400" y="1937019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面对西班牙、葡萄牙客户时沟通依赖翻译软件，响应效率低；因语言障碍错失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个潜在订单，影响欧洲市场拓展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65728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海运本钱上涨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07400" y="4170936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美西航线海运价较上季度上涨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，挤压产品利润空间；部分中小客户因运费问题暂缓下单，订单量同比下降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192088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箭头: V 形 78"/>
          <p:cNvSpPr/>
          <p:nvPr/>
        </p:nvSpPr>
        <p:spPr>
          <a:xfrm>
            <a:off x="3142312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箭头: V 形 79"/>
          <p:cNvSpPr/>
          <p:nvPr/>
        </p:nvSpPr>
        <p:spPr>
          <a:xfrm>
            <a:off x="6092537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箭头: V 形 80"/>
          <p:cNvSpPr/>
          <p:nvPr/>
        </p:nvSpPr>
        <p:spPr>
          <a:xfrm>
            <a:off x="9042761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639407" y="1278985"/>
            <a:ext cx="5052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958857" y="1278985"/>
            <a:ext cx="6303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622575" y="3537901"/>
            <a:ext cx="5389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O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19772" y="3537901"/>
            <a:ext cx="508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85062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5062" y="5783449"/>
            <a:ext cx="265725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干脆的客户转化与订单交付能力是业绩核心，可复制开发经验至新市场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43528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劣势总结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3528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小语种短板制约欧洲市场拓展，需尽快开展针对性语言培训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385511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机会总结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385511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借力政策与平台扶持，可加快跨境电商布局，拓宽销售渠道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33573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威胁总结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33573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需通过批量订舱、产品提价等方式缓解海运本钱上涨压力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572806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52327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49466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43248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5169953" y="2397182"/>
            <a:ext cx="18261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自我剖析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53697" y="1874644"/>
            <a:ext cx="458654" cy="458654"/>
          </a:xfrm>
          <a:prstGeom prst="rect">
            <a:avLst/>
          </a:prstGeom>
        </p:spPr>
      </p:pic>
      <p:sp>
        <p:nvSpPr>
          <p:cNvPr id="107" name="任意多边形: 形状 60+"/>
          <p:cNvSpPr/>
          <p:nvPr/>
        </p:nvSpPr>
        <p:spPr>
          <a:xfrm>
            <a:off x="4408240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60+"/>
          <p:cNvSpPr/>
          <p:nvPr/>
        </p:nvSpPr>
        <p:spPr>
          <a:xfrm>
            <a:off x="6790208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60+"/>
          <p:cNvSpPr/>
          <p:nvPr/>
        </p:nvSpPr>
        <p:spPr>
          <a:xfrm>
            <a:off x="6790208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60+"/>
          <p:cNvSpPr/>
          <p:nvPr/>
        </p:nvSpPr>
        <p:spPr>
          <a:xfrm>
            <a:off x="4408240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任意多边形: 形状 151"/>
          <p:cNvSpPr/>
          <p:nvPr/>
        </p:nvSpPr>
        <p:spPr>
          <a:xfrm>
            <a:off x="9234584" y="1060582"/>
            <a:ext cx="2032622" cy="4625165"/>
          </a:xfrm>
          <a:custGeom>
            <a:avLst/>
            <a:gdLst>
              <a:gd name="connsiteX0" fmla="*/ 60592 w 2032622"/>
              <a:gd name="connsiteY0" fmla="*/ 0 h 4847234"/>
              <a:gd name="connsiteX1" fmla="*/ 1972030 w 2032622"/>
              <a:gd name="connsiteY1" fmla="*/ 0 h 4847234"/>
              <a:gd name="connsiteX2" fmla="*/ 2032622 w 2032622"/>
              <a:gd name="connsiteY2" fmla="*/ 60592 h 4847234"/>
              <a:gd name="connsiteX3" fmla="*/ 2032622 w 2032622"/>
              <a:gd name="connsiteY3" fmla="*/ 4253260 h 4847234"/>
              <a:gd name="connsiteX4" fmla="*/ 1989791 w 2032622"/>
              <a:gd name="connsiteY4" fmla="*/ 4270702 h 4847234"/>
              <a:gd name="connsiteX5" fmla="*/ 271483 w 2032622"/>
              <a:gd name="connsiteY5" fmla="*/ 4784929 h 4847234"/>
              <a:gd name="connsiteX6" fmla="*/ 0 w 2032622"/>
              <a:gd name="connsiteY6" fmla="*/ 4847234 h 4847234"/>
              <a:gd name="connsiteX7" fmla="*/ 0 w 2032622"/>
              <a:gd name="connsiteY7" fmla="*/ 60592 h 4847234"/>
              <a:gd name="connsiteX8" fmla="*/ 60592 w 2032622"/>
              <a:gd name="connsiteY8" fmla="*/ 0 h 484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484723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253260"/>
                </a:lnTo>
                <a:lnTo>
                  <a:pt x="1989791" y="4270702"/>
                </a:lnTo>
                <a:cubicBezTo>
                  <a:pt x="1479025" y="4459508"/>
                  <a:pt x="902712" y="4632002"/>
                  <a:pt x="271483" y="4784929"/>
                </a:cubicBezTo>
                <a:lnTo>
                  <a:pt x="0" y="484723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4752912" y="1089025"/>
            <a:ext cx="2032622" cy="5217523"/>
          </a:xfrm>
          <a:custGeom>
            <a:avLst/>
            <a:gdLst>
              <a:gd name="connsiteX0" fmla="*/ 60592 w 2032622"/>
              <a:gd name="connsiteY0" fmla="*/ 0 h 5468033"/>
              <a:gd name="connsiteX1" fmla="*/ 1972030 w 2032622"/>
              <a:gd name="connsiteY1" fmla="*/ 0 h 5468033"/>
              <a:gd name="connsiteX2" fmla="*/ 2032622 w 2032622"/>
              <a:gd name="connsiteY2" fmla="*/ 60592 h 5468033"/>
              <a:gd name="connsiteX3" fmla="*/ 2032622 w 2032622"/>
              <a:gd name="connsiteY3" fmla="*/ 5274558 h 5468033"/>
              <a:gd name="connsiteX4" fmla="*/ 1577808 w 2032622"/>
              <a:gd name="connsiteY4" fmla="*/ 5330024 h 5468033"/>
              <a:gd name="connsiteX5" fmla="*/ 391812 w 2032622"/>
              <a:gd name="connsiteY5" fmla="*/ 5441623 h 5468033"/>
              <a:gd name="connsiteX6" fmla="*/ 0 w 2032622"/>
              <a:gd name="connsiteY6" fmla="*/ 5468033 h 5468033"/>
              <a:gd name="connsiteX7" fmla="*/ 0 w 2032622"/>
              <a:gd name="connsiteY7" fmla="*/ 60592 h 5468033"/>
              <a:gd name="connsiteX8" fmla="*/ 60592 w 2032622"/>
              <a:gd name="connsiteY8" fmla="*/ 0 h 546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468033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274558"/>
                </a:lnTo>
                <a:lnTo>
                  <a:pt x="1577808" y="5330024"/>
                </a:lnTo>
                <a:cubicBezTo>
                  <a:pt x="1191776" y="5373472"/>
                  <a:pt x="796001" y="5410808"/>
                  <a:pt x="391812" y="5441623"/>
                </a:cubicBezTo>
                <a:lnTo>
                  <a:pt x="0" y="546803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178699" y="1092454"/>
            <a:ext cx="2032622" cy="5288947"/>
          </a:xfrm>
          <a:custGeom>
            <a:avLst/>
            <a:gdLst>
              <a:gd name="connsiteX0" fmla="*/ 60592 w 2032622"/>
              <a:gd name="connsiteY0" fmla="*/ 0 h 5542887"/>
              <a:gd name="connsiteX1" fmla="*/ 1972030 w 2032622"/>
              <a:gd name="connsiteY1" fmla="*/ 0 h 5542887"/>
              <a:gd name="connsiteX2" fmla="*/ 2032622 w 2032622"/>
              <a:gd name="connsiteY2" fmla="*/ 60592 h 5542887"/>
              <a:gd name="connsiteX3" fmla="*/ 2032622 w 2032622"/>
              <a:gd name="connsiteY3" fmla="*/ 5542887 h 5542887"/>
              <a:gd name="connsiteX4" fmla="*/ 1522901 w 2032622"/>
              <a:gd name="connsiteY4" fmla="*/ 5540289 h 5542887"/>
              <a:gd name="connsiteX5" fmla="*/ 616288 w 2032622"/>
              <a:gd name="connsiteY5" fmla="*/ 5513226 h 5542887"/>
              <a:gd name="connsiteX6" fmla="*/ 0 w 2032622"/>
              <a:gd name="connsiteY6" fmla="*/ 5479344 h 5542887"/>
              <a:gd name="connsiteX7" fmla="*/ 0 w 2032622"/>
              <a:gd name="connsiteY7" fmla="*/ 60592 h 5542887"/>
              <a:gd name="connsiteX8" fmla="*/ 60592 w 2032622"/>
              <a:gd name="connsiteY8" fmla="*/ 0 h 55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288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542887"/>
                </a:lnTo>
                <a:lnTo>
                  <a:pt x="1522901" y="5540289"/>
                </a:lnTo>
                <a:cubicBezTo>
                  <a:pt x="1217026" y="5534942"/>
                  <a:pt x="914654" y="5525872"/>
                  <a:pt x="616288" y="5513226"/>
                </a:cubicBezTo>
                <a:lnTo>
                  <a:pt x="0" y="547934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2473590" y="1092552"/>
            <a:ext cx="2032622" cy="5290979"/>
          </a:xfrm>
          <a:custGeom>
            <a:avLst/>
            <a:gdLst>
              <a:gd name="connsiteX0" fmla="*/ 60592 w 2032622"/>
              <a:gd name="connsiteY0" fmla="*/ 0 h 5545017"/>
              <a:gd name="connsiteX1" fmla="*/ 1972030 w 2032622"/>
              <a:gd name="connsiteY1" fmla="*/ 0 h 5545017"/>
              <a:gd name="connsiteX2" fmla="*/ 2032622 w 2032622"/>
              <a:gd name="connsiteY2" fmla="*/ 60592 h 5545017"/>
              <a:gd name="connsiteX3" fmla="*/ 2032622 w 2032622"/>
              <a:gd name="connsiteY3" fmla="*/ 5484208 h 5545017"/>
              <a:gd name="connsiteX4" fmla="*/ 1434650 w 2032622"/>
              <a:gd name="connsiteY4" fmla="*/ 5514101 h 5545017"/>
              <a:gd name="connsiteX5" fmla="*/ 155652 w 2032622"/>
              <a:gd name="connsiteY5" fmla="*/ 5545017 h 5545017"/>
              <a:gd name="connsiteX6" fmla="*/ 0 w 2032622"/>
              <a:gd name="connsiteY6" fmla="*/ 5544223 h 5545017"/>
              <a:gd name="connsiteX7" fmla="*/ 0 w 2032622"/>
              <a:gd name="connsiteY7" fmla="*/ 60592 h 5545017"/>
              <a:gd name="connsiteX8" fmla="*/ 60592 w 2032622"/>
              <a:gd name="connsiteY8" fmla="*/ 0 h 554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501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484208"/>
                </a:lnTo>
                <a:lnTo>
                  <a:pt x="1434650" y="5514101"/>
                </a:lnTo>
                <a:cubicBezTo>
                  <a:pt x="1014960" y="5531469"/>
                  <a:pt x="588184" y="5541910"/>
                  <a:pt x="155652" y="5545017"/>
                </a:cubicBezTo>
                <a:lnTo>
                  <a:pt x="0" y="554422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979877" y="1079006"/>
            <a:ext cx="2032622" cy="5008862"/>
          </a:xfrm>
          <a:custGeom>
            <a:avLst/>
            <a:gdLst>
              <a:gd name="connsiteX0" fmla="*/ 60592 w 2032622"/>
              <a:gd name="connsiteY0" fmla="*/ 0 h 5249354"/>
              <a:gd name="connsiteX1" fmla="*/ 1972030 w 2032622"/>
              <a:gd name="connsiteY1" fmla="*/ 0 h 5249354"/>
              <a:gd name="connsiteX2" fmla="*/ 2032622 w 2032622"/>
              <a:gd name="connsiteY2" fmla="*/ 60592 h 5249354"/>
              <a:gd name="connsiteX3" fmla="*/ 2032622 w 2032622"/>
              <a:gd name="connsiteY3" fmla="*/ 4897960 h 5249354"/>
              <a:gd name="connsiteX4" fmla="*/ 1539487 w 2032622"/>
              <a:gd name="connsiteY4" fmla="*/ 4999235 h 5249354"/>
              <a:gd name="connsiteX5" fmla="*/ 478381 w 2032622"/>
              <a:gd name="connsiteY5" fmla="*/ 5181748 h 5249354"/>
              <a:gd name="connsiteX6" fmla="*/ 0 w 2032622"/>
              <a:gd name="connsiteY6" fmla="*/ 5249354 h 5249354"/>
              <a:gd name="connsiteX7" fmla="*/ 0 w 2032622"/>
              <a:gd name="connsiteY7" fmla="*/ 60592 h 5249354"/>
              <a:gd name="connsiteX8" fmla="*/ 60592 w 2032622"/>
              <a:gd name="connsiteY8" fmla="*/ 0 h 52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24935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897960"/>
                </a:lnTo>
                <a:lnTo>
                  <a:pt x="1539487" y="4999235"/>
                </a:lnTo>
                <a:cubicBezTo>
                  <a:pt x="1197743" y="5065507"/>
                  <a:pt x="843598" y="5126481"/>
                  <a:pt x="478381" y="5181748"/>
                </a:cubicBezTo>
                <a:lnTo>
                  <a:pt x="0" y="524935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9341099" y="2309704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0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国产替代威胁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324353" y="2951663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DeepSeek低价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9341099" y="1907428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89120" y="239098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DeepSe…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285214" y="30062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8468" y="3648188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开源One API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5214" y="26039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3235" y="30875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开源One 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2681" y="2292242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89716" y="2021163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技术壁垒消失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7086392" y="244745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69646" y="3089411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技术壁垒消失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7086392" y="2045176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134415" y="252873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本钱控制优化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083376" y="1733465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1200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493487" y="14623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全年降本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440417" y="132463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新开拓市场营收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580105" y="2848583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63359" y="3490542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新增社区消费合作平台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家，入驻本地连锁商超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家，线下渠道覆盖率提升至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，渠道销售额同比增长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580105" y="2446307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8126" y="292986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渠道拓展发力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987199" y="18635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新增渠道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95858" y="2134596"/>
            <a:ext cx="1188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388567" y="1595717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859427" y="26883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887223" y="3330288"/>
            <a:ext cx="1764000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小红书投放短视频广告，累计曝光量超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万次，带动线上店面销量同比暴涨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，客单价提升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859427" y="22860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07448" y="27696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线上营销增效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061337" y="170326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线上流量爆发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856410" y="1974342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5000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21368216">
            <a:off x="-45885" y="5259782"/>
            <a:ext cx="11889466" cy="1575096"/>
          </a:xfrm>
          <a:custGeom>
            <a:avLst/>
            <a:gdLst>
              <a:gd name="connsiteX0" fmla="*/ 12309596 w 12309596"/>
              <a:gd name="connsiteY0" fmla="*/ 0 h 1727480"/>
              <a:gd name="connsiteX1" fmla="*/ 12280832 w 12309596"/>
              <a:gd name="connsiteY1" fmla="*/ 425971 h 1727480"/>
              <a:gd name="connsiteX2" fmla="*/ 12112227 w 12309596"/>
              <a:gd name="connsiteY2" fmla="*/ 497388 h 1727480"/>
              <a:gd name="connsiteX3" fmla="*/ 6094109 w 12309596"/>
              <a:gd name="connsiteY3" fmla="*/ 1711923 h 1727480"/>
              <a:gd name="connsiteX4" fmla="*/ 5881303 w 12309596"/>
              <a:gd name="connsiteY4" fmla="*/ 1727480 h 1727480"/>
              <a:gd name="connsiteX5" fmla="*/ 0 w 12309596"/>
              <a:gd name="connsiteY5" fmla="*/ 1330342 h 1727480"/>
              <a:gd name="connsiteX6" fmla="*/ 43189 w 12309596"/>
              <a:gd name="connsiteY6" fmla="*/ 690746 h 1727480"/>
              <a:gd name="connsiteX7" fmla="*/ 856521 w 12309596"/>
              <a:gd name="connsiteY7" fmla="*/ 796684 h 1727480"/>
              <a:gd name="connsiteX8" fmla="*/ 2749059 w 12309596"/>
              <a:gd name="connsiteY8" fmla="*/ 967005 h 1727480"/>
              <a:gd name="connsiteX9" fmla="*/ 11716581 w 12309596"/>
              <a:gd name="connsiteY9" fmla="*/ 207676 h 17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09596" h="1727480">
                <a:moveTo>
                  <a:pt x="12309596" y="0"/>
                </a:moveTo>
                <a:lnTo>
                  <a:pt x="12280832" y="425971"/>
                </a:lnTo>
                <a:lnTo>
                  <a:pt x="12112227" y="497388"/>
                </a:lnTo>
                <a:cubicBezTo>
                  <a:pt x="10584248" y="1083829"/>
                  <a:pt x="8489748" y="1516693"/>
                  <a:pt x="6094109" y="1711923"/>
                </a:cubicBezTo>
                <a:lnTo>
                  <a:pt x="5881303" y="1727480"/>
                </a:lnTo>
                <a:lnTo>
                  <a:pt x="0" y="1330342"/>
                </a:lnTo>
                <a:lnTo>
                  <a:pt x="43189" y="690746"/>
                </a:lnTo>
                <a:lnTo>
                  <a:pt x="856521" y="796684"/>
                </a:lnTo>
                <a:cubicBezTo>
                  <a:pt x="1471172" y="868453"/>
                  <a:pt x="2103369" y="925751"/>
                  <a:pt x="2749059" y="967005"/>
                </a:cubicBezTo>
                <a:cubicBezTo>
                  <a:pt x="6325189" y="1195486"/>
                  <a:pt x="9553449" y="883122"/>
                  <a:pt x="11716581" y="20767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rot="3863157">
            <a:off x="11432697" y="4636915"/>
            <a:ext cx="947765" cy="72673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9378" y="55320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914269" y="5427270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193591" y="53412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420556" y="4970748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683697" y="4555815"/>
            <a:ext cx="1134398" cy="113439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94901" y="60900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089792" y="59943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69114" y="58994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596079" y="55593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850787" y="51245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301" y="4762095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279" y="566608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416" y="5250302"/>
            <a:ext cx="309245" cy="30924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4601" y="5559655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841" y="5778622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调研报告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AI中转站调研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月流水约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毛利率约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50%区间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线下门店渠道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传统电商渠道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 rot="5400000">
            <a:off x="5516046" y="-2974147"/>
            <a:ext cx="2436560" cy="1060419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顶角 1"/>
          <p:cNvSpPr/>
          <p:nvPr/>
        </p:nvSpPr>
        <p:spPr>
          <a:xfrm>
            <a:off x="192088" y="1089024"/>
            <a:ext cx="2487776" cy="2436561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2087" y="3429000"/>
            <a:ext cx="11844338" cy="3147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 rot="5400000">
            <a:off x="5424191" y="93366"/>
            <a:ext cx="2620270" cy="10604197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2088" y="3968250"/>
            <a:ext cx="2487776" cy="2737350"/>
            <a:chOff x="192088" y="3968250"/>
            <a:chExt cx="2487776" cy="2645910"/>
          </a:xfrm>
        </p:grpSpPr>
        <p:sp>
          <p:nvSpPr>
            <p:cNvPr id="3" name="矩形: 圆顶角 2"/>
            <p:cNvSpPr/>
            <p:nvPr/>
          </p:nvSpPr>
          <p:spPr>
            <a:xfrm flipV="1">
              <a:off x="192088" y="3968250"/>
              <a:ext cx="2487776" cy="26459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Round Same Side Corner Rectangle 1+"/>
            <p:cNvSpPr/>
            <p:nvPr/>
          </p:nvSpPr>
          <p:spPr>
            <a:xfrm flipV="1">
              <a:off x="300844" y="4002663"/>
              <a:ext cx="2270264" cy="2491685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0327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工作回顾及计划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498" y="2162345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98" y="5003532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Round Same Side Corner Rectangle 1+"/>
          <p:cNvSpPr/>
          <p:nvPr/>
        </p:nvSpPr>
        <p:spPr>
          <a:xfrm>
            <a:off x="300844" y="1231046"/>
            <a:ext cx="2270264" cy="229453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92087" y="3968250"/>
            <a:ext cx="11844337" cy="31477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箭头: 五边形 12"/>
          <p:cNvSpPr/>
          <p:nvPr/>
        </p:nvSpPr>
        <p:spPr>
          <a:xfrm rot="16200000">
            <a:off x="3121519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箭头: 五边形 13"/>
          <p:cNvSpPr/>
          <p:nvPr/>
        </p:nvSpPr>
        <p:spPr>
          <a:xfrm rot="5400000" flipV="1">
            <a:off x="3121519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箭头: 五边形 18"/>
          <p:cNvSpPr/>
          <p:nvPr/>
        </p:nvSpPr>
        <p:spPr>
          <a:xfrm rot="16200000">
            <a:off x="5886870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箭头: 五边形 19"/>
          <p:cNvSpPr/>
          <p:nvPr/>
        </p:nvSpPr>
        <p:spPr>
          <a:xfrm rot="5400000" flipV="1">
            <a:off x="5886870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箭头: 五边形 21"/>
          <p:cNvSpPr/>
          <p:nvPr/>
        </p:nvSpPr>
        <p:spPr>
          <a:xfrm rot="16200000">
            <a:off x="8652221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箭头: 五边形 22"/>
          <p:cNvSpPr/>
          <p:nvPr/>
        </p:nvSpPr>
        <p:spPr>
          <a:xfrm rot="5400000" flipV="1">
            <a:off x="8652221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34890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9692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区域业绩达标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113710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8510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87969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2771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营销活动落地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34890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9692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13710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9972" y="45790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供应链升级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87207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2009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新店筹备开业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358348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116585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886563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3358348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116585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8886563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346274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负责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家门店总营收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万元，完成年度目标的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；其中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家标杆店营收超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，带动区域整体增长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8510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推行标准化服务流程，组织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场技能培训覆盖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名员工；门店客户差评率从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，大众点评平均评分提升至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70746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 “五一美食节”“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储值返利”活动，吸引新客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万人，储值金额达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万元；活动期间门店客流同比提升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6274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家薄弱门店制定专项提升方案，目标带动区域总营收突破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1400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万元，确保全年目标达成率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以上；重点提升非餐时段销量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58510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家本地食材供应商，优化采买流程；目标将食材本钱占比从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，同时建立食材溯源体系，提升食品安健康等级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970746" y="5136442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家新门店选址与装修方案审批，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月前完成员工招聘培训；计划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月正式开业，目标当月单店营收突破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15" y="1555115"/>
            <a:ext cx="574675" cy="574675"/>
          </a:xfrm>
          <a:prstGeom prst="rect">
            <a:avLst/>
          </a:prstGeom>
        </p:spPr>
      </p:pic>
      <p:pic>
        <p:nvPicPr>
          <p:cNvPr id="8" name="图片 7" descr="关联配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715" y="4283075"/>
            <a:ext cx="574675" cy="574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 flipH="1">
            <a:off x="2201188" y="2824592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201188" y="5046870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/>
        </p:nvSpPr>
        <p:spPr>
          <a:xfrm>
            <a:off x="0" y="1089025"/>
            <a:ext cx="3482501" cy="5435725"/>
          </a:xfrm>
          <a:custGeom>
            <a:avLst/>
            <a:gdLst>
              <a:gd name="connsiteX0" fmla="*/ 736285 w 3489960"/>
              <a:gd name="connsiteY0" fmla="*/ 0 h 5507350"/>
              <a:gd name="connsiteX1" fmla="*/ 3489960 w 3489960"/>
              <a:gd name="connsiteY1" fmla="*/ 2753675 h 5507350"/>
              <a:gd name="connsiteX2" fmla="*/ 736285 w 3489960"/>
              <a:gd name="connsiteY2" fmla="*/ 5507350 h 5507350"/>
              <a:gd name="connsiteX3" fmla="*/ 181323 w 3489960"/>
              <a:gd name="connsiteY3" fmla="*/ 5451405 h 5507350"/>
              <a:gd name="connsiteX4" fmla="*/ 0 w 3489960"/>
              <a:gd name="connsiteY4" fmla="*/ 5404782 h 5507350"/>
              <a:gd name="connsiteX5" fmla="*/ 0 w 3489960"/>
              <a:gd name="connsiteY5" fmla="*/ 102568 h 5507350"/>
              <a:gd name="connsiteX6" fmla="*/ 181323 w 3489960"/>
              <a:gd name="connsiteY6" fmla="*/ 55945 h 5507350"/>
              <a:gd name="connsiteX7" fmla="*/ 736285 w 3489960"/>
              <a:gd name="connsiteY7" fmla="*/ 0 h 55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9960" h="5507350">
                <a:moveTo>
                  <a:pt x="736285" y="0"/>
                </a:moveTo>
                <a:cubicBezTo>
                  <a:pt x="2257098" y="0"/>
                  <a:pt x="3489960" y="1232862"/>
                  <a:pt x="3489960" y="2753675"/>
                </a:cubicBezTo>
                <a:cubicBezTo>
                  <a:pt x="3489960" y="4274488"/>
                  <a:pt x="2257098" y="5507350"/>
                  <a:pt x="736285" y="5507350"/>
                </a:cubicBezTo>
                <a:cubicBezTo>
                  <a:pt x="546184" y="5507350"/>
                  <a:pt x="360581" y="5488087"/>
                  <a:pt x="181323" y="5451405"/>
                </a:cubicBezTo>
                <a:lnTo>
                  <a:pt x="0" y="5404782"/>
                </a:lnTo>
                <a:lnTo>
                  <a:pt x="0" y="102568"/>
                </a:lnTo>
                <a:lnTo>
                  <a:pt x="181323" y="55945"/>
                </a:lnTo>
                <a:cubicBezTo>
                  <a:pt x="360581" y="19264"/>
                  <a:pt x="546184" y="0"/>
                  <a:pt x="7362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37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" y="1553656"/>
            <a:ext cx="2953705" cy="4434840"/>
          </a:xfrm>
          <a:custGeom>
            <a:avLst/>
            <a:gdLst>
              <a:gd name="connsiteX0" fmla="*/ 736285 w 2953705"/>
              <a:gd name="connsiteY0" fmla="*/ 0 h 4434840"/>
              <a:gd name="connsiteX1" fmla="*/ 2953705 w 2953705"/>
              <a:gd name="connsiteY1" fmla="*/ 2217420 h 4434840"/>
              <a:gd name="connsiteX2" fmla="*/ 736285 w 2953705"/>
              <a:gd name="connsiteY2" fmla="*/ 4434840 h 4434840"/>
              <a:gd name="connsiteX3" fmla="*/ 76892 w 2953705"/>
              <a:gd name="connsiteY3" fmla="*/ 4335149 h 4434840"/>
              <a:gd name="connsiteX4" fmla="*/ 0 w 2953705"/>
              <a:gd name="connsiteY4" fmla="*/ 4307007 h 4434840"/>
              <a:gd name="connsiteX5" fmla="*/ 0 w 2953705"/>
              <a:gd name="connsiteY5" fmla="*/ 127834 h 4434840"/>
              <a:gd name="connsiteX6" fmla="*/ 76892 w 2953705"/>
              <a:gd name="connsiteY6" fmla="*/ 99691 h 4434840"/>
              <a:gd name="connsiteX7" fmla="*/ 736285 w 2953705"/>
              <a:gd name="connsiteY7" fmla="*/ 0 h 443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705" h="4434840">
                <a:moveTo>
                  <a:pt x="736285" y="0"/>
                </a:moveTo>
                <a:cubicBezTo>
                  <a:pt x="1960932" y="0"/>
                  <a:pt x="2953705" y="992773"/>
                  <a:pt x="2953705" y="2217420"/>
                </a:cubicBezTo>
                <a:cubicBezTo>
                  <a:pt x="2953705" y="3442067"/>
                  <a:pt x="1960932" y="4434840"/>
                  <a:pt x="736285" y="4434840"/>
                </a:cubicBezTo>
                <a:cubicBezTo>
                  <a:pt x="506664" y="4434840"/>
                  <a:pt x="285194" y="4399938"/>
                  <a:pt x="76892" y="4335149"/>
                </a:cubicBezTo>
                <a:lnTo>
                  <a:pt x="0" y="4307007"/>
                </a:lnTo>
                <a:lnTo>
                  <a:pt x="0" y="127834"/>
                </a:lnTo>
                <a:lnTo>
                  <a:pt x="76892" y="99691"/>
                </a:lnTo>
                <a:cubicBezTo>
                  <a:pt x="285194" y="34902"/>
                  <a:pt x="506664" y="0"/>
                  <a:pt x="73628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56358" y="338969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核心总目标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102239" y="4195800"/>
            <a:ext cx="2953705" cy="80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用户规模突破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环比增长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53307" y="4065778"/>
            <a:ext cx="642612" cy="0"/>
          </a:xfrm>
          <a:prstGeom prst="line">
            <a:avLst/>
          </a:prstGeom>
          <a:ln w="444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 rot="5400000">
            <a:off x="8451319" y="-1921315"/>
            <a:ext cx="562672" cy="6607543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20841" y="1086465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00088" y="110112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48109" y="118240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39241" y="1752105"/>
            <a:ext cx="7197184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重点布局短视频信息流广告，合作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MCN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机构产出推广内容；同时上线老用户邀请有礼活动，目标新增用户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万，占总增长目标的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2038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7415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邀新有礼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27925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拓渠增量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855256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0633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988231" y="3304994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 rot="5400000">
            <a:off x="8451318" y="296226"/>
            <a:ext cx="562672" cy="6607544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367920" y="331866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5941" y="33999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用户活跃提升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67920" y="3974383"/>
            <a:ext cx="6689678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页面推广算法，每周更新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个高频功能模块；策划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场节日主题运营活动，目标日活跃用户（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DAU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万，活跃率提升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356070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算法优化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02216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模块更新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448361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活动促活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734437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280583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320841" y="5537322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8227988" y="2260332"/>
            <a:ext cx="562672" cy="709654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900088" y="552727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48109" y="560855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留存体系完善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00088" y="6182991"/>
            <a:ext cx="71575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针对新用户设计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天成长任务体系，配置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权益；上线用户分层运营策略，重点提升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日留存率，目标从目前的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2038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任务体系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77415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分层运营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427925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提留增效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55256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20633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7120" y="5843270"/>
            <a:ext cx="539115" cy="53911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905" y="2498090"/>
            <a:ext cx="805180" cy="807085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306" y="3611069"/>
            <a:ext cx="539115" cy="539115"/>
          </a:xfrm>
          <a:prstGeom prst="rect">
            <a:avLst/>
          </a:prstGeom>
        </p:spPr>
      </p:pic>
      <p:pic>
        <p:nvPicPr>
          <p:cNvPr id="5" name="图片 4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1392555"/>
            <a:ext cx="539115" cy="5391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弧形 101"/>
          <p:cNvSpPr/>
          <p:nvPr/>
        </p:nvSpPr>
        <p:spPr>
          <a:xfrm>
            <a:off x="-3350496" y="1919382"/>
            <a:ext cx="18892993" cy="13958943"/>
          </a:xfrm>
          <a:prstGeom prst="arc">
            <a:avLst>
              <a:gd name="adj1" fmla="val 13305165"/>
              <a:gd name="adj2" fmla="val 19094325"/>
            </a:avLst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Oval 4+"/>
          <p:cNvSpPr/>
          <p:nvPr/>
        </p:nvSpPr>
        <p:spPr>
          <a:xfrm>
            <a:off x="555861" y="193365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Oval 2+"/>
          <p:cNvSpPr/>
          <p:nvPr/>
        </p:nvSpPr>
        <p:spPr>
          <a:xfrm>
            <a:off x="2950110" y="134251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5" name="Oval 1+"/>
          <p:cNvSpPr/>
          <p:nvPr/>
        </p:nvSpPr>
        <p:spPr>
          <a:xfrm>
            <a:off x="5344361" y="1089025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Oval 3+"/>
          <p:cNvSpPr/>
          <p:nvPr/>
        </p:nvSpPr>
        <p:spPr>
          <a:xfrm>
            <a:off x="7738609" y="131203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Oval 5+"/>
          <p:cNvSpPr/>
          <p:nvPr/>
        </p:nvSpPr>
        <p:spPr>
          <a:xfrm>
            <a:off x="10132860" y="194889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121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下阶段工作计划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461526" y="1206190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067275" y="145968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855774" y="142920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3026" y="205081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50025" y="206605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-146636" y="4099538"/>
            <a:ext cx="3022173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 rot="5400000">
            <a:off x="1976415" y="3828340"/>
            <a:ext cx="3564570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4243923" y="3701597"/>
            <a:ext cx="3818056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 rot="5400000">
            <a:off x="6764915" y="3828341"/>
            <a:ext cx="3564568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 rot="5400000">
            <a:off x="9430364" y="4099539"/>
            <a:ext cx="3022171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Rounded Rectangle 102+"/>
          <p:cNvSpPr/>
          <p:nvPr/>
        </p:nvSpPr>
        <p:spPr>
          <a:xfrm rot="5400000" flipH="1">
            <a:off x="1328451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Rounded Rectangle 103+"/>
          <p:cNvSpPr/>
          <p:nvPr/>
        </p:nvSpPr>
        <p:spPr>
          <a:xfrm rot="5400000" flipH="1">
            <a:off x="372269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Rounded Rectangle 104+"/>
          <p:cNvSpPr/>
          <p:nvPr/>
        </p:nvSpPr>
        <p:spPr>
          <a:xfrm rot="5400000" flipH="1">
            <a:off x="6116950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Rounded Rectangle 105+"/>
          <p:cNvSpPr/>
          <p:nvPr/>
        </p:nvSpPr>
        <p:spPr>
          <a:xfrm rot="5400000" flipH="1">
            <a:off x="8511198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Rounded Rectangle 106+"/>
          <p:cNvSpPr/>
          <p:nvPr/>
        </p:nvSpPr>
        <p:spPr>
          <a:xfrm rot="5400000" flipH="1">
            <a:off x="1090544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7943" y="238830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02192" y="179716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496443" y="1543671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供应链效率提升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90691" y="176668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284942" y="240354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数据化运营推进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5423" y="4247029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策划双节活动，备货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件；目标客流升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，单店日收超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95424" y="3928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旺季活动落地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" name="等腰三角形 128"/>
          <p:cNvSpPr/>
          <p:nvPr/>
        </p:nvSpPr>
        <p:spPr>
          <a:xfrm rot="4274156">
            <a:off x="2426993" y="2288040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等腰三角形 129"/>
          <p:cNvSpPr/>
          <p:nvPr/>
        </p:nvSpPr>
        <p:spPr>
          <a:xfrm rot="5231853">
            <a:off x="4845189" y="1839446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890972">
            <a:off x="7268800" y="1857313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等腰三角形 131"/>
          <p:cNvSpPr/>
          <p:nvPr/>
        </p:nvSpPr>
        <p:spPr>
          <a:xfrm rot="6691060">
            <a:off x="9652619" y="2341958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95423" y="5702795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家门店调结构、优排班，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月底营收达区域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95424" y="53838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薄弱门店提升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679270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人，推服务标准；目标满意度升至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679271" y="33153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服务标准升级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679270" y="5096801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每周平安检查建台账，确保没有意外、食安百分百合格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679271" y="477785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平安隐患排查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088454" y="3406202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上线科技补货系统，周期缩至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088455" y="30872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补货机制优化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5088454" y="487293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家供应商谈降本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，保畅销品库存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充足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88455" y="455398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供应商合作深化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468613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家选址，优先社区写字楼；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月底签合同并装修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468614" y="3315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新门店筹备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7468613" y="5080215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月初开业，当月目标营收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468614" y="47612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人员招聘培训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9862861" y="422565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建日报机制每日分析，重点控损耗，降至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862862" y="390670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862861" y="5696034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 “线上点单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自提”，目标线上订单占比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9862862" y="53770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数字化工具推广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71" name="直接连接符 170"/>
          <p:cNvCxnSpPr/>
          <p:nvPr/>
        </p:nvCxnSpPr>
        <p:spPr>
          <a:xfrm flipH="1">
            <a:off x="238997" y="5245836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2647336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H="1">
            <a:off x="5074362" y="4313403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H="1">
            <a:off x="7452222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H="1">
            <a:off x="9862861" y="5147957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4565" y="5947410"/>
            <a:ext cx="539115" cy="53911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171" y="5947234"/>
            <a:ext cx="539115" cy="53911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855" y="5753100"/>
            <a:ext cx="631190" cy="631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/>
          <p:cNvSpPr/>
          <p:nvPr/>
        </p:nvSpPr>
        <p:spPr>
          <a:xfrm rot="5400000">
            <a:off x="1295133" y="5316"/>
            <a:ext cx="2228903" cy="4395781"/>
          </a:xfrm>
          <a:custGeom>
            <a:avLst/>
            <a:gdLst>
              <a:gd name="connsiteX0" fmla="*/ 0 w 2228903"/>
              <a:gd name="connsiteY0" fmla="*/ 4340597 h 4395781"/>
              <a:gd name="connsiteX1" fmla="*/ 0 w 2228903"/>
              <a:gd name="connsiteY1" fmla="*/ 55184 h 4395781"/>
              <a:gd name="connsiteX2" fmla="*/ 55184 w 2228903"/>
              <a:gd name="connsiteY2" fmla="*/ 0 h 4395781"/>
              <a:gd name="connsiteX3" fmla="*/ 1868281 w 2228903"/>
              <a:gd name="connsiteY3" fmla="*/ 0 h 4395781"/>
              <a:gd name="connsiteX4" fmla="*/ 1923465 w 2228903"/>
              <a:gd name="connsiteY4" fmla="*/ 55184 h 4395781"/>
              <a:gd name="connsiteX5" fmla="*/ 1923465 w 2228903"/>
              <a:gd name="connsiteY5" fmla="*/ 386486 h 4395781"/>
              <a:gd name="connsiteX6" fmla="*/ 2228903 w 2228903"/>
              <a:gd name="connsiteY6" fmla="*/ 386486 h 4395781"/>
              <a:gd name="connsiteX7" fmla="*/ 1923465 w 2228903"/>
              <a:gd name="connsiteY7" fmla="*/ 804613 h 4395781"/>
              <a:gd name="connsiteX8" fmla="*/ 1923465 w 2228903"/>
              <a:gd name="connsiteY8" fmla="*/ 4340597 h 4395781"/>
              <a:gd name="connsiteX9" fmla="*/ 1868281 w 2228903"/>
              <a:gd name="connsiteY9" fmla="*/ 4395781 h 4395781"/>
              <a:gd name="connsiteX10" fmla="*/ 55184 w 2228903"/>
              <a:gd name="connsiteY10" fmla="*/ 4395781 h 4395781"/>
              <a:gd name="connsiteX11" fmla="*/ 0 w 2228903"/>
              <a:gd name="connsiteY11" fmla="*/ 4340597 h 439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8903" h="4395781">
                <a:moveTo>
                  <a:pt x="0" y="4340597"/>
                </a:moveTo>
                <a:lnTo>
                  <a:pt x="0" y="55184"/>
                </a:lnTo>
                <a:cubicBezTo>
                  <a:pt x="0" y="24707"/>
                  <a:pt x="24707" y="0"/>
                  <a:pt x="55184" y="0"/>
                </a:cubicBezTo>
                <a:lnTo>
                  <a:pt x="1868281" y="0"/>
                </a:lnTo>
                <a:cubicBezTo>
                  <a:pt x="1898758" y="0"/>
                  <a:pt x="1923465" y="24707"/>
                  <a:pt x="1923465" y="55184"/>
                </a:cubicBezTo>
                <a:lnTo>
                  <a:pt x="1923465" y="386486"/>
                </a:lnTo>
                <a:lnTo>
                  <a:pt x="2228903" y="386486"/>
                </a:lnTo>
                <a:lnTo>
                  <a:pt x="1923465" y="804613"/>
                </a:lnTo>
                <a:lnTo>
                  <a:pt x="1923465" y="4340597"/>
                </a:lnTo>
                <a:cubicBezTo>
                  <a:pt x="1923465" y="4371074"/>
                  <a:pt x="1898758" y="4395781"/>
                  <a:pt x="1868281" y="4395781"/>
                </a:cubicBezTo>
                <a:lnTo>
                  <a:pt x="55184" y="4395781"/>
                </a:lnTo>
                <a:cubicBezTo>
                  <a:pt x="24707" y="4395781"/>
                  <a:pt x="0" y="4371074"/>
                  <a:pt x="0" y="434059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676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年度目标实现关键策略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721388" y="4592112"/>
            <a:ext cx="70544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709236" y="1790150"/>
            <a:ext cx="1119254" cy="996283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455493" y="4277529"/>
            <a:ext cx="821104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910791" y="1788533"/>
            <a:ext cx="2374745" cy="23747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25448" y="3168375"/>
            <a:ext cx="2374745" cy="2374745"/>
          </a:xfrm>
          <a:prstGeom prst="ellips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96133" y="3181074"/>
            <a:ext cx="2374745" cy="2374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4578295" y="2288291"/>
            <a:ext cx="3098684" cy="2707163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002102" y="1458580"/>
            <a:ext cx="2120260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61413" y="1539861"/>
            <a:ext cx="2001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575197" y="4310776"/>
            <a:ext cx="2015705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83416" y="4392057"/>
            <a:ext cx="1999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营销转型提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ROI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328077" y="3995891"/>
            <a:ext cx="199130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3715" y="40771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分层运营促粘性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9714" y="4638973"/>
            <a:ext cx="325775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针对核心客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搭建分层运营体系，推送个性化消费卡及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活动，上半年回头提升至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，带动客单价增长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2854" y="2048296"/>
            <a:ext cx="418989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基于销售数据淘汰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滞销品，引入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款网红新品，优化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结构，新品贡献销售额占比达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98294" y="4892830"/>
            <a:ext cx="362130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缩减低效线下推广预算，转向直播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短视频营销，单场直播顶峰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万元，营销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1:4.2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7068" y="1614196"/>
            <a:ext cx="406761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聚焦用户、商品、营销三大维度，通过分层运营提回头、优化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引增量、转型直播提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，严格匹配业务痛点与增长需求，为年度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的目标提供可落地的策略支撑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068" y="126753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三维发力 严格破局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8706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深耕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11353" y="256125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87574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9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576127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960165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34420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972824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8137" y="6235669"/>
            <a:ext cx="1156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4120" y="6235669"/>
            <a:ext cx="123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迭代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08962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00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复购提升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7704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预算优化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765" y="3646170"/>
            <a:ext cx="631190" cy="63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87430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234637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207209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154416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120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调研摘要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箭头: 五边形 7"/>
          <p:cNvSpPr/>
          <p:nvPr/>
        </p:nvSpPr>
        <p:spPr>
          <a:xfrm>
            <a:off x="8211185" y="2423253"/>
            <a:ext cx="3825239" cy="1249337"/>
          </a:xfrm>
          <a:prstGeom prst="homePlate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五边形 7"/>
          <p:cNvSpPr/>
          <p:nvPr/>
        </p:nvSpPr>
        <p:spPr>
          <a:xfrm>
            <a:off x="192090" y="2423253"/>
            <a:ext cx="3681948" cy="1249337"/>
          </a:xfrm>
          <a:prstGeom prst="homePlate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箭头: 五边形 7"/>
          <p:cNvSpPr/>
          <p:nvPr/>
        </p:nvSpPr>
        <p:spPr>
          <a:xfrm>
            <a:off x="5690668" y="2423253"/>
            <a:ext cx="3825239" cy="1249337"/>
          </a:xfrm>
          <a:prstGeom prst="chevron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箭头: 五边形 7"/>
          <p:cNvSpPr/>
          <p:nvPr/>
        </p:nvSpPr>
        <p:spPr>
          <a:xfrm>
            <a:off x="3008686" y="2423253"/>
            <a:ext cx="3681948" cy="1249337"/>
          </a:xfrm>
          <a:prstGeom prst="chevron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法律障碍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8308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商业现实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6715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竞争挤压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04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综合结论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 rot="5400000">
            <a:off x="41012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 rot="5400000">
            <a:off x="1984788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 rot="5400000">
            <a:off x="354458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rot="5400000">
            <a:off x="5104382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rot="5400000">
            <a:off x="6664179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rot="5400000">
            <a:off x="8223977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rot="5400000">
            <a:off x="10341725" y="399264"/>
            <a:ext cx="993039" cy="2396358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8466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海外模型无法备案，中转站难获完整合规身份，刑事风险已在上海首例案件中兑现。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8466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营收目标超额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8466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头部月流水可达500万、毛利率50%，但依赖模型替换、Token虚报、数据倒卖等灰色手段。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8466" y="52502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业务量增长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1400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国产模型价为GPT约1/10，孙宇晨/傅盛/特朗普家族等大玩家2026年5月密集入场。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31400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配送时效优化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1400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天，库存积压率控制在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31400" y="52502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仓储周转加速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76101" y="4169369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场专业培训，覆盖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名员工，培训完成率百分百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76101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人员培训落实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6101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全年员工流失率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个百分点，团队凝聚力增强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76101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团队稳定性提升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251544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2026年以灰色入局法律风险极高且商业窗口基本关闭；合规运营面临结构性矛盾。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1544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投诉处理效率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51544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年度客户满意度调查评分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51544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服务满意度提升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99656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99656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146863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146863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119435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119435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9066642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066642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7614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配送准时率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48453" y="1535267"/>
            <a:ext cx="1116382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98.5%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02277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76177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51843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359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1872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投诉量下降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957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81668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711119" y="1535267"/>
            <a:ext cx="8991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9.2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31234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315368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667094" y="1188830"/>
            <a:ext cx="1286300" cy="437966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年度营收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69847" y="1450772"/>
            <a:ext cx="128079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Rounded Rectangle 22+"/>
          <p:cNvSpPr/>
          <p:nvPr/>
        </p:nvSpPr>
        <p:spPr>
          <a:xfrm rot="5400000">
            <a:off x="11070508" y="1102562"/>
            <a:ext cx="809588" cy="989763"/>
          </a:xfrm>
          <a:prstGeom prst="roundRect">
            <a:avLst>
              <a:gd name="adj" fmla="val 2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994659" y="1255350"/>
            <a:ext cx="1005775" cy="684187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超目标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375" y="2569210"/>
            <a:ext cx="454660" cy="454660"/>
          </a:xfrm>
          <a:prstGeom prst="rect">
            <a:avLst/>
          </a:prstGeom>
        </p:spPr>
      </p:pic>
      <p:pic>
        <p:nvPicPr>
          <p:cNvPr id="8" name="图片 7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165" y="2569210"/>
            <a:ext cx="454660" cy="454660"/>
          </a:xfrm>
          <a:prstGeom prst="rect">
            <a:avLst/>
          </a:prstGeom>
        </p:spPr>
      </p:pic>
      <p:pic>
        <p:nvPicPr>
          <p:cNvPr id="9" name="图片 8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0475" y="2569210"/>
            <a:ext cx="454660" cy="454660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910" y="2569210"/>
            <a:ext cx="454660" cy="4546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55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用户增长乏力原因分析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27"/>
          <p:cNvCxnSpPr/>
          <p:nvPr/>
        </p:nvCxnSpPr>
        <p:spPr>
          <a:xfrm flipH="1">
            <a:off x="1036320" y="3949441"/>
            <a:ext cx="10881360" cy="0"/>
          </a:xfrm>
          <a:prstGeom prst="line">
            <a:avLst/>
          </a:prstGeom>
          <a:noFill/>
          <a:ln w="25400" cap="rnd">
            <a:solidFill>
              <a:schemeClr val="accent1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" name="任意多边形: 形状 25"/>
          <p:cNvSpPr/>
          <p:nvPr/>
        </p:nvSpPr>
        <p:spPr bwMode="auto">
          <a:xfrm rot="5400000">
            <a:off x="150051" y="3420839"/>
            <a:ext cx="1146082" cy="1062008"/>
          </a:xfrm>
          <a:custGeom>
            <a:avLst/>
            <a:gdLst>
              <a:gd name="T0" fmla="*/ 592 w 1184"/>
              <a:gd name="T1" fmla="*/ 824 h 1096"/>
              <a:gd name="T2" fmla="*/ 1184 w 1184"/>
              <a:gd name="T3" fmla="*/ 1096 h 1096"/>
              <a:gd name="T4" fmla="*/ 996 w 1184"/>
              <a:gd name="T5" fmla="*/ 492 h 1096"/>
              <a:gd name="T6" fmla="*/ 592 w 1184"/>
              <a:gd name="T7" fmla="*/ 0 h 1096"/>
              <a:gd name="T8" fmla="*/ 188 w 1184"/>
              <a:gd name="T9" fmla="*/ 492 h 1096"/>
              <a:gd name="T10" fmla="*/ 0 w 1184"/>
              <a:gd name="T11" fmla="*/ 1096 h 1096"/>
              <a:gd name="T12" fmla="*/ 592 w 1184"/>
              <a:gd name="T13" fmla="*/ 824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4" h="1096">
                <a:moveTo>
                  <a:pt x="592" y="824"/>
                </a:moveTo>
                <a:cubicBezTo>
                  <a:pt x="932" y="824"/>
                  <a:pt x="1184" y="1096"/>
                  <a:pt x="1184" y="1096"/>
                </a:cubicBezTo>
                <a:cubicBezTo>
                  <a:pt x="1184" y="1096"/>
                  <a:pt x="1184" y="796"/>
                  <a:pt x="996" y="492"/>
                </a:cubicBezTo>
                <a:cubicBezTo>
                  <a:pt x="808" y="188"/>
                  <a:pt x="592" y="0"/>
                  <a:pt x="592" y="0"/>
                </a:cubicBezTo>
                <a:cubicBezTo>
                  <a:pt x="592" y="0"/>
                  <a:pt x="376" y="188"/>
                  <a:pt x="188" y="492"/>
                </a:cubicBezTo>
                <a:cubicBezTo>
                  <a:pt x="0" y="796"/>
                  <a:pt x="0" y="1096"/>
                  <a:pt x="0" y="1096"/>
                </a:cubicBezTo>
                <a:cubicBezTo>
                  <a:pt x="0" y="1096"/>
                  <a:pt x="252" y="824"/>
                  <a:pt x="592" y="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237743" y="1385112"/>
            <a:ext cx="2207268" cy="5119480"/>
            <a:chOff x="9237743" y="1422531"/>
            <a:chExt cx="2207268" cy="4414536"/>
          </a:xfrm>
        </p:grpSpPr>
        <p:sp>
          <p:nvSpPr>
            <p:cNvPr id="6" name="任意多边形: 形状 25"/>
            <p:cNvSpPr/>
            <p:nvPr/>
          </p:nvSpPr>
          <p:spPr bwMode="auto">
            <a:xfrm flipH="1">
              <a:off x="9237743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8" name="任意多边形: 形状 25"/>
            <p:cNvSpPr/>
            <p:nvPr/>
          </p:nvSpPr>
          <p:spPr bwMode="auto">
            <a:xfrm flipH="1" flipV="1">
              <a:off x="9237743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918824" y="1385112"/>
            <a:ext cx="2207268" cy="5119480"/>
            <a:chOff x="5918824" y="1422531"/>
            <a:chExt cx="2207268" cy="4414536"/>
          </a:xfrm>
        </p:grpSpPr>
        <p:sp>
          <p:nvSpPr>
            <p:cNvPr id="14" name="任意多边形: 形状 25"/>
            <p:cNvSpPr/>
            <p:nvPr/>
          </p:nvSpPr>
          <p:spPr bwMode="auto">
            <a:xfrm flipH="1">
              <a:off x="5918824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8" name="任意多边形: 形状 25"/>
            <p:cNvSpPr/>
            <p:nvPr/>
          </p:nvSpPr>
          <p:spPr bwMode="auto">
            <a:xfrm flipH="1" flipV="1">
              <a:off x="5918824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68711" y="1385112"/>
            <a:ext cx="2207268" cy="5119480"/>
            <a:chOff x="2768711" y="1422531"/>
            <a:chExt cx="2207268" cy="4414536"/>
          </a:xfrm>
        </p:grpSpPr>
        <p:sp>
          <p:nvSpPr>
            <p:cNvPr id="21" name="任意多边形: 形状 25"/>
            <p:cNvSpPr/>
            <p:nvPr/>
          </p:nvSpPr>
          <p:spPr bwMode="auto">
            <a:xfrm flipH="1">
              <a:off x="2768711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23" name="任意多边形: 形状 25"/>
            <p:cNvSpPr/>
            <p:nvPr/>
          </p:nvSpPr>
          <p:spPr bwMode="auto">
            <a:xfrm flipH="1" flipV="1">
              <a:off x="2768711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39" name="任意多边形: 形状 38"/>
          <p:cNvSpPr/>
          <p:nvPr/>
        </p:nvSpPr>
        <p:spPr>
          <a:xfrm rot="7955857">
            <a:off x="10472154" y="3320024"/>
            <a:ext cx="1410768" cy="1303192"/>
          </a:xfrm>
          <a:custGeom>
            <a:avLst/>
            <a:gdLst>
              <a:gd name="connsiteX0" fmla="*/ 42727 w 1316175"/>
              <a:gd name="connsiteY0" fmla="*/ 1265849 h 1265849"/>
              <a:gd name="connsiteX1" fmla="*/ 38681 w 1316175"/>
              <a:gd name="connsiteY1" fmla="*/ 1260944 h 1265849"/>
              <a:gd name="connsiteX2" fmla="*/ 0 w 1316175"/>
              <a:gd name="connsiteY2" fmla="*/ 1134312 h 1265849"/>
              <a:gd name="connsiteX3" fmla="*/ 0 w 1316175"/>
              <a:gd name="connsiteY3" fmla="*/ 226488 h 1265849"/>
              <a:gd name="connsiteX4" fmla="*/ 226488 w 1316175"/>
              <a:gd name="connsiteY4" fmla="*/ 0 h 1265849"/>
              <a:gd name="connsiteX5" fmla="*/ 1132414 w 1316175"/>
              <a:gd name="connsiteY5" fmla="*/ 0 h 1265849"/>
              <a:gd name="connsiteX6" fmla="*/ 1292565 w 1316175"/>
              <a:gd name="connsiteY6" fmla="*/ 66337 h 1265849"/>
              <a:gd name="connsiteX7" fmla="*/ 1316175 w 1316175"/>
              <a:gd name="connsiteY7" fmla="*/ 94951 h 126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75" h="1265849">
                <a:moveTo>
                  <a:pt x="42727" y="1265849"/>
                </a:moveTo>
                <a:lnTo>
                  <a:pt x="38681" y="1260944"/>
                </a:lnTo>
                <a:cubicBezTo>
                  <a:pt x="14260" y="1224796"/>
                  <a:pt x="0" y="1181220"/>
                  <a:pt x="0" y="1134312"/>
                </a:cubicBezTo>
                <a:lnTo>
                  <a:pt x="0" y="226488"/>
                </a:lnTo>
                <a:cubicBezTo>
                  <a:pt x="0" y="101402"/>
                  <a:pt x="101402" y="0"/>
                  <a:pt x="226488" y="0"/>
                </a:cubicBezTo>
                <a:lnTo>
                  <a:pt x="1132414" y="0"/>
                </a:lnTo>
                <a:cubicBezTo>
                  <a:pt x="1194957" y="0"/>
                  <a:pt x="1251579" y="25351"/>
                  <a:pt x="1292565" y="66337"/>
                </a:cubicBezTo>
                <a:lnTo>
                  <a:pt x="1316175" y="949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椭圆 24"/>
          <p:cNvSpPr>
            <a:spLocks noChangeAspect="1"/>
          </p:cNvSpPr>
          <p:nvPr/>
        </p:nvSpPr>
        <p:spPr>
          <a:xfrm>
            <a:off x="11580259" y="3849041"/>
            <a:ext cx="200799" cy="200799"/>
          </a:xfrm>
          <a:prstGeom prst="ellipse">
            <a:avLst/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57305" y="1917868"/>
            <a:ext cx="151713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信息流本钱攀升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255422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搜索引擎降权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12070" y="3071551"/>
            <a:ext cx="129111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69786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课程迭代缓慢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3004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功能体验欠佳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41815" y="5360413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差异化缺失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9337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活动形式单一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91631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优惠力度不足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64961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传播裂变困难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608570" y="4206341"/>
            <a:ext cx="135946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合作减少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4019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内容输出匮乏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266438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公关声量微弱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559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3559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414228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414228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7484184" y="1111807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7484184" y="6139140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67975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获客渠道下滑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7975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产品吸引力弱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86723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营销效果疲软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6723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品牌曝光不足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620288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留存转化不足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20288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竞品挤压加剧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3356670" y="1990327"/>
            <a:ext cx="542196" cy="1309349"/>
            <a:chOff x="3374437" y="1765889"/>
            <a:chExt cx="542196" cy="1309349"/>
          </a:xfrm>
        </p:grpSpPr>
        <p:sp>
          <p:nvSpPr>
            <p:cNvPr id="107" name="椭圆 106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6503059" y="1990327"/>
            <a:ext cx="542196" cy="1309349"/>
            <a:chOff x="3374437" y="1765889"/>
            <a:chExt cx="542196" cy="1309349"/>
          </a:xfrm>
        </p:grpSpPr>
        <p:sp>
          <p:nvSpPr>
            <p:cNvPr id="136" name="椭圆 135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9817073" y="1990327"/>
            <a:ext cx="542196" cy="1309349"/>
            <a:chOff x="9831559" y="1765889"/>
            <a:chExt cx="542196" cy="1309349"/>
          </a:xfrm>
        </p:grpSpPr>
        <p:sp>
          <p:nvSpPr>
            <p:cNvPr id="140" name="椭圆 139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V="1">
            <a:off x="3467082" y="4298278"/>
            <a:ext cx="542196" cy="1309349"/>
            <a:chOff x="3374437" y="1765889"/>
            <a:chExt cx="542196" cy="1309349"/>
          </a:xfrm>
        </p:grpSpPr>
        <p:sp>
          <p:nvSpPr>
            <p:cNvPr id="155" name="椭圆 154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 flipV="1">
            <a:off x="6611450" y="4298278"/>
            <a:ext cx="542196" cy="1309349"/>
            <a:chOff x="3374437" y="1765889"/>
            <a:chExt cx="542196" cy="1309349"/>
          </a:xfrm>
        </p:grpSpPr>
        <p:sp>
          <p:nvSpPr>
            <p:cNvPr id="152" name="椭圆 151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 flipV="1">
            <a:off x="9935215" y="4298278"/>
            <a:ext cx="542196" cy="1309349"/>
            <a:chOff x="9831559" y="1765889"/>
            <a:chExt cx="542196" cy="1309349"/>
          </a:xfrm>
        </p:grpSpPr>
        <p:sp>
          <p:nvSpPr>
            <p:cNvPr id="149" name="椭圆 148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58" name="矩形 157"/>
          <p:cNvSpPr/>
          <p:nvPr/>
        </p:nvSpPr>
        <p:spPr>
          <a:xfrm>
            <a:off x="8434285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试听转化低迷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8626580" y="2486187"/>
            <a:ext cx="1337596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老客回头下降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799909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流失预警滞后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925167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竞品补贴加码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696648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新品密集上线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561170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渠道争夺激烈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Line1"/>
          <p:cNvCxnSpPr/>
          <p:nvPr/>
        </p:nvCxnSpPr>
        <p:spPr>
          <a:xfrm>
            <a:off x="3230880" y="1725252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"/>
          <p:cNvCxnSpPr/>
          <p:nvPr/>
        </p:nvCxnSpPr>
        <p:spPr>
          <a:xfrm>
            <a:off x="3230880" y="3168791"/>
            <a:ext cx="1459927" cy="0"/>
          </a:xfrm>
          <a:prstGeom prst="line">
            <a:avLst/>
          </a:prstGeom>
          <a:ln w="381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"/>
          <p:cNvCxnSpPr/>
          <p:nvPr/>
        </p:nvCxnSpPr>
        <p:spPr>
          <a:xfrm>
            <a:off x="3230880" y="4612330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"/>
          <p:cNvCxnSpPr/>
          <p:nvPr/>
        </p:nvCxnSpPr>
        <p:spPr>
          <a:xfrm>
            <a:off x="2639958" y="6055869"/>
            <a:ext cx="2050849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003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4644306" y="1231281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 rot="5400000">
            <a:off x="8313676" y="-1317612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>
            <p:custDataLst>
              <p:tags r:id="rId3"/>
            </p:custDataLst>
          </p:nvPr>
        </p:nvSpPr>
        <p:spPr>
          <a:xfrm>
            <a:off x="4644306" y="2674820"/>
            <a:ext cx="987943" cy="987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 rot="5400000">
            <a:off x="8313676" y="125927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4644306" y="4118359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6"/>
            </p:custDataLst>
          </p:nvPr>
        </p:nvSpPr>
        <p:spPr>
          <a:xfrm rot="5400000">
            <a:off x="8313676" y="1569466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542609" y="1904891"/>
            <a:ext cx="2688270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14057" y="3372902"/>
            <a:ext cx="2345374" cy="892533"/>
          </a:xfrm>
          <a:prstGeom prst="parallelogram">
            <a:avLst>
              <a:gd name="adj" fmla="val 56278"/>
            </a:avLst>
          </a:prstGeom>
          <a:solidFill>
            <a:schemeClr val="accent2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725488" y="4840914"/>
            <a:ext cx="2322512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2088" y="1168084"/>
            <a:ext cx="33893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82588" y="2611623"/>
            <a:ext cx="3008312" cy="1114336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42608" y="4055162"/>
            <a:ext cx="268827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25488" y="5498701"/>
            <a:ext cx="23225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644306" y="5561898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 rot="5400000">
            <a:off x="8313676" y="3013005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6167" y="1494420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业绩达标客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突破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3306" y="29379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活动引流内容种草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3306" y="438149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库存波动物流差评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1082" y="582503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库存物流优化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018383" y="1602540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GMV820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万元，达成目标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102.5%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；新客转化率提升至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，超额完成新客增长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的任务，老客回头基本持平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8384" y="12558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目标达成情况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6018383" y="3046079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主导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场平台活动，联合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位达人直播带货；小红书、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内容投放超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条，累计曝光量达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万次，为店铺引流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6018384" y="269941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核心运营动作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6018383" y="4489618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款爆品出现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次断货，影响转化；偏远地区物流时效慢，导致物流相关差评率升至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，高于行业平均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6018384" y="414295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现存问题不足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6018383" y="5933157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下周上线库存预警系统，设置安严格库存阈值；已对接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家区域物流商，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月起覆盖偏远地区，同时推出物流时效补偿方案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6018384" y="55864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后续改进方向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视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3013" y="5840605"/>
            <a:ext cx="430530" cy="430530"/>
          </a:xfrm>
          <a:prstGeom prst="rect">
            <a:avLst/>
          </a:prstGeom>
        </p:spPr>
      </p:pic>
      <p:pic>
        <p:nvPicPr>
          <p:cNvPr id="41" name="图片 40" descr="表格填写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23013" y="2953526"/>
            <a:ext cx="430530" cy="430530"/>
          </a:xfrm>
          <a:prstGeom prst="rect">
            <a:avLst/>
          </a:prstGeom>
        </p:spPr>
      </p:pic>
      <p:pic>
        <p:nvPicPr>
          <p:cNvPr id="42" name="图片 41" descr="账号管理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23013" y="4397066"/>
            <a:ext cx="430530" cy="430530"/>
          </a:xfrm>
          <a:prstGeom prst="rect">
            <a:avLst/>
          </a:prstGeom>
        </p:spPr>
      </p:pic>
      <p:pic>
        <p:nvPicPr>
          <p:cNvPr id="43" name="图片 42" descr="关联配置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23013" y="1509988"/>
            <a:ext cx="430530" cy="43053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041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整体数据回顾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1089025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2088" y="2221846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3354666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487487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20307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5176" y="12197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目标完成情况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343" y="235257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公司创造净利润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5176" y="348539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重点参与项目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5176" y="46182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公司结算净利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76008" y="57510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年度回款率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36936" y="1498418"/>
            <a:ext cx="97790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6846" y="2662984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869981" y="3762234"/>
            <a:ext cx="74485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6846" y="4926800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5500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02976" y="6091366"/>
            <a:ext cx="91186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>
            <a:off x="4449154" y="-850626"/>
            <a:ext cx="5662914" cy="9511629"/>
          </a:xfrm>
          <a:prstGeom prst="trapezoid">
            <a:avLst>
              <a:gd name="adj" fmla="val 3671"/>
            </a:avLst>
          </a:prstGeom>
          <a:noFill/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rot="5400000">
            <a:off x="5155401" y="-282626"/>
            <a:ext cx="4549432" cy="8817429"/>
          </a:xfrm>
          <a:prstGeom prst="roundRect">
            <a:avLst>
              <a:gd name="adj" fmla="val 46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3021405" y="1420064"/>
            <a:ext cx="8817428" cy="585234"/>
          </a:xfrm>
          <a:prstGeom prst="roundRect">
            <a:avLst>
              <a:gd name="adj" fmla="val 79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717248" y="15395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09471" y="2263515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目标完成情况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40167" y="31130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创造净利润（万元）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409471" y="39626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重点参与项目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229934" y="4812149"/>
            <a:ext cx="1620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结算净利（万元）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99239" y="566169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年度回款率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948134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32479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3469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97025" y="3962604"/>
            <a:ext cx="651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034695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050726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80116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264461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6667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124198" y="3962604"/>
            <a:ext cx="660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166677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182708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0212099" y="1539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同比增长率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536707" y="2263515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0609644" y="311306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36707" y="3962604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0536707" y="4812149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536707" y="5661691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257747" y="284217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257747" y="3691721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257747" y="454126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257747" y="5390810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05" y="1397039"/>
            <a:ext cx="469265" cy="46926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" y="3662680"/>
            <a:ext cx="469265" cy="46926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805" y="2529860"/>
            <a:ext cx="469265" cy="46926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805" y="4795501"/>
            <a:ext cx="469265" cy="46926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5928321"/>
            <a:ext cx="469265" cy="4692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大玩家入局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孙宇晨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B.AI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傅盛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EasyR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特朗普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WLFI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2026年5月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结构分析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2026年5月第一周三件大事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同期入场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年度营收增长率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增长时间集中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三类逻辑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支付链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区块链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云渠道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 flipV="1">
            <a:off x="2087944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5879656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671368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92088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983800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775512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93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箭头: 五边形 69"/>
          <p:cNvSpPr/>
          <p:nvPr/>
        </p:nvSpPr>
        <p:spPr>
          <a:xfrm>
            <a:off x="0" y="3370278"/>
            <a:ext cx="12191999" cy="942761"/>
          </a:xfrm>
          <a:prstGeom prst="homePlate">
            <a:avLst>
              <a:gd name="adj" fmla="val 34282"/>
            </a:avLst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283614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26988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7918699" y="1089025"/>
            <a:ext cx="2287330" cy="523220"/>
          </a:xfrm>
          <a:prstGeom prst="roundRect">
            <a:avLst>
              <a:gd name="adj" fmla="val 7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2193437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5985148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9776859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3281" y="11659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需求调研​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436856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产品规划与原型​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228567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研发攻坚与测试​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251110" y="625932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复盘与沉淀​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54991" y="116596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跨部门协同与研发​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62118" y="116596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测试优化与上线​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92088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206749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3946806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588035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7775512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35401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33152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1-2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0856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3-4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087870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02142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46044" y="3656992"/>
            <a:ext cx="92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635401" y="3656992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11-12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49455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月设计调研方案，敲定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份问卷渠道与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场访谈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49455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月回收有效问卷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大核心痛点，形成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用户需求调研报告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400000">
            <a:off x="187497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187497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043128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场跨部门评审，优化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处细节，协调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人团队排期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43128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月启动研发，建立站会、周报机制与项目看板追踪进度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3981170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3981170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832880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月迭代测试，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，完成上线筹备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832880" y="2381119"/>
            <a:ext cx="3427412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日全量上线，联动运营获客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8000+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等腰三角形 153"/>
          <p:cNvSpPr/>
          <p:nvPr/>
        </p:nvSpPr>
        <p:spPr>
          <a:xfrm rot="5400000">
            <a:off x="7770922" y="1901512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等腰三角形 154"/>
          <p:cNvSpPr/>
          <p:nvPr/>
        </p:nvSpPr>
        <p:spPr>
          <a:xfrm rot="5400000">
            <a:off x="7770922" y="2516785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087945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月撰写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V2.0 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，明确 “轻量化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快响应” 方向，经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场评审后立项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2087945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Figma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大模块原型，迭代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版后输出高保真版本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等腰三角形 158"/>
          <p:cNvSpPr/>
          <p:nvPr/>
        </p:nvSpPr>
        <p:spPr>
          <a:xfrm rot="5400000">
            <a:off x="2083354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等腰三角形 159"/>
          <p:cNvSpPr/>
          <p:nvPr/>
        </p:nvSpPr>
        <p:spPr>
          <a:xfrm rot="5400000">
            <a:off x="2083354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5879657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月联合研发处理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个技术难点，保障进度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5879657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测试案例，启动灰度测试，推动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等腰三角形 163"/>
          <p:cNvSpPr/>
          <p:nvPr/>
        </p:nvSpPr>
        <p:spPr>
          <a:xfrm rot="5400000">
            <a:off x="5875066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等腰三角形 166"/>
          <p:cNvSpPr/>
          <p:nvPr/>
        </p:nvSpPr>
        <p:spPr>
          <a:xfrm rot="5400000">
            <a:off x="5875066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9671369" y="4498231"/>
            <a:ext cx="240589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月分析数据定位留存、转化问题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671369" y="5255432"/>
            <a:ext cx="240589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大优化方向，完成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需求清单，沉淀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等腰三角形 170"/>
          <p:cNvSpPr/>
          <p:nvPr/>
        </p:nvSpPr>
        <p:spPr>
          <a:xfrm rot="5400000">
            <a:off x="9666778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9666778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469577" y="2461678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009577" y="5263368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644650" y="1059213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839327" y="253330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956651" y="437062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819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任意多边形: 形状 2"/>
          <p:cNvSpPr/>
          <p:nvPr/>
        </p:nvSpPr>
        <p:spPr>
          <a:xfrm>
            <a:off x="149714" y="2224170"/>
            <a:ext cx="1982604" cy="148869"/>
          </a:xfrm>
          <a:custGeom>
            <a:avLst/>
            <a:gdLst>
              <a:gd name="connsiteX0" fmla="*/ 0 w 1038225"/>
              <a:gd name="connsiteY0" fmla="*/ 0 h 64294"/>
              <a:gd name="connsiteX1" fmla="*/ 1038225 w 1038225"/>
              <a:gd name="connsiteY1" fmla="*/ 30956 h 64294"/>
              <a:gd name="connsiteX2" fmla="*/ 990600 w 1038225"/>
              <a:gd name="connsiteY2" fmla="*/ 64294 h 64294"/>
              <a:gd name="connsiteX3" fmla="*/ 0 w 1038225"/>
              <a:gd name="connsiteY3" fmla="*/ 0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64294">
                <a:moveTo>
                  <a:pt x="0" y="0"/>
                </a:moveTo>
                <a:lnTo>
                  <a:pt x="1038225" y="30956"/>
                </a:lnTo>
                <a:lnTo>
                  <a:pt x="990600" y="642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任意多边形: 形状 2"/>
          <p:cNvSpPr/>
          <p:nvPr/>
        </p:nvSpPr>
        <p:spPr>
          <a:xfrm>
            <a:off x="2285997" y="2339493"/>
            <a:ext cx="2628768" cy="369332"/>
          </a:xfrm>
          <a:custGeom>
            <a:avLst/>
            <a:gdLst>
              <a:gd name="connsiteX0" fmla="*/ 35718 w 1431131"/>
              <a:gd name="connsiteY0" fmla="*/ 0 h 176212"/>
              <a:gd name="connsiteX1" fmla="*/ 0 w 1431131"/>
              <a:gd name="connsiteY1" fmla="*/ 38100 h 176212"/>
              <a:gd name="connsiteX2" fmla="*/ 1393031 w 1431131"/>
              <a:gd name="connsiteY2" fmla="*/ 176212 h 176212"/>
              <a:gd name="connsiteX3" fmla="*/ 1431131 w 1431131"/>
              <a:gd name="connsiteY3" fmla="*/ 145256 h 176212"/>
              <a:gd name="connsiteX4" fmla="*/ 35718 w 1431131"/>
              <a:gd name="connsiteY4" fmla="*/ 0 h 176212"/>
              <a:gd name="connsiteX0-1" fmla="*/ 35718 w 1431131"/>
              <a:gd name="connsiteY0-2" fmla="*/ 0 h 176212"/>
              <a:gd name="connsiteX1-3" fmla="*/ 0 w 1431131"/>
              <a:gd name="connsiteY1-4" fmla="*/ 38100 h 176212"/>
              <a:gd name="connsiteX2-5" fmla="*/ 1393031 w 1431131"/>
              <a:gd name="connsiteY2-6" fmla="*/ 176212 h 176212"/>
              <a:gd name="connsiteX3-7" fmla="*/ 1431131 w 1431131"/>
              <a:gd name="connsiteY3-8" fmla="*/ 145256 h 176212"/>
              <a:gd name="connsiteX4-9" fmla="*/ 35718 w 1431131"/>
              <a:gd name="connsiteY4-10" fmla="*/ 0 h 176212"/>
              <a:gd name="connsiteX0-11" fmla="*/ 35718 w 1431131"/>
              <a:gd name="connsiteY0-12" fmla="*/ 0 h 176212"/>
              <a:gd name="connsiteX1-13" fmla="*/ 0 w 1431131"/>
              <a:gd name="connsiteY1-14" fmla="*/ 38100 h 176212"/>
              <a:gd name="connsiteX2-15" fmla="*/ 1393031 w 1431131"/>
              <a:gd name="connsiteY2-16" fmla="*/ 176212 h 176212"/>
              <a:gd name="connsiteX3-17" fmla="*/ 1431131 w 1431131"/>
              <a:gd name="connsiteY3-18" fmla="*/ 145256 h 176212"/>
              <a:gd name="connsiteX4-19" fmla="*/ 35718 w 1431131"/>
              <a:gd name="connsiteY4-20" fmla="*/ 0 h 176212"/>
              <a:gd name="connsiteX0-21" fmla="*/ 35718 w 1431131"/>
              <a:gd name="connsiteY0-22" fmla="*/ 0 h 176212"/>
              <a:gd name="connsiteX1-23" fmla="*/ 0 w 1431131"/>
              <a:gd name="connsiteY1-24" fmla="*/ 38100 h 176212"/>
              <a:gd name="connsiteX2-25" fmla="*/ 1393031 w 1431131"/>
              <a:gd name="connsiteY2-26" fmla="*/ 176212 h 176212"/>
              <a:gd name="connsiteX3-27" fmla="*/ 1431131 w 1431131"/>
              <a:gd name="connsiteY3-28" fmla="*/ 145256 h 176212"/>
              <a:gd name="connsiteX4-29" fmla="*/ 35718 w 1431131"/>
              <a:gd name="connsiteY4-30" fmla="*/ 0 h 176212"/>
              <a:gd name="connsiteX0-31" fmla="*/ 35718 w 1431131"/>
              <a:gd name="connsiteY0-32" fmla="*/ 0 h 176212"/>
              <a:gd name="connsiteX1-33" fmla="*/ 0 w 1431131"/>
              <a:gd name="connsiteY1-34" fmla="*/ 38100 h 176212"/>
              <a:gd name="connsiteX2-35" fmla="*/ 1393031 w 1431131"/>
              <a:gd name="connsiteY2-36" fmla="*/ 176212 h 176212"/>
              <a:gd name="connsiteX3-37" fmla="*/ 1431131 w 1431131"/>
              <a:gd name="connsiteY3-38" fmla="*/ 145256 h 176212"/>
              <a:gd name="connsiteX4-39" fmla="*/ 35718 w 1431131"/>
              <a:gd name="connsiteY4-40" fmla="*/ 0 h 1762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31131" h="176212">
                <a:moveTo>
                  <a:pt x="35718" y="0"/>
                </a:moveTo>
                <a:lnTo>
                  <a:pt x="0" y="38100"/>
                </a:lnTo>
                <a:cubicBezTo>
                  <a:pt x="466725" y="76993"/>
                  <a:pt x="928687" y="123031"/>
                  <a:pt x="1393031" y="176212"/>
                </a:cubicBezTo>
                <a:lnTo>
                  <a:pt x="1431131" y="145256"/>
                </a:lnTo>
                <a:cubicBezTo>
                  <a:pt x="965993" y="84931"/>
                  <a:pt x="507999" y="34132"/>
                  <a:pt x="35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2"/>
          <p:cNvSpPr/>
          <p:nvPr/>
        </p:nvSpPr>
        <p:spPr>
          <a:xfrm>
            <a:off x="5135955" y="2702702"/>
            <a:ext cx="2528985" cy="1244469"/>
          </a:xfrm>
          <a:custGeom>
            <a:avLst/>
            <a:gdLst>
              <a:gd name="connsiteX0" fmla="*/ 45244 w 1057275"/>
              <a:gd name="connsiteY0" fmla="*/ 0 h 871537"/>
              <a:gd name="connsiteX1" fmla="*/ 0 w 1057275"/>
              <a:gd name="connsiteY1" fmla="*/ 50006 h 871537"/>
              <a:gd name="connsiteX2" fmla="*/ 881063 w 1057275"/>
              <a:gd name="connsiteY2" fmla="*/ 864393 h 871537"/>
              <a:gd name="connsiteX3" fmla="*/ 1057275 w 1057275"/>
              <a:gd name="connsiteY3" fmla="*/ 871537 h 871537"/>
              <a:gd name="connsiteX4" fmla="*/ 1016794 w 1057275"/>
              <a:gd name="connsiteY4" fmla="*/ 259556 h 871537"/>
              <a:gd name="connsiteX5" fmla="*/ 45244 w 1057275"/>
              <a:gd name="connsiteY5" fmla="*/ 0 h 871537"/>
              <a:gd name="connsiteX0-1" fmla="*/ 45244 w 1057275"/>
              <a:gd name="connsiteY0-2" fmla="*/ 0 h 871537"/>
              <a:gd name="connsiteX1-3" fmla="*/ 0 w 1057275"/>
              <a:gd name="connsiteY1-4" fmla="*/ 50006 h 871537"/>
              <a:gd name="connsiteX2-5" fmla="*/ 881063 w 1057275"/>
              <a:gd name="connsiteY2-6" fmla="*/ 864393 h 871537"/>
              <a:gd name="connsiteX3-7" fmla="*/ 1057275 w 1057275"/>
              <a:gd name="connsiteY3-8" fmla="*/ 871537 h 871537"/>
              <a:gd name="connsiteX4-9" fmla="*/ 1016794 w 1057275"/>
              <a:gd name="connsiteY4-10" fmla="*/ 259556 h 871537"/>
              <a:gd name="connsiteX5-11" fmla="*/ 45244 w 1057275"/>
              <a:gd name="connsiteY5-12" fmla="*/ 0 h 871537"/>
              <a:gd name="connsiteX0-13" fmla="*/ 45244 w 1057275"/>
              <a:gd name="connsiteY0-14" fmla="*/ 0 h 871537"/>
              <a:gd name="connsiteX1-15" fmla="*/ 0 w 1057275"/>
              <a:gd name="connsiteY1-16" fmla="*/ 50006 h 871537"/>
              <a:gd name="connsiteX2-17" fmla="*/ 881063 w 1057275"/>
              <a:gd name="connsiteY2-18" fmla="*/ 864393 h 871537"/>
              <a:gd name="connsiteX3-19" fmla="*/ 1057275 w 1057275"/>
              <a:gd name="connsiteY3-20" fmla="*/ 871537 h 871537"/>
              <a:gd name="connsiteX4-21" fmla="*/ 1016794 w 1057275"/>
              <a:gd name="connsiteY4-22" fmla="*/ 259556 h 871537"/>
              <a:gd name="connsiteX5-23" fmla="*/ 45244 w 1057275"/>
              <a:gd name="connsiteY5-24" fmla="*/ 0 h 871537"/>
              <a:gd name="connsiteX0-25" fmla="*/ 45244 w 1139868"/>
              <a:gd name="connsiteY0-26" fmla="*/ 0 h 871537"/>
              <a:gd name="connsiteX1-27" fmla="*/ 0 w 1139868"/>
              <a:gd name="connsiteY1-28" fmla="*/ 50006 h 871537"/>
              <a:gd name="connsiteX2-29" fmla="*/ 881063 w 1139868"/>
              <a:gd name="connsiteY2-30" fmla="*/ 864393 h 871537"/>
              <a:gd name="connsiteX3-31" fmla="*/ 1057275 w 1139868"/>
              <a:gd name="connsiteY3-32" fmla="*/ 871537 h 871537"/>
              <a:gd name="connsiteX4-33" fmla="*/ 1016794 w 1139868"/>
              <a:gd name="connsiteY4-34" fmla="*/ 259556 h 871537"/>
              <a:gd name="connsiteX5-35" fmla="*/ 45244 w 1139868"/>
              <a:gd name="connsiteY5-36" fmla="*/ 0 h 871537"/>
              <a:gd name="connsiteX0-37" fmla="*/ 45244 w 1299265"/>
              <a:gd name="connsiteY0-38" fmla="*/ 0 h 871537"/>
              <a:gd name="connsiteX1-39" fmla="*/ 0 w 1299265"/>
              <a:gd name="connsiteY1-40" fmla="*/ 50006 h 871537"/>
              <a:gd name="connsiteX2-41" fmla="*/ 881063 w 1299265"/>
              <a:gd name="connsiteY2-42" fmla="*/ 864393 h 871537"/>
              <a:gd name="connsiteX3-43" fmla="*/ 1057275 w 1299265"/>
              <a:gd name="connsiteY3-44" fmla="*/ 871537 h 871537"/>
              <a:gd name="connsiteX4-45" fmla="*/ 1016794 w 1299265"/>
              <a:gd name="connsiteY4-46" fmla="*/ 259556 h 871537"/>
              <a:gd name="connsiteX5-47" fmla="*/ 45244 w 1299265"/>
              <a:gd name="connsiteY5-48" fmla="*/ 0 h 871537"/>
              <a:gd name="connsiteX0-49" fmla="*/ 45244 w 1299265"/>
              <a:gd name="connsiteY0-50" fmla="*/ 0 h 871537"/>
              <a:gd name="connsiteX1-51" fmla="*/ 0 w 1299265"/>
              <a:gd name="connsiteY1-52" fmla="*/ 50006 h 871537"/>
              <a:gd name="connsiteX2-53" fmla="*/ 881063 w 1299265"/>
              <a:gd name="connsiteY2-54" fmla="*/ 864393 h 871537"/>
              <a:gd name="connsiteX3-55" fmla="*/ 1057275 w 1299265"/>
              <a:gd name="connsiteY3-56" fmla="*/ 871537 h 871537"/>
              <a:gd name="connsiteX4-57" fmla="*/ 1016794 w 1299265"/>
              <a:gd name="connsiteY4-58" fmla="*/ 259556 h 871537"/>
              <a:gd name="connsiteX5-59" fmla="*/ 45244 w 1299265"/>
              <a:gd name="connsiteY5-60" fmla="*/ 0 h 871537"/>
              <a:gd name="connsiteX0-61" fmla="*/ 45244 w 1299265"/>
              <a:gd name="connsiteY0-62" fmla="*/ 0 h 871537"/>
              <a:gd name="connsiteX1-63" fmla="*/ 0 w 1299265"/>
              <a:gd name="connsiteY1-64" fmla="*/ 50006 h 871537"/>
              <a:gd name="connsiteX2-65" fmla="*/ 881063 w 1299265"/>
              <a:gd name="connsiteY2-66" fmla="*/ 864393 h 871537"/>
              <a:gd name="connsiteX3-67" fmla="*/ 1057275 w 1299265"/>
              <a:gd name="connsiteY3-68" fmla="*/ 871537 h 871537"/>
              <a:gd name="connsiteX4-69" fmla="*/ 1016794 w 1299265"/>
              <a:gd name="connsiteY4-70" fmla="*/ 259556 h 871537"/>
              <a:gd name="connsiteX5-71" fmla="*/ 45244 w 1299265"/>
              <a:gd name="connsiteY5-72" fmla="*/ 0 h 871537"/>
              <a:gd name="connsiteX0-73" fmla="*/ 45244 w 1299265"/>
              <a:gd name="connsiteY0-74" fmla="*/ 0 h 871537"/>
              <a:gd name="connsiteX1-75" fmla="*/ 0 w 1299265"/>
              <a:gd name="connsiteY1-76" fmla="*/ 50006 h 871537"/>
              <a:gd name="connsiteX2-77" fmla="*/ 881063 w 1299265"/>
              <a:gd name="connsiteY2-78" fmla="*/ 864393 h 871537"/>
              <a:gd name="connsiteX3-79" fmla="*/ 1057275 w 1299265"/>
              <a:gd name="connsiteY3-80" fmla="*/ 871537 h 871537"/>
              <a:gd name="connsiteX4-81" fmla="*/ 1016794 w 1299265"/>
              <a:gd name="connsiteY4-82" fmla="*/ 259556 h 871537"/>
              <a:gd name="connsiteX5-83" fmla="*/ 45244 w 1299265"/>
              <a:gd name="connsiteY5-84" fmla="*/ 0 h 871537"/>
              <a:gd name="connsiteX0-85" fmla="*/ 45244 w 1299265"/>
              <a:gd name="connsiteY0-86" fmla="*/ 0 h 871537"/>
              <a:gd name="connsiteX1-87" fmla="*/ 0 w 1299265"/>
              <a:gd name="connsiteY1-88" fmla="*/ 50006 h 871537"/>
              <a:gd name="connsiteX2-89" fmla="*/ 881063 w 1299265"/>
              <a:gd name="connsiteY2-90" fmla="*/ 864393 h 871537"/>
              <a:gd name="connsiteX3-91" fmla="*/ 1057275 w 1299265"/>
              <a:gd name="connsiteY3-92" fmla="*/ 871537 h 871537"/>
              <a:gd name="connsiteX4-93" fmla="*/ 1016794 w 1299265"/>
              <a:gd name="connsiteY4-94" fmla="*/ 259556 h 871537"/>
              <a:gd name="connsiteX5-95" fmla="*/ 45244 w 1299265"/>
              <a:gd name="connsiteY5-96" fmla="*/ 0 h 8715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99265" h="871537">
                <a:moveTo>
                  <a:pt x="45244" y="0"/>
                </a:moveTo>
                <a:lnTo>
                  <a:pt x="0" y="50006"/>
                </a:lnTo>
                <a:cubicBezTo>
                  <a:pt x="469901" y="147637"/>
                  <a:pt x="1658938" y="409575"/>
                  <a:pt x="881063" y="864393"/>
                </a:cubicBezTo>
                <a:lnTo>
                  <a:pt x="1057275" y="871537"/>
                </a:lnTo>
                <a:cubicBezTo>
                  <a:pt x="1477169" y="688974"/>
                  <a:pt x="1275556" y="370681"/>
                  <a:pt x="1016794" y="259556"/>
                </a:cubicBezTo>
                <a:cubicBezTo>
                  <a:pt x="690563" y="127794"/>
                  <a:pt x="373857" y="65088"/>
                  <a:pt x="45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2"/>
          <p:cNvSpPr/>
          <p:nvPr/>
        </p:nvSpPr>
        <p:spPr>
          <a:xfrm>
            <a:off x="5348381" y="4040307"/>
            <a:ext cx="1911109" cy="2009514"/>
          </a:xfrm>
          <a:custGeom>
            <a:avLst/>
            <a:gdLst>
              <a:gd name="connsiteX0" fmla="*/ 1069181 w 1069181"/>
              <a:gd name="connsiteY0" fmla="*/ 16669 h 1407319"/>
              <a:gd name="connsiteX1" fmla="*/ 850106 w 1069181"/>
              <a:gd name="connsiteY1" fmla="*/ 0 h 1407319"/>
              <a:gd name="connsiteX2" fmla="*/ 0 w 1069181"/>
              <a:gd name="connsiteY2" fmla="*/ 388144 h 1407319"/>
              <a:gd name="connsiteX3" fmla="*/ 607219 w 1069181"/>
              <a:gd name="connsiteY3" fmla="*/ 1407319 h 1407319"/>
              <a:gd name="connsiteX4" fmla="*/ 964406 w 1069181"/>
              <a:gd name="connsiteY4" fmla="*/ 1252538 h 1407319"/>
              <a:gd name="connsiteX5" fmla="*/ 428625 w 1069181"/>
              <a:gd name="connsiteY5" fmla="*/ 302419 h 1407319"/>
              <a:gd name="connsiteX6" fmla="*/ 1069181 w 1069181"/>
              <a:gd name="connsiteY6" fmla="*/ 16669 h 1407319"/>
              <a:gd name="connsiteX0-1" fmla="*/ 1069181 w 1069181"/>
              <a:gd name="connsiteY0-2" fmla="*/ 16669 h 1407319"/>
              <a:gd name="connsiteX1-3" fmla="*/ 850106 w 1069181"/>
              <a:gd name="connsiteY1-4" fmla="*/ 0 h 1407319"/>
              <a:gd name="connsiteX2-5" fmla="*/ 0 w 1069181"/>
              <a:gd name="connsiteY2-6" fmla="*/ 388144 h 1407319"/>
              <a:gd name="connsiteX3-7" fmla="*/ 607219 w 1069181"/>
              <a:gd name="connsiteY3-8" fmla="*/ 1407319 h 1407319"/>
              <a:gd name="connsiteX4-9" fmla="*/ 964406 w 1069181"/>
              <a:gd name="connsiteY4-10" fmla="*/ 1252538 h 1407319"/>
              <a:gd name="connsiteX5-11" fmla="*/ 428625 w 1069181"/>
              <a:gd name="connsiteY5-12" fmla="*/ 302419 h 1407319"/>
              <a:gd name="connsiteX6-13" fmla="*/ 1069181 w 1069181"/>
              <a:gd name="connsiteY6-14" fmla="*/ 16669 h 1407319"/>
              <a:gd name="connsiteX0-15" fmla="*/ 1113650 w 1113650"/>
              <a:gd name="connsiteY0-16" fmla="*/ 16669 h 1407319"/>
              <a:gd name="connsiteX1-17" fmla="*/ 894575 w 1113650"/>
              <a:gd name="connsiteY1-18" fmla="*/ 0 h 1407319"/>
              <a:gd name="connsiteX2-19" fmla="*/ 44469 w 1113650"/>
              <a:gd name="connsiteY2-20" fmla="*/ 388144 h 1407319"/>
              <a:gd name="connsiteX3-21" fmla="*/ 651688 w 1113650"/>
              <a:gd name="connsiteY3-22" fmla="*/ 1407319 h 1407319"/>
              <a:gd name="connsiteX4-23" fmla="*/ 1008875 w 1113650"/>
              <a:gd name="connsiteY4-24" fmla="*/ 1252538 h 1407319"/>
              <a:gd name="connsiteX5-25" fmla="*/ 473094 w 1113650"/>
              <a:gd name="connsiteY5-26" fmla="*/ 302419 h 1407319"/>
              <a:gd name="connsiteX6-27" fmla="*/ 1113650 w 1113650"/>
              <a:gd name="connsiteY6-28" fmla="*/ 16669 h 1407319"/>
              <a:gd name="connsiteX0-29" fmla="*/ 1338815 w 1338815"/>
              <a:gd name="connsiteY0-30" fmla="*/ 16669 h 1407319"/>
              <a:gd name="connsiteX1-31" fmla="*/ 1119740 w 1338815"/>
              <a:gd name="connsiteY1-32" fmla="*/ 0 h 1407319"/>
              <a:gd name="connsiteX2-33" fmla="*/ 269634 w 1338815"/>
              <a:gd name="connsiteY2-34" fmla="*/ 388144 h 1407319"/>
              <a:gd name="connsiteX3-35" fmla="*/ 876853 w 1338815"/>
              <a:gd name="connsiteY3-36" fmla="*/ 1407319 h 1407319"/>
              <a:gd name="connsiteX4-37" fmla="*/ 1234040 w 1338815"/>
              <a:gd name="connsiteY4-38" fmla="*/ 1252538 h 1407319"/>
              <a:gd name="connsiteX5-39" fmla="*/ 698259 w 1338815"/>
              <a:gd name="connsiteY5-40" fmla="*/ 302419 h 1407319"/>
              <a:gd name="connsiteX6-41" fmla="*/ 1338815 w 1338815"/>
              <a:gd name="connsiteY6-42" fmla="*/ 16669 h 1407319"/>
              <a:gd name="connsiteX0-43" fmla="*/ 1338815 w 1338815"/>
              <a:gd name="connsiteY0-44" fmla="*/ 16669 h 1407319"/>
              <a:gd name="connsiteX1-45" fmla="*/ 1119740 w 1338815"/>
              <a:gd name="connsiteY1-46" fmla="*/ 0 h 1407319"/>
              <a:gd name="connsiteX2-47" fmla="*/ 269634 w 1338815"/>
              <a:gd name="connsiteY2-48" fmla="*/ 388144 h 1407319"/>
              <a:gd name="connsiteX3-49" fmla="*/ 876853 w 1338815"/>
              <a:gd name="connsiteY3-50" fmla="*/ 1407319 h 1407319"/>
              <a:gd name="connsiteX4-51" fmla="*/ 1234040 w 1338815"/>
              <a:gd name="connsiteY4-52" fmla="*/ 1252538 h 1407319"/>
              <a:gd name="connsiteX5-53" fmla="*/ 698259 w 1338815"/>
              <a:gd name="connsiteY5-54" fmla="*/ 302419 h 1407319"/>
              <a:gd name="connsiteX6-55" fmla="*/ 1338815 w 1338815"/>
              <a:gd name="connsiteY6-56" fmla="*/ 16669 h 1407319"/>
              <a:gd name="connsiteX0-57" fmla="*/ 1338815 w 1338815"/>
              <a:gd name="connsiteY0-58" fmla="*/ 16669 h 1407319"/>
              <a:gd name="connsiteX1-59" fmla="*/ 1119740 w 1338815"/>
              <a:gd name="connsiteY1-60" fmla="*/ 0 h 1407319"/>
              <a:gd name="connsiteX2-61" fmla="*/ 269634 w 1338815"/>
              <a:gd name="connsiteY2-62" fmla="*/ 388144 h 1407319"/>
              <a:gd name="connsiteX3-63" fmla="*/ 876853 w 1338815"/>
              <a:gd name="connsiteY3-64" fmla="*/ 1407319 h 1407319"/>
              <a:gd name="connsiteX4-65" fmla="*/ 1234040 w 1338815"/>
              <a:gd name="connsiteY4-66" fmla="*/ 1252538 h 1407319"/>
              <a:gd name="connsiteX5-67" fmla="*/ 698259 w 1338815"/>
              <a:gd name="connsiteY5-68" fmla="*/ 302419 h 1407319"/>
              <a:gd name="connsiteX6-69" fmla="*/ 1338815 w 1338815"/>
              <a:gd name="connsiteY6-70" fmla="*/ 16669 h 1407319"/>
              <a:gd name="connsiteX0-71" fmla="*/ 1338815 w 1338815"/>
              <a:gd name="connsiteY0-72" fmla="*/ 16669 h 1407319"/>
              <a:gd name="connsiteX1-73" fmla="*/ 1119740 w 1338815"/>
              <a:gd name="connsiteY1-74" fmla="*/ 0 h 1407319"/>
              <a:gd name="connsiteX2-75" fmla="*/ 269634 w 1338815"/>
              <a:gd name="connsiteY2-76" fmla="*/ 388144 h 1407319"/>
              <a:gd name="connsiteX3-77" fmla="*/ 876853 w 1338815"/>
              <a:gd name="connsiteY3-78" fmla="*/ 1407319 h 1407319"/>
              <a:gd name="connsiteX4-79" fmla="*/ 1234040 w 1338815"/>
              <a:gd name="connsiteY4-80" fmla="*/ 1252538 h 1407319"/>
              <a:gd name="connsiteX5-81" fmla="*/ 698259 w 1338815"/>
              <a:gd name="connsiteY5-82" fmla="*/ 302419 h 1407319"/>
              <a:gd name="connsiteX6-83" fmla="*/ 1338815 w 1338815"/>
              <a:gd name="connsiteY6-84" fmla="*/ 16669 h 1407319"/>
              <a:gd name="connsiteX0-85" fmla="*/ 1338815 w 1338815"/>
              <a:gd name="connsiteY0-86" fmla="*/ 16669 h 1407319"/>
              <a:gd name="connsiteX1-87" fmla="*/ 1119740 w 1338815"/>
              <a:gd name="connsiteY1-88" fmla="*/ 0 h 1407319"/>
              <a:gd name="connsiteX2-89" fmla="*/ 269634 w 1338815"/>
              <a:gd name="connsiteY2-90" fmla="*/ 388144 h 1407319"/>
              <a:gd name="connsiteX3-91" fmla="*/ 876853 w 1338815"/>
              <a:gd name="connsiteY3-92" fmla="*/ 1407319 h 1407319"/>
              <a:gd name="connsiteX4-93" fmla="*/ 1234040 w 1338815"/>
              <a:gd name="connsiteY4-94" fmla="*/ 1252538 h 1407319"/>
              <a:gd name="connsiteX5-95" fmla="*/ 700640 w 1338815"/>
              <a:gd name="connsiteY5-96" fmla="*/ 309563 h 1407319"/>
              <a:gd name="connsiteX6-97" fmla="*/ 1338815 w 1338815"/>
              <a:gd name="connsiteY6-98" fmla="*/ 16669 h 14073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338815" h="1407319">
                <a:moveTo>
                  <a:pt x="1338815" y="16669"/>
                </a:moveTo>
                <a:lnTo>
                  <a:pt x="1119740" y="0"/>
                </a:lnTo>
                <a:cubicBezTo>
                  <a:pt x="836371" y="129381"/>
                  <a:pt x="550622" y="237331"/>
                  <a:pt x="269634" y="388144"/>
                </a:cubicBezTo>
                <a:cubicBezTo>
                  <a:pt x="55321" y="496888"/>
                  <a:pt x="-435215" y="958057"/>
                  <a:pt x="876853" y="1407319"/>
                </a:cubicBezTo>
                <a:lnTo>
                  <a:pt x="1234040" y="1252538"/>
                </a:lnTo>
                <a:cubicBezTo>
                  <a:pt x="636346" y="1123951"/>
                  <a:pt x="-92316" y="685800"/>
                  <a:pt x="700640" y="309563"/>
                </a:cubicBezTo>
                <a:lnTo>
                  <a:pt x="1338815" y="16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任意多边形: 形状 2"/>
          <p:cNvSpPr/>
          <p:nvPr/>
        </p:nvSpPr>
        <p:spPr>
          <a:xfrm>
            <a:off x="6825888" y="5921482"/>
            <a:ext cx="4860769" cy="805848"/>
          </a:xfrm>
          <a:custGeom>
            <a:avLst/>
            <a:gdLst>
              <a:gd name="connsiteX0" fmla="*/ 383381 w 3405187"/>
              <a:gd name="connsiteY0" fmla="*/ 0 h 564357"/>
              <a:gd name="connsiteX1" fmla="*/ 0 w 3405187"/>
              <a:gd name="connsiteY1" fmla="*/ 150019 h 564357"/>
              <a:gd name="connsiteX2" fmla="*/ 2369343 w 3405187"/>
              <a:gd name="connsiteY2" fmla="*/ 438150 h 564357"/>
              <a:gd name="connsiteX3" fmla="*/ 2240756 w 3405187"/>
              <a:gd name="connsiteY3" fmla="*/ 564357 h 564357"/>
              <a:gd name="connsiteX4" fmla="*/ 3405187 w 3405187"/>
              <a:gd name="connsiteY4" fmla="*/ 402432 h 564357"/>
              <a:gd name="connsiteX5" fmla="*/ 2788443 w 3405187"/>
              <a:gd name="connsiteY5" fmla="*/ 107157 h 564357"/>
              <a:gd name="connsiteX6" fmla="*/ 2705100 w 3405187"/>
              <a:gd name="connsiteY6" fmla="*/ 180975 h 564357"/>
              <a:gd name="connsiteX7" fmla="*/ 383381 w 3405187"/>
              <a:gd name="connsiteY7" fmla="*/ 0 h 564357"/>
              <a:gd name="connsiteX0-1" fmla="*/ 383381 w 3405187"/>
              <a:gd name="connsiteY0-2" fmla="*/ 0 h 564357"/>
              <a:gd name="connsiteX1-3" fmla="*/ 0 w 3405187"/>
              <a:gd name="connsiteY1-4" fmla="*/ 150019 h 564357"/>
              <a:gd name="connsiteX2-5" fmla="*/ 2369343 w 3405187"/>
              <a:gd name="connsiteY2-6" fmla="*/ 438150 h 564357"/>
              <a:gd name="connsiteX3-7" fmla="*/ 2240756 w 3405187"/>
              <a:gd name="connsiteY3-8" fmla="*/ 564357 h 564357"/>
              <a:gd name="connsiteX4-9" fmla="*/ 3405187 w 3405187"/>
              <a:gd name="connsiteY4-10" fmla="*/ 402432 h 564357"/>
              <a:gd name="connsiteX5-11" fmla="*/ 2788443 w 3405187"/>
              <a:gd name="connsiteY5-12" fmla="*/ 107157 h 564357"/>
              <a:gd name="connsiteX6-13" fmla="*/ 2705100 w 3405187"/>
              <a:gd name="connsiteY6-14" fmla="*/ 180975 h 564357"/>
              <a:gd name="connsiteX7-15" fmla="*/ 383381 w 3405187"/>
              <a:gd name="connsiteY7-16" fmla="*/ 0 h 564357"/>
              <a:gd name="connsiteX0-17" fmla="*/ 383381 w 3405187"/>
              <a:gd name="connsiteY0-18" fmla="*/ 0 h 564357"/>
              <a:gd name="connsiteX1-19" fmla="*/ 0 w 3405187"/>
              <a:gd name="connsiteY1-20" fmla="*/ 150019 h 564357"/>
              <a:gd name="connsiteX2-21" fmla="*/ 2369343 w 3405187"/>
              <a:gd name="connsiteY2-22" fmla="*/ 438150 h 564357"/>
              <a:gd name="connsiteX3-23" fmla="*/ 2240756 w 3405187"/>
              <a:gd name="connsiteY3-24" fmla="*/ 564357 h 564357"/>
              <a:gd name="connsiteX4-25" fmla="*/ 3405187 w 3405187"/>
              <a:gd name="connsiteY4-26" fmla="*/ 402432 h 564357"/>
              <a:gd name="connsiteX5-27" fmla="*/ 2788443 w 3405187"/>
              <a:gd name="connsiteY5-28" fmla="*/ 107157 h 564357"/>
              <a:gd name="connsiteX6-29" fmla="*/ 2705100 w 3405187"/>
              <a:gd name="connsiteY6-30" fmla="*/ 180975 h 564357"/>
              <a:gd name="connsiteX7-31" fmla="*/ 383381 w 3405187"/>
              <a:gd name="connsiteY7-32" fmla="*/ 0 h 564357"/>
              <a:gd name="connsiteX0-33" fmla="*/ 383381 w 3405187"/>
              <a:gd name="connsiteY0-34" fmla="*/ 0 h 564357"/>
              <a:gd name="connsiteX1-35" fmla="*/ 0 w 3405187"/>
              <a:gd name="connsiteY1-36" fmla="*/ 150019 h 564357"/>
              <a:gd name="connsiteX2-37" fmla="*/ 2369343 w 3405187"/>
              <a:gd name="connsiteY2-38" fmla="*/ 438150 h 564357"/>
              <a:gd name="connsiteX3-39" fmla="*/ 2240756 w 3405187"/>
              <a:gd name="connsiteY3-40" fmla="*/ 564357 h 564357"/>
              <a:gd name="connsiteX4-41" fmla="*/ 3405187 w 3405187"/>
              <a:gd name="connsiteY4-42" fmla="*/ 402432 h 564357"/>
              <a:gd name="connsiteX5-43" fmla="*/ 2788443 w 3405187"/>
              <a:gd name="connsiteY5-44" fmla="*/ 107157 h 564357"/>
              <a:gd name="connsiteX6-45" fmla="*/ 2705100 w 3405187"/>
              <a:gd name="connsiteY6-46" fmla="*/ 180975 h 564357"/>
              <a:gd name="connsiteX7-47" fmla="*/ 383381 w 3405187"/>
              <a:gd name="connsiteY7-48" fmla="*/ 0 h 564357"/>
              <a:gd name="connsiteX0-49" fmla="*/ 383381 w 3405187"/>
              <a:gd name="connsiteY0-50" fmla="*/ 0 h 564357"/>
              <a:gd name="connsiteX1-51" fmla="*/ 0 w 3405187"/>
              <a:gd name="connsiteY1-52" fmla="*/ 150019 h 564357"/>
              <a:gd name="connsiteX2-53" fmla="*/ 2369343 w 3405187"/>
              <a:gd name="connsiteY2-54" fmla="*/ 438150 h 564357"/>
              <a:gd name="connsiteX3-55" fmla="*/ 2240756 w 3405187"/>
              <a:gd name="connsiteY3-56" fmla="*/ 564357 h 564357"/>
              <a:gd name="connsiteX4-57" fmla="*/ 3405187 w 3405187"/>
              <a:gd name="connsiteY4-58" fmla="*/ 402432 h 564357"/>
              <a:gd name="connsiteX5-59" fmla="*/ 2788443 w 3405187"/>
              <a:gd name="connsiteY5-60" fmla="*/ 107157 h 564357"/>
              <a:gd name="connsiteX6-61" fmla="*/ 2705100 w 3405187"/>
              <a:gd name="connsiteY6-62" fmla="*/ 180975 h 564357"/>
              <a:gd name="connsiteX7-63" fmla="*/ 383381 w 3405187"/>
              <a:gd name="connsiteY7-64" fmla="*/ 0 h 564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405187" h="564357">
                <a:moveTo>
                  <a:pt x="383381" y="0"/>
                </a:moveTo>
                <a:lnTo>
                  <a:pt x="0" y="150019"/>
                </a:lnTo>
                <a:cubicBezTo>
                  <a:pt x="692150" y="307975"/>
                  <a:pt x="1527174" y="432594"/>
                  <a:pt x="2369343" y="438150"/>
                </a:cubicBezTo>
                <a:lnTo>
                  <a:pt x="2240756" y="564357"/>
                </a:lnTo>
                <a:lnTo>
                  <a:pt x="3405187" y="402432"/>
                </a:lnTo>
                <a:lnTo>
                  <a:pt x="2788443" y="107157"/>
                </a:lnTo>
                <a:lnTo>
                  <a:pt x="2705100" y="180975"/>
                </a:lnTo>
                <a:cubicBezTo>
                  <a:pt x="1933576" y="177800"/>
                  <a:pt x="1159668" y="98425"/>
                  <a:pt x="3833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泪滴形 1"/>
          <p:cNvSpPr/>
          <p:nvPr/>
        </p:nvSpPr>
        <p:spPr>
          <a:xfrm rot="8100000">
            <a:off x="1700049" y="1064996"/>
            <a:ext cx="1018219" cy="1018533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泪滴形 1"/>
          <p:cNvSpPr/>
          <p:nvPr/>
        </p:nvSpPr>
        <p:spPr>
          <a:xfrm rot="8100000">
            <a:off x="4383418" y="1218435"/>
            <a:ext cx="1108383" cy="1108726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泪滴形 1"/>
          <p:cNvSpPr/>
          <p:nvPr/>
        </p:nvSpPr>
        <p:spPr>
          <a:xfrm rot="8100000">
            <a:off x="7552402" y="2500345"/>
            <a:ext cx="1173351" cy="1173711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泪滴形 1"/>
          <p:cNvSpPr/>
          <p:nvPr/>
        </p:nvSpPr>
        <p:spPr>
          <a:xfrm rot="8100000">
            <a:off x="4277578" y="3826381"/>
            <a:ext cx="1269505" cy="1269895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泪滴形 1"/>
          <p:cNvSpPr/>
          <p:nvPr/>
        </p:nvSpPr>
        <p:spPr>
          <a:xfrm rot="8100000">
            <a:off x="9741041" y="4100917"/>
            <a:ext cx="1636484" cy="1636990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4948" y="2980352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上海首例刑拘明确灰色红线；合规因备案障碍基本不可行；国产降价与大玩家补贴持续挤压利润。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77249" y="25329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法律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2344" y="5811680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92+同类产品运营，SegmentFault指出竞争焦点转向稳定性与真实成本控制能力。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7249" y="53346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78349" y="1577488"/>
            <a:ext cx="330628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「零成本暴富」窗口对个人和小团队已结束；有资源机构可探索出海或私有化部署。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52322" y="11305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94015" y="3016662"/>
            <a:ext cx="3397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2026年在中国做AI中转站卖Token，面临法律、竞争、商业模式三重挤压，已无搞头。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6999" y="26045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92465" y="4872741"/>
            <a:ext cx="2528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报告完成：2026年5月29日 | 调研期：2025年5月–2026年5月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64323" y="44419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数据复盘​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2330" y="1251097"/>
            <a:ext cx="713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80780" y="144963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82248" y="2764035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5501" y="413816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02454" y="4596247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756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工作规划拆解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37280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674506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12847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582452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72809" y="194188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372809" y="23362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372809" y="27301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0542" y="194570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0542" y="316248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80542" y="437926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180542" y="5596048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2372809" y="315571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372809" y="355301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2372809" y="394127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2372809" y="4379267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2372809" y="47611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2372809" y="5153552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2372809" y="558136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2372809" y="59746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2372809" y="637710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488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286580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4055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194526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501" y="2184149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内容矩阵搭建期​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5085" y="3422161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内容冷启与优化期​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75085" y="4611634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流量破圈与转化期​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75085" y="5774603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复盘沉淀与规划期​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0570" y="249647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1-3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0608" y="376357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4-6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0608" y="498174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7-9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33970" y="611132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2406569" y="1941882"/>
            <a:ext cx="3616279" cy="328494"/>
          </a:xfrm>
          <a:prstGeom prst="roundRect">
            <a:avLst>
              <a:gd name="adj" fmla="val 822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4788827" y="2338089"/>
            <a:ext cx="3605701" cy="326642"/>
          </a:xfrm>
          <a:prstGeom prst="roundRect">
            <a:avLst>
              <a:gd name="adj" fmla="val 112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7113440" y="2732444"/>
            <a:ext cx="4310911" cy="322815"/>
          </a:xfrm>
          <a:prstGeom prst="roundRect">
            <a:avLst>
              <a:gd name="adj" fmla="val 123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991576" y="3153498"/>
            <a:ext cx="3480452" cy="325600"/>
          </a:xfrm>
          <a:prstGeom prst="roundRect">
            <a:avLst>
              <a:gd name="adj" fmla="val 105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2432501" y="3546811"/>
            <a:ext cx="3118149" cy="326752"/>
          </a:xfrm>
          <a:prstGeom prst="roundRect">
            <a:avLst>
              <a:gd name="adj" fmla="val 112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7472028" y="3941277"/>
            <a:ext cx="3304110" cy="328494"/>
          </a:xfrm>
          <a:prstGeom prst="roundRect">
            <a:avLst>
              <a:gd name="adj" fmla="val 861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073350" y="4379268"/>
            <a:ext cx="3119119" cy="328494"/>
          </a:xfrm>
          <a:prstGeom prst="roundRect">
            <a:avLst>
              <a:gd name="adj" fmla="val 113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8750878" y="4766993"/>
            <a:ext cx="2995252" cy="318846"/>
          </a:xfrm>
          <a:prstGeom prst="roundRect">
            <a:avLst>
              <a:gd name="adj" fmla="val 122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4192" y="5148862"/>
            <a:ext cx="2796051" cy="347871"/>
          </a:xfrm>
          <a:prstGeom prst="roundRect">
            <a:avLst>
              <a:gd name="adj" fmla="val 105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610774" y="5581362"/>
            <a:ext cx="2862678" cy="313808"/>
          </a:xfrm>
          <a:prstGeom prst="roundRect">
            <a:avLst>
              <a:gd name="adj" fmla="val 75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6142008" y="5969088"/>
            <a:ext cx="2534037" cy="328494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296486" y="6377106"/>
            <a:ext cx="3207929" cy="328493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464068" y="1956569"/>
            <a:ext cx="350128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完成竞品分析，输出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大内容方向及平台适配策略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816992" y="2351850"/>
            <a:ext cx="354937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搭建素材库（模板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），敲定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个当发平台入驻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167971" y="2744291"/>
            <a:ext cx="433644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启动内容上线（周更图文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篇、短视频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条），搭数据监测表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033260" y="3166738"/>
            <a:ext cx="339708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开展用户调研（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份），优化内容选题与形式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38105" y="3560627"/>
            <a:ext cx="3106941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位达人共创，测试内容引流转化路径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2028" y="3955964"/>
            <a:ext cx="330411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数据，迭代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，完读率目标提至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232526" y="4393955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启动付费推广，投放高互动内容扩曝光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814458" y="4776856"/>
            <a:ext cx="2868093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 “内容打卡” 活动，提升用户留存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575879" y="5173237"/>
            <a:ext cx="275267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打通转化链路，目标引流转化率达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41730" y="5588706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复盘年度数据，输出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效果分析报告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163332" y="5983775"/>
            <a:ext cx="2491388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沉淀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套方法论，迭代核心素材库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96486" y="6391792"/>
            <a:ext cx="3207929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制定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年规划，明确新增平台及创新方向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业绩增长分析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2090" y="4023606"/>
            <a:ext cx="2243570" cy="2513893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2418101" y="3663509"/>
            <a:ext cx="2235149" cy="2873991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5692" y="3255077"/>
            <a:ext cx="2243570" cy="3282422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896819" y="2898024"/>
            <a:ext cx="2190437" cy="3639475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063118" y="2535775"/>
            <a:ext cx="2442665" cy="400172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7"/>
          <p:cNvSpPr/>
          <p:nvPr/>
        </p:nvSpPr>
        <p:spPr bwMode="auto">
          <a:xfrm>
            <a:off x="11505785" y="1551107"/>
            <a:ext cx="686216" cy="1609180"/>
          </a:xfrm>
          <a:custGeom>
            <a:avLst/>
            <a:gdLst>
              <a:gd name="T0" fmla="*/ 0 w 616"/>
              <a:gd name="T1" fmla="*/ 0 h 1230"/>
              <a:gd name="T2" fmla="*/ 0 w 616"/>
              <a:gd name="T3" fmla="*/ 615 h 1230"/>
              <a:gd name="T4" fmla="*/ 0 w 616"/>
              <a:gd name="T5" fmla="*/ 1230 h 1230"/>
              <a:gd name="T6" fmla="*/ 616 w 616"/>
              <a:gd name="T7" fmla="*/ 615 h 1230"/>
              <a:gd name="T8" fmla="*/ 0 w 616"/>
              <a:gd name="T9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1230">
                <a:moveTo>
                  <a:pt x="0" y="0"/>
                </a:moveTo>
                <a:lnTo>
                  <a:pt x="0" y="615"/>
                </a:lnTo>
                <a:lnTo>
                  <a:pt x="0" y="1230"/>
                </a:lnTo>
                <a:lnTo>
                  <a:pt x="616" y="6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1" name="Number1"/>
          <p:cNvSpPr/>
          <p:nvPr/>
        </p:nvSpPr>
        <p:spPr bwMode="auto">
          <a:xfrm>
            <a:off x="192089" y="3432677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4" name="Number2"/>
          <p:cNvSpPr/>
          <p:nvPr/>
        </p:nvSpPr>
        <p:spPr bwMode="auto">
          <a:xfrm>
            <a:off x="2418102" y="305720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2" name="Number3"/>
          <p:cNvSpPr/>
          <p:nvPr/>
        </p:nvSpPr>
        <p:spPr bwMode="auto">
          <a:xfrm>
            <a:off x="4637534" y="2681728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8" name="Number4"/>
          <p:cNvSpPr/>
          <p:nvPr/>
        </p:nvSpPr>
        <p:spPr bwMode="auto">
          <a:xfrm>
            <a:off x="6877807" y="230494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0" name="Number5"/>
          <p:cNvSpPr/>
          <p:nvPr/>
        </p:nvSpPr>
        <p:spPr bwMode="auto">
          <a:xfrm>
            <a:off x="9064606" y="1930776"/>
            <a:ext cx="2501587" cy="750952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5988" y="3577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核心指标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51433" y="282702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品类表现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257586" y="245024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转化优化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07513" y="207542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渠道贡献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001" y="32025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获客效率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8276" y="4299856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3GMV1.65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亿，同比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38711" y="4058467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新客单客获取从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元，降幅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，同期新客新增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5890" y="3790384"/>
            <a:ext cx="208317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本季度服饰销售额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70198" y="3418547"/>
            <a:ext cx="187230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销售转化率从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19%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7486" y="2984030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本季度直播带货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6600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等腰三角形 14"/>
          <p:cNvSpPr/>
          <p:nvPr/>
        </p:nvSpPr>
        <p:spPr>
          <a:xfrm rot="10800000" flipH="1">
            <a:off x="2434725" y="3804622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等腰三角形 14"/>
          <p:cNvSpPr/>
          <p:nvPr/>
        </p:nvSpPr>
        <p:spPr>
          <a:xfrm rot="10800000" flipH="1">
            <a:off x="4637534" y="3429614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14"/>
          <p:cNvSpPr/>
          <p:nvPr/>
        </p:nvSpPr>
        <p:spPr>
          <a:xfrm rot="10800000" flipH="1">
            <a:off x="6877807" y="3052880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14"/>
          <p:cNvSpPr/>
          <p:nvPr/>
        </p:nvSpPr>
        <p:spPr>
          <a:xfrm rot="10800000" flipH="1">
            <a:off x="9063119" y="2675833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70609" y="1457462"/>
            <a:ext cx="7230927" cy="102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电商运营业绩亮眼，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；新客本钱降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且新增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万人；服饰品类销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万；销售转化率提至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；直播带货占比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，多维度发力推动整体增长。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70609" y="108396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季度电商增长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26544" y="1095613"/>
            <a:ext cx="910988" cy="9109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78276" y="5389637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增长靠活动蓄水与日常运营，优化排期、价格销售提升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538711" y="5203973"/>
            <a:ext cx="19939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调整投放渠道，减高信息流广告，加私域裂变、直播引流，控获客本钱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5890" y="4818459"/>
            <a:ext cx="208317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借季节上新与场景化营销，推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余款爆品（风衣超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万件），带动品类增长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25777" y="4485460"/>
            <a:ext cx="1737111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优化页面提醒文案、推 “满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元” 活动，修复支付卡顿，降流失提转化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287486" y="4252589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增日播场次、合作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位垂类达人，优化选品与互动，实现观看数、转化率双增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5230517"/>
            <a:ext cx="12192000" cy="1627483"/>
          </a:xfrm>
          <a:custGeom>
            <a:avLst/>
            <a:gdLst>
              <a:gd name="connsiteX0" fmla="*/ 12192000 w 12192000"/>
              <a:gd name="connsiteY0" fmla="*/ 0 h 1627483"/>
              <a:gd name="connsiteX1" fmla="*/ 12192000 w 12192000"/>
              <a:gd name="connsiteY1" fmla="*/ 1627483 h 1627483"/>
              <a:gd name="connsiteX2" fmla="*/ 0 w 12192000"/>
              <a:gd name="connsiteY2" fmla="*/ 1627483 h 1627483"/>
              <a:gd name="connsiteX3" fmla="*/ 0 w 12192000"/>
              <a:gd name="connsiteY3" fmla="*/ 1267478 h 1627483"/>
              <a:gd name="connsiteX4" fmla="*/ 495401 w 12192000"/>
              <a:gd name="connsiteY4" fmla="*/ 1302409 h 1627483"/>
              <a:gd name="connsiteX5" fmla="*/ 6886109 w 12192000"/>
              <a:gd name="connsiteY5" fmla="*/ 1093289 h 1627483"/>
              <a:gd name="connsiteX6" fmla="*/ 11740789 w 12192000"/>
              <a:gd name="connsiteY6" fmla="*/ 134884 h 162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627483">
                <a:moveTo>
                  <a:pt x="12192000" y="0"/>
                </a:moveTo>
                <a:lnTo>
                  <a:pt x="12192000" y="1627483"/>
                </a:lnTo>
                <a:lnTo>
                  <a:pt x="0" y="1627483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0" y="5365679"/>
            <a:ext cx="12192000" cy="1492321"/>
          </a:xfrm>
          <a:custGeom>
            <a:avLst/>
            <a:gdLst>
              <a:gd name="connsiteX0" fmla="*/ 12192000 w 12192000"/>
              <a:gd name="connsiteY0" fmla="*/ 0 h 1492321"/>
              <a:gd name="connsiteX1" fmla="*/ 12192000 w 12192000"/>
              <a:gd name="connsiteY1" fmla="*/ 1492321 h 1492321"/>
              <a:gd name="connsiteX2" fmla="*/ 0 w 12192000"/>
              <a:gd name="connsiteY2" fmla="*/ 1492321 h 1492321"/>
              <a:gd name="connsiteX3" fmla="*/ 0 w 12192000"/>
              <a:gd name="connsiteY3" fmla="*/ 1267478 h 1492321"/>
              <a:gd name="connsiteX4" fmla="*/ 495401 w 12192000"/>
              <a:gd name="connsiteY4" fmla="*/ 1302409 h 1492321"/>
              <a:gd name="connsiteX5" fmla="*/ 6886109 w 12192000"/>
              <a:gd name="connsiteY5" fmla="*/ 1093289 h 1492321"/>
              <a:gd name="connsiteX6" fmla="*/ 11740789 w 12192000"/>
              <a:gd name="connsiteY6" fmla="*/ 134884 h 149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92321">
                <a:moveTo>
                  <a:pt x="12192000" y="0"/>
                </a:moveTo>
                <a:lnTo>
                  <a:pt x="12192000" y="1492321"/>
                </a:lnTo>
                <a:lnTo>
                  <a:pt x="0" y="1492321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评估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9308" y="1298377"/>
            <a:ext cx="505460" cy="50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192088" y="1351277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2774003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240118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86155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25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三条路径评估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67216" y="1089025"/>
            <a:ext cx="5865534" cy="5575521"/>
            <a:chOff x="524566" y="1759910"/>
            <a:chExt cx="5203856" cy="4904636"/>
          </a:xfrm>
        </p:grpSpPr>
        <p:sp>
          <p:nvSpPr>
            <p:cNvPr id="20" name="任意多边形: 形状 2"/>
            <p:cNvSpPr/>
            <p:nvPr/>
          </p:nvSpPr>
          <p:spPr bwMode="auto">
            <a:xfrm>
              <a:off x="2209971" y="2841325"/>
              <a:ext cx="1913356" cy="399106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任意多边形: 形状 2"/>
            <p:cNvSpPr/>
            <p:nvPr/>
          </p:nvSpPr>
          <p:spPr bwMode="auto">
            <a:xfrm>
              <a:off x="2267912" y="2302248"/>
              <a:ext cx="1451144" cy="577879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2" name="任意多边形: 形状 2"/>
            <p:cNvSpPr/>
            <p:nvPr/>
          </p:nvSpPr>
          <p:spPr bwMode="auto">
            <a:xfrm>
              <a:off x="1620611" y="4063100"/>
              <a:ext cx="2943886" cy="438867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3" name="任意多边形: 形状 2"/>
            <p:cNvSpPr/>
            <p:nvPr/>
          </p:nvSpPr>
          <p:spPr bwMode="auto">
            <a:xfrm>
              <a:off x="1479727" y="3734296"/>
              <a:ext cx="3027515" cy="579824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"/>
            <p:cNvSpPr/>
            <p:nvPr/>
          </p:nvSpPr>
          <p:spPr bwMode="auto">
            <a:xfrm>
              <a:off x="921547" y="5347061"/>
              <a:ext cx="4146873" cy="399106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5" name="任意多边形: 形状 2"/>
            <p:cNvSpPr/>
            <p:nvPr/>
          </p:nvSpPr>
          <p:spPr bwMode="auto">
            <a:xfrm>
              <a:off x="691542" y="5168289"/>
              <a:ext cx="4598361" cy="577879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6" name="任意多边形: 形状 2"/>
            <p:cNvSpPr/>
            <p:nvPr/>
          </p:nvSpPr>
          <p:spPr bwMode="auto">
            <a:xfrm>
              <a:off x="524566" y="5746167"/>
              <a:ext cx="5203856" cy="918379"/>
            </a:xfrm>
            <a:custGeom>
              <a:avLst/>
              <a:gdLst>
                <a:gd name="T0" fmla="*/ 2950 w 3225"/>
                <a:gd name="T1" fmla="*/ 0 h 472"/>
                <a:gd name="T2" fmla="*/ 2023 w 3225"/>
                <a:gd name="T3" fmla="*/ 0 h 472"/>
                <a:gd name="T4" fmla="*/ 276 w 3225"/>
                <a:gd name="T5" fmla="*/ 0 h 472"/>
                <a:gd name="T6" fmla="*/ 275 w 3225"/>
                <a:gd name="T7" fmla="*/ 0 h 472"/>
                <a:gd name="T8" fmla="*/ 0 w 3225"/>
                <a:gd name="T9" fmla="*/ 472 h 472"/>
                <a:gd name="T10" fmla="*/ 3225 w 3225"/>
                <a:gd name="T11" fmla="*/ 472 h 472"/>
                <a:gd name="T12" fmla="*/ 2950 w 3225"/>
                <a:gd name="T1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5" h="472">
                  <a:moveTo>
                    <a:pt x="2950" y="0"/>
                  </a:moveTo>
                  <a:lnTo>
                    <a:pt x="2023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0" y="472"/>
                  </a:lnTo>
                  <a:lnTo>
                    <a:pt x="3225" y="472"/>
                  </a:lnTo>
                  <a:lnTo>
                    <a:pt x="2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8" name="任意多边形: 形状 2"/>
            <p:cNvSpPr/>
            <p:nvPr/>
          </p:nvSpPr>
          <p:spPr bwMode="auto">
            <a:xfrm>
              <a:off x="1697679" y="3228696"/>
              <a:ext cx="2866819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"/>
            <p:cNvSpPr/>
            <p:nvPr/>
          </p:nvSpPr>
          <p:spPr bwMode="auto">
            <a:xfrm>
              <a:off x="1794633" y="2880125"/>
              <a:ext cx="2712610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0" name="任意多边形: 形状 2"/>
            <p:cNvSpPr/>
            <p:nvPr/>
          </p:nvSpPr>
          <p:spPr bwMode="auto">
            <a:xfrm>
              <a:off x="1193758" y="4502570"/>
              <a:ext cx="3874661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1" name="任意多边形: 形状 2"/>
            <p:cNvSpPr/>
            <p:nvPr/>
          </p:nvSpPr>
          <p:spPr bwMode="auto">
            <a:xfrm>
              <a:off x="1006448" y="4314119"/>
              <a:ext cx="4292663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2" name="任意多边形: 形状 2"/>
            <p:cNvSpPr/>
            <p:nvPr/>
          </p:nvSpPr>
          <p:spPr bwMode="auto">
            <a:xfrm>
              <a:off x="2281094" y="1759910"/>
              <a:ext cx="1842233" cy="1077377"/>
            </a:xfrm>
            <a:custGeom>
              <a:avLst/>
              <a:gdLst>
                <a:gd name="T0" fmla="*/ 308 w 616"/>
                <a:gd name="T1" fmla="*/ 0 h 531"/>
                <a:gd name="T2" fmla="*/ 0 w 616"/>
                <a:gd name="T3" fmla="*/ 531 h 531"/>
                <a:gd name="T4" fmla="*/ 616 w 616"/>
                <a:gd name="T5" fmla="*/ 531 h 531"/>
                <a:gd name="T6" fmla="*/ 308 w 616"/>
                <a:gd name="T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6" h="531">
                  <a:moveTo>
                    <a:pt x="308" y="0"/>
                  </a:moveTo>
                  <a:lnTo>
                    <a:pt x="0" y="531"/>
                  </a:lnTo>
                  <a:lnTo>
                    <a:pt x="616" y="5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6" name="矩形: 圆角 35"/>
          <p:cNvSpPr/>
          <p:nvPr/>
        </p:nvSpPr>
        <p:spPr>
          <a:xfrm>
            <a:off x="192087" y="4240118"/>
            <a:ext cx="67606" cy="9331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7" y="2774003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2087" y="5686155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7" y="1351277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0221" y="1402366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0453" y="1463921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路径一：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纯灰色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72444" y="30097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问题剖析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472444" y="44758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改进行动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33972" y="5921910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6018" y="2886647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路径二：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合规化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6018" y="4352762"/>
            <a:ext cx="19800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路径三：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转型出海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6018" y="5798799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风险应对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80755" y="1392556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高暴利高法律风险：上海刑拘案标志红线，监管收紧是确定性趋势，预期收益被刑事风险吞噬。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980755" y="2815282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结构性矛盾：海外模型无法备案，麻策律师称无法取得完整合规身份；正规毛利率不足20%，合规成本难覆盖。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80755" y="4281397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国产Token出海等新方向：利用中国算力电力成本优势反向输出API，但面临海外合规与竞争压力。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80755" y="5727434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市场降温：多家民间站关闭国内服务，名人平台挂出「不面向中国大陆用户」声明。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192088" y="2209383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2088" y="3708121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92088" y="5206859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92088" y="6705598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778" y="63770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84294" y="1110342"/>
            <a:ext cx="5023412" cy="5595256"/>
            <a:chOff x="3584294" y="1110342"/>
            <a:chExt cx="5023412" cy="4685759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3584294" y="1636915"/>
              <a:ext cx="5023412" cy="4037298"/>
            </a:xfrm>
            <a:custGeom>
              <a:avLst/>
              <a:gdLst>
                <a:gd name="connsiteX0" fmla="*/ 3401030 w 3401030"/>
                <a:gd name="connsiteY0" fmla="*/ 0 h 2733396"/>
                <a:gd name="connsiteX1" fmla="*/ 1704480 w 3401030"/>
                <a:gd name="connsiteY1" fmla="*/ 0 h 2733396"/>
                <a:gd name="connsiteX2" fmla="*/ 1704480 w 3401030"/>
                <a:gd name="connsiteY2" fmla="*/ 2857 h 2733396"/>
                <a:gd name="connsiteX3" fmla="*/ 0 w 3401030"/>
                <a:gd name="connsiteY3" fmla="*/ 2857 h 2733396"/>
                <a:gd name="connsiteX4" fmla="*/ 839121 w 3401030"/>
                <a:gd name="connsiteY4" fmla="*/ 1352704 h 2733396"/>
                <a:gd name="connsiteX5" fmla="*/ 1267424 w 3401030"/>
                <a:gd name="connsiteY5" fmla="*/ 2733396 h 2733396"/>
                <a:gd name="connsiteX6" fmla="*/ 1716709 w 3401030"/>
                <a:gd name="connsiteY6" fmla="*/ 2733396 h 2733396"/>
                <a:gd name="connsiteX7" fmla="*/ 1716709 w 3401030"/>
                <a:gd name="connsiteY7" fmla="*/ 2730538 h 2733396"/>
                <a:gd name="connsiteX8" fmla="*/ 2133566 w 3401030"/>
                <a:gd name="connsiteY8" fmla="*/ 2730538 h 2733396"/>
                <a:gd name="connsiteX9" fmla="*/ 2561945 w 3401030"/>
                <a:gd name="connsiteY9" fmla="*/ 1349847 h 2733396"/>
                <a:gd name="connsiteX10" fmla="*/ 3401030 w 3401030"/>
                <a:gd name="connsiteY10" fmla="*/ 0 h 2733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1030" h="2733396">
                  <a:moveTo>
                    <a:pt x="3401030" y="0"/>
                  </a:moveTo>
                  <a:lnTo>
                    <a:pt x="1704480" y="0"/>
                  </a:lnTo>
                  <a:lnTo>
                    <a:pt x="1704480" y="2857"/>
                  </a:lnTo>
                  <a:lnTo>
                    <a:pt x="0" y="2857"/>
                  </a:lnTo>
                  <a:cubicBezTo>
                    <a:pt x="338812" y="413702"/>
                    <a:pt x="620956" y="867654"/>
                    <a:pt x="839121" y="1352704"/>
                  </a:cubicBezTo>
                  <a:cubicBezTo>
                    <a:pt x="1037496" y="1794015"/>
                    <a:pt x="1181350" y="2257574"/>
                    <a:pt x="1267424" y="2733396"/>
                  </a:cubicBezTo>
                  <a:lnTo>
                    <a:pt x="1716709" y="2733396"/>
                  </a:lnTo>
                  <a:lnTo>
                    <a:pt x="1716709" y="2730538"/>
                  </a:lnTo>
                  <a:lnTo>
                    <a:pt x="2133566" y="2730538"/>
                  </a:lnTo>
                  <a:cubicBezTo>
                    <a:pt x="2219650" y="2254717"/>
                    <a:pt x="2363543" y="1791157"/>
                    <a:pt x="2561945" y="1349847"/>
                  </a:cubicBezTo>
                  <a:cubicBezTo>
                    <a:pt x="2780062" y="864797"/>
                    <a:pt x="3062270" y="410845"/>
                    <a:pt x="340103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" name="Oval 24"/>
            <p:cNvSpPr/>
            <p:nvPr/>
          </p:nvSpPr>
          <p:spPr>
            <a:xfrm flipV="1">
              <a:off x="3586937" y="1110342"/>
              <a:ext cx="5018127" cy="992467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" name="Oval 25"/>
            <p:cNvSpPr/>
            <p:nvPr/>
          </p:nvSpPr>
          <p:spPr>
            <a:xfrm flipV="1">
              <a:off x="5453737" y="5326062"/>
              <a:ext cx="1284527" cy="470039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" name="Oval 26"/>
            <p:cNvSpPr/>
            <p:nvPr/>
          </p:nvSpPr>
          <p:spPr>
            <a:xfrm flipV="1">
              <a:off x="4520695" y="2742299"/>
              <a:ext cx="3150610" cy="59160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" name="Oval 27"/>
            <p:cNvSpPr/>
            <p:nvPr/>
          </p:nvSpPr>
          <p:spPr>
            <a:xfrm flipV="1">
              <a:off x="5116839" y="4003455"/>
              <a:ext cx="1958322" cy="525768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Freeform 223"/>
            <p:cNvSpPr/>
            <p:nvPr/>
          </p:nvSpPr>
          <p:spPr>
            <a:xfrm>
              <a:off x="4108815" y="1442623"/>
              <a:ext cx="3974370" cy="660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0123" extrusionOk="0">
                  <a:moveTo>
                    <a:pt x="10311" y="0"/>
                  </a:moveTo>
                  <a:cubicBezTo>
                    <a:pt x="7670" y="0"/>
                    <a:pt x="5030" y="1176"/>
                    <a:pt x="3015" y="3517"/>
                  </a:cubicBezTo>
                  <a:cubicBezTo>
                    <a:pt x="433" y="6517"/>
                    <a:pt x="-486" y="10710"/>
                    <a:pt x="241" y="14568"/>
                  </a:cubicBezTo>
                  <a:cubicBezTo>
                    <a:pt x="514" y="14957"/>
                    <a:pt x="806" y="15330"/>
                    <a:pt x="1118" y="15693"/>
                  </a:cubicBezTo>
                  <a:cubicBezTo>
                    <a:pt x="6201" y="21600"/>
                    <a:pt x="14444" y="21600"/>
                    <a:pt x="19528" y="15693"/>
                  </a:cubicBezTo>
                  <a:cubicBezTo>
                    <a:pt x="19828" y="15344"/>
                    <a:pt x="20106" y="14988"/>
                    <a:pt x="20371" y="14615"/>
                  </a:cubicBezTo>
                  <a:cubicBezTo>
                    <a:pt x="21114" y="10744"/>
                    <a:pt x="20199" y="6529"/>
                    <a:pt x="17606" y="3517"/>
                  </a:cubicBezTo>
                  <a:cubicBezTo>
                    <a:pt x="15592" y="1176"/>
                    <a:pt x="12951" y="0"/>
                    <a:pt x="10311" y="0"/>
                  </a:cubicBezTo>
                  <a:close/>
                </a:path>
              </a:pathLst>
            </a:custGeom>
            <a:solidFill>
              <a:srgbClr val="000000">
                <a:alpha val="449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Freeform 224"/>
            <p:cNvSpPr/>
            <p:nvPr/>
          </p:nvSpPr>
          <p:spPr>
            <a:xfrm>
              <a:off x="4830353" y="1771020"/>
              <a:ext cx="2531294" cy="33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0220" extrusionOk="0">
                  <a:moveTo>
                    <a:pt x="10661" y="0"/>
                  </a:moveTo>
                  <a:cubicBezTo>
                    <a:pt x="7926" y="0"/>
                    <a:pt x="5192" y="1512"/>
                    <a:pt x="3106" y="4498"/>
                  </a:cubicBezTo>
                  <a:cubicBezTo>
                    <a:pt x="880" y="7683"/>
                    <a:pt x="-135" y="11916"/>
                    <a:pt x="15" y="16085"/>
                  </a:cubicBezTo>
                  <a:cubicBezTo>
                    <a:pt x="6574" y="21584"/>
                    <a:pt x="14742" y="21600"/>
                    <a:pt x="21307" y="16123"/>
                  </a:cubicBezTo>
                  <a:cubicBezTo>
                    <a:pt x="21465" y="11941"/>
                    <a:pt x="20451" y="7692"/>
                    <a:pt x="18219" y="4498"/>
                  </a:cubicBezTo>
                  <a:cubicBezTo>
                    <a:pt x="16132" y="1512"/>
                    <a:pt x="13396" y="0"/>
                    <a:pt x="10661" y="0"/>
                  </a:cubicBezTo>
                  <a:close/>
                </a:path>
              </a:pathLst>
            </a:custGeom>
            <a:solidFill>
              <a:srgbClr val="000000">
                <a:alpha val="6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55575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本季度围绕 “业务增长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项目落地” 设定核心目标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55575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季度初始目标锚定​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575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按周跟踪任务进度，完成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次跨部门协同，核心流程优化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5575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关键工作推进节奏​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5575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发现供应链延迟、协作效率低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类问题，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5575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执行难点初步排查​​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5575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家备选供应商，设跨部门周例会，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部下周启动工具适配测试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55575" y="550726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针对性处理方案推进​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06111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个专项小组，预算使用占计划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，重点保障核心项目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006421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人力物力配置概况​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906111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，客户销售率升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项目达里程碑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006421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阶段成果数据汇总​​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906111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供应链延迟因上游原料短缺，协作低效源于沟通机制缺失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06421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未达目标根因分析​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906111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下季以 “指标增长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项目启动” 为目标，优先推进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006421" y="550726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下季核心工作锚定​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85522" y="145732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过程推进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88114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成果呈现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490706" y="467239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542002" y="62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顶角 1"/>
          <p:cNvSpPr/>
          <p:nvPr/>
        </p:nvSpPr>
        <p:spPr>
          <a:xfrm>
            <a:off x="782970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顶角 2"/>
          <p:cNvSpPr/>
          <p:nvPr/>
        </p:nvSpPr>
        <p:spPr>
          <a:xfrm>
            <a:off x="782970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4832233" y="4462273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>
            <a:off x="4832233" y="5617885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顶角 5"/>
          <p:cNvSpPr/>
          <p:nvPr/>
        </p:nvSpPr>
        <p:spPr>
          <a:xfrm>
            <a:off x="8773104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8773104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rot="16200000" flipH="1">
            <a:off x="1300416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rot="16200000" flipH="1">
            <a:off x="5303248" y="2408225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 rot="16200000" flipH="1">
            <a:off x="9319358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圆柱体 48"/>
          <p:cNvSpPr/>
          <p:nvPr/>
        </p:nvSpPr>
        <p:spPr>
          <a:xfrm rot="5400000">
            <a:off x="5467216" y="-2753919"/>
            <a:ext cx="1295544" cy="11803131"/>
          </a:xfrm>
          <a:prstGeom prst="can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885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岗位认知与理解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rot="5400000">
            <a:off x="790487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488" y="1081754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岗位核心职责梳理​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333917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职责维度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等腰三角形 74"/>
          <p:cNvSpPr/>
          <p:nvPr/>
        </p:nvSpPr>
        <p:spPr>
          <a:xfrm flipV="1">
            <a:off x="169295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0372" y="4978019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依订单定计划，控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人，保交付率≥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40372" y="6099751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ISO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体系，控不良率≤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，年改工艺≥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5400000">
            <a:off x="4793319" y="2408090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74547" y="1081755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岗位任职要求分析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11985" y="2499878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要求维度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flipV="1">
            <a:off x="5713016" y="1598170"/>
            <a:ext cx="737410" cy="270472"/>
          </a:xfrm>
          <a:prstGeom prst="triangle">
            <a:avLst/>
          </a:prstGeom>
          <a:gradFill>
            <a:gsLst>
              <a:gs pos="21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65840" y="4978020"/>
            <a:ext cx="335046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智制经验懂全工艺，会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MES/CAD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，故障响应≤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478954" y="6099752"/>
            <a:ext cx="31242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本科机械优先，持安工证，带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促效率年升≥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5400000">
            <a:off x="8809354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65768" y="1081754"/>
            <a:ext cx="195786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325316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flipV="1">
            <a:off x="967599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525537" y="4978019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控效质本年降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8%-12%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定制单助智转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525537" y="6099751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按零件波动备供方，技迭代培训增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合规压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0729" y="4526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生产计划统筹与执行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91562" y="57033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质量与工艺管控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87073" y="452651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专业能力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71657" y="56861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资质与经验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427944" y="45265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27944" y="56861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面临挑战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366852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7237366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 rot="5400000" flipH="1">
            <a:off x="4622243" y="-2599744"/>
            <a:ext cx="2947514" cy="12192000"/>
          </a:xfrm>
          <a:custGeom>
            <a:avLst/>
            <a:gdLst>
              <a:gd name="connsiteX0" fmla="*/ 2947514 w 2947514"/>
              <a:gd name="connsiteY0" fmla="*/ 0 h 12192000"/>
              <a:gd name="connsiteX1" fmla="*/ 0 w 2947514"/>
              <a:gd name="connsiteY1" fmla="*/ 0 h 12192000"/>
              <a:gd name="connsiteX2" fmla="*/ 5160 w 2947514"/>
              <a:gd name="connsiteY2" fmla="*/ 20573 h 12192000"/>
              <a:gd name="connsiteX3" fmla="*/ 550314 w 2947514"/>
              <a:gd name="connsiteY3" fmla="*/ 12168081 h 12192000"/>
              <a:gd name="connsiteX4" fmla="*/ 544809 w 2947514"/>
              <a:gd name="connsiteY4" fmla="*/ 12192000 h 12192000"/>
              <a:gd name="connsiteX5" fmla="*/ 2479669 w 2947514"/>
              <a:gd name="connsiteY5" fmla="*/ 12192000 h 12192000"/>
              <a:gd name="connsiteX6" fmla="*/ 2459595 w 2947514"/>
              <a:gd name="connsiteY6" fmla="*/ 12117256 h 12192000"/>
              <a:gd name="connsiteX7" fmla="*/ 2900217 w 2947514"/>
              <a:gd name="connsiteY7" fmla="*/ 1859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7514" h="12192000">
                <a:moveTo>
                  <a:pt x="2947514" y="0"/>
                </a:moveTo>
                <a:lnTo>
                  <a:pt x="0" y="0"/>
                </a:lnTo>
                <a:lnTo>
                  <a:pt x="5160" y="20573"/>
                </a:lnTo>
                <a:cubicBezTo>
                  <a:pt x="719394" y="2930295"/>
                  <a:pt x="1505452" y="7685121"/>
                  <a:pt x="550314" y="12168081"/>
                </a:cubicBezTo>
                <a:lnTo>
                  <a:pt x="544809" y="12192000"/>
                </a:lnTo>
                <a:lnTo>
                  <a:pt x="2479669" y="12192000"/>
                </a:lnTo>
                <a:lnTo>
                  <a:pt x="2459595" y="12117256"/>
                </a:lnTo>
                <a:cubicBezTo>
                  <a:pt x="1901318" y="9929054"/>
                  <a:pt x="1461969" y="5985819"/>
                  <a:pt x="2900217" y="185900"/>
                </a:cubicBez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 w="9514" cap="flat">
            <a:gradFill>
              <a:gsLst>
                <a:gs pos="62000">
                  <a:schemeClr val="accent1"/>
                </a:gs>
                <a:gs pos="50000">
                  <a:schemeClr val="accent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5CA7">
                  <a:lumMod val="50000"/>
                </a:srgbClr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个人竞聘优势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192089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>
            <p:custDataLst>
              <p:tags r:id="rId3"/>
            </p:custDataLst>
          </p:nvPr>
        </p:nvSpPr>
        <p:spPr>
          <a:xfrm>
            <a:off x="192089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368970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077529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3243107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3243107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3419988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128547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6294126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294126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>
            <a:off x="6471007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>
            <p:custDataLst>
              <p:tags r:id="rId13"/>
            </p:custDataLst>
          </p:nvPr>
        </p:nvSpPr>
        <p:spPr>
          <a:xfrm>
            <a:off x="7179566" y="1395537"/>
            <a:ext cx="791530" cy="791530"/>
          </a:xfrm>
          <a:prstGeom prst="ellipse">
            <a:avLst/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14"/>
            </p:custDataLst>
          </p:nvPr>
        </p:nvSpPr>
        <p:spPr>
          <a:xfrm>
            <a:off x="9345144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15"/>
            </p:custDataLst>
          </p:nvPr>
        </p:nvSpPr>
        <p:spPr>
          <a:xfrm>
            <a:off x="9345144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6"/>
            </p:custDataLst>
          </p:nvPr>
        </p:nvSpPr>
        <p:spPr>
          <a:xfrm>
            <a:off x="9522025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230584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>
            <p:custDataLst>
              <p:tags r:id="rId18"/>
            </p:custDataLst>
          </p:nvPr>
        </p:nvSpPr>
        <p:spPr>
          <a:xfrm rot="10800000">
            <a:off x="9476787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>
            <p:custDataLst>
              <p:tags r:id="rId19"/>
            </p:custDataLst>
          </p:nvPr>
        </p:nvSpPr>
        <p:spPr>
          <a:xfrm>
            <a:off x="485458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1021889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经验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49" name="矩形: 圆角 48"/>
          <p:cNvSpPr/>
          <p:nvPr>
            <p:custDataLst>
              <p:tags r:id="rId21"/>
            </p:custDataLst>
          </p:nvPr>
        </p:nvSpPr>
        <p:spPr>
          <a:xfrm>
            <a:off x="3536476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4072907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技能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4" name="矩形: 圆角 53"/>
          <p:cNvSpPr/>
          <p:nvPr>
            <p:custDataLst>
              <p:tags r:id="rId23"/>
            </p:custDataLst>
          </p:nvPr>
        </p:nvSpPr>
        <p:spPr>
          <a:xfrm>
            <a:off x="6587495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4"/>
            </p:custDataLst>
          </p:nvPr>
        </p:nvSpPr>
        <p:spPr>
          <a:xfrm>
            <a:off x="7123926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成果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7" name="矩形: 圆角 56"/>
          <p:cNvSpPr/>
          <p:nvPr>
            <p:custDataLst>
              <p:tags r:id="rId25"/>
            </p:custDataLst>
          </p:nvPr>
        </p:nvSpPr>
        <p:spPr>
          <a:xfrm>
            <a:off x="9638513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6"/>
            </p:custDataLst>
          </p:nvPr>
        </p:nvSpPr>
        <p:spPr>
          <a:xfrm>
            <a:off x="10174944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协同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9" name="梯形 58"/>
          <p:cNvSpPr/>
          <p:nvPr>
            <p:custDataLst>
              <p:tags r:id="rId27"/>
            </p:custDataLst>
          </p:nvPr>
        </p:nvSpPr>
        <p:spPr>
          <a:xfrm rot="10800000">
            <a:off x="6425769" y="5023956"/>
            <a:ext cx="2299124" cy="675947"/>
          </a:xfrm>
          <a:prstGeom prst="trapezoid">
            <a:avLst>
              <a:gd name="adj" fmla="val 90812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88000">
                <a:schemeClr val="accent2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>
            <p:custDataLst>
              <p:tags r:id="rId28"/>
            </p:custDataLst>
          </p:nvPr>
        </p:nvSpPr>
        <p:spPr>
          <a:xfrm rot="10800000">
            <a:off x="3374751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梯形 60"/>
          <p:cNvSpPr/>
          <p:nvPr>
            <p:custDataLst>
              <p:tags r:id="rId29"/>
            </p:custDataLst>
          </p:nvPr>
        </p:nvSpPr>
        <p:spPr>
          <a:xfrm rot="10800000">
            <a:off x="323732" y="5023956"/>
            <a:ext cx="2299124" cy="675947"/>
          </a:xfrm>
          <a:prstGeom prst="trapezoid">
            <a:avLst>
              <a:gd name="adj" fmla="val 94446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622600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相关工作经验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>
            <p:custDataLst>
              <p:tags r:id="rId31"/>
            </p:custDataLst>
          </p:nvPr>
        </p:nvSpPr>
        <p:spPr>
          <a:xfrm>
            <a:off x="450304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现任三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jia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一员信息科运维工程师，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年参与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升级、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部署等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个项目，主导门诊挂号系统应急处理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余次，熟系统架构与数据逻辑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>
            <p:custDataLst>
              <p:tags r:id="rId32"/>
            </p:custDataLst>
          </p:nvPr>
        </p:nvSpPr>
        <p:spPr>
          <a:xfrm>
            <a:off x="3673618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专业技能储备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3501322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熟练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cao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HIS/LIS/PACS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系统，掌握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SQL/Oracle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运维备份；持软考中级、华为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HCIA-Cloud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证，可独立优化系统性能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>
            <p:custDataLst>
              <p:tags r:id="rId34"/>
            </p:custDataLst>
          </p:nvPr>
        </p:nvSpPr>
        <p:spPr>
          <a:xfrm>
            <a:off x="6724637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过往工作成果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>
            <p:custDataLst>
              <p:tags r:id="rId35"/>
            </p:custDataLst>
          </p:nvPr>
        </p:nvSpPr>
        <p:spPr>
          <a:xfrm>
            <a:off x="6552341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去年优化巡检流程，系统故障发生率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12%→5%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；推动自助缴费与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对接，患者缴费时间缩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 “服务之星”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>
            <p:custDataLst>
              <p:tags r:id="rId36"/>
            </p:custDataLst>
          </p:nvPr>
        </p:nvSpPr>
        <p:spPr>
          <a:xfrm>
            <a:off x="9775655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综合素质体现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>
            <p:custDataLst>
              <p:tags r:id="rId37"/>
            </p:custDataLst>
          </p:nvPr>
        </p:nvSpPr>
        <p:spPr>
          <a:xfrm>
            <a:off x="9603359" y="2894804"/>
            <a:ext cx="2045981" cy="1458939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效对接临床与研发；去年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小时搭方舱临时信息系统，保障患者信息录入，显协作与应急能力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38"/>
            </p:custDataLst>
          </p:nvPr>
        </p:nvCxnSpPr>
        <p:spPr>
          <a:xfrm>
            <a:off x="1263842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39"/>
            </p:custDataLst>
          </p:nvPr>
        </p:nvCxnSpPr>
        <p:spPr>
          <a:xfrm>
            <a:off x="4314860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40"/>
            </p:custDataLst>
          </p:nvPr>
        </p:nvCxnSpPr>
        <p:spPr>
          <a:xfrm>
            <a:off x="7365879" y="2859404"/>
            <a:ext cx="41890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41"/>
            </p:custDataLst>
          </p:nvPr>
        </p:nvCxnSpPr>
        <p:spPr>
          <a:xfrm>
            <a:off x="10416897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视角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99019" y="1563972"/>
            <a:ext cx="454660" cy="454660"/>
          </a:xfrm>
          <a:prstGeom prst="rect">
            <a:avLst/>
          </a:prstGeom>
        </p:spPr>
      </p:pic>
      <p:pic>
        <p:nvPicPr>
          <p:cNvPr id="13" name="图片 12" descr="表格填写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96982" y="1563972"/>
            <a:ext cx="454660" cy="454660"/>
          </a:xfrm>
          <a:prstGeom prst="rect">
            <a:avLst/>
          </a:prstGeom>
        </p:spPr>
      </p:pic>
      <p:pic>
        <p:nvPicPr>
          <p:cNvPr id="20" name="图片 19" descr="账号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8001" y="1563972"/>
            <a:ext cx="454660" cy="45466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45964" y="1563972"/>
            <a:ext cx="454660" cy="454660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2" name="Straight Connector 177"/>
          <p:cNvCxnSpPr/>
          <p:nvPr/>
        </p:nvCxnSpPr>
        <p:spPr>
          <a:xfrm flipH="1">
            <a:off x="7398453" y="1690164"/>
            <a:ext cx="0" cy="1264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178"/>
          <p:cNvCxnSpPr/>
          <p:nvPr/>
        </p:nvCxnSpPr>
        <p:spPr>
          <a:xfrm rot="16200000" flipH="1">
            <a:off x="8215385" y="880828"/>
            <a:ext cx="0" cy="16338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Oval 176"/>
          <p:cNvSpPr/>
          <p:nvPr/>
        </p:nvSpPr>
        <p:spPr>
          <a:xfrm>
            <a:off x="8913028" y="1607296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88" name="Straight Connector 173"/>
          <p:cNvCxnSpPr/>
          <p:nvPr/>
        </p:nvCxnSpPr>
        <p:spPr>
          <a:xfrm rot="16200000" flipH="1">
            <a:off x="8314206" y="2730249"/>
            <a:ext cx="0" cy="14751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9" name="Oval 174"/>
          <p:cNvSpPr/>
          <p:nvPr/>
        </p:nvSpPr>
        <p:spPr>
          <a:xfrm>
            <a:off x="8913028" y="3381132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84" name="Group 169"/>
          <p:cNvGrpSpPr/>
          <p:nvPr/>
        </p:nvGrpSpPr>
        <p:grpSpPr>
          <a:xfrm flipH="1" flipV="1">
            <a:off x="7398452" y="3979898"/>
            <a:ext cx="1633866" cy="1264451"/>
            <a:chOff x="3674840" y="1949417"/>
            <a:chExt cx="2088000" cy="1080000"/>
          </a:xfrm>
        </p:grpSpPr>
        <p:cxnSp>
          <p:nvCxnSpPr>
            <p:cNvPr id="1286" name="Straight Connector 171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72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5" name="Oval 170"/>
          <p:cNvSpPr/>
          <p:nvPr/>
        </p:nvSpPr>
        <p:spPr>
          <a:xfrm>
            <a:off x="8913028" y="5164322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9" name="Straight Connector 164"/>
          <p:cNvCxnSpPr/>
          <p:nvPr/>
        </p:nvCxnSpPr>
        <p:spPr>
          <a:xfrm>
            <a:off x="4839698" y="1700986"/>
            <a:ext cx="0" cy="1264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65"/>
          <p:cNvCxnSpPr/>
          <p:nvPr/>
        </p:nvCxnSpPr>
        <p:spPr>
          <a:xfrm rot="5400000">
            <a:off x="3976468" y="845352"/>
            <a:ext cx="0" cy="17264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8" name="Oval 163"/>
          <p:cNvSpPr/>
          <p:nvPr/>
        </p:nvSpPr>
        <p:spPr>
          <a:xfrm>
            <a:off x="2896299" y="1591544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5" name="Straight Connector 160"/>
          <p:cNvCxnSpPr/>
          <p:nvPr/>
        </p:nvCxnSpPr>
        <p:spPr>
          <a:xfrm rot="5400000">
            <a:off x="3854499" y="2759108"/>
            <a:ext cx="0" cy="1475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Oval 161"/>
          <p:cNvSpPr/>
          <p:nvPr/>
        </p:nvSpPr>
        <p:spPr>
          <a:xfrm>
            <a:off x="2896299" y="3376969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71" name="Group 156"/>
          <p:cNvGrpSpPr/>
          <p:nvPr/>
        </p:nvGrpSpPr>
        <p:grpSpPr>
          <a:xfrm flipV="1">
            <a:off x="3113237" y="4008757"/>
            <a:ext cx="1726461" cy="1264451"/>
            <a:chOff x="3674840" y="1949417"/>
            <a:chExt cx="2088000" cy="1080000"/>
          </a:xfrm>
        </p:grpSpPr>
        <p:cxnSp>
          <p:nvCxnSpPr>
            <p:cNvPr id="1273" name="Straight Connector 158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59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2" name="Oval 157"/>
          <p:cNvSpPr/>
          <p:nvPr/>
        </p:nvSpPr>
        <p:spPr>
          <a:xfrm>
            <a:off x="2882315" y="5208467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6" name="Freeform 4"/>
          <p:cNvSpPr/>
          <p:nvPr/>
        </p:nvSpPr>
        <p:spPr>
          <a:xfrm>
            <a:off x="5262561" y="3245403"/>
            <a:ext cx="1729792" cy="3612597"/>
          </a:xfrm>
          <a:custGeom>
            <a:avLst/>
            <a:gdLst>
              <a:gd name="connsiteX0" fmla="*/ 805148 w 1128712"/>
              <a:gd name="connsiteY0" fmla="*/ 0 h 2023578"/>
              <a:gd name="connsiteX1" fmla="*/ 564356 w 1128712"/>
              <a:gd name="connsiteY1" fmla="*/ 789542 h 2023578"/>
              <a:gd name="connsiteX2" fmla="*/ 1128712 w 1128712"/>
              <a:gd name="connsiteY2" fmla="*/ 586517 h 2023578"/>
              <a:gd name="connsiteX3" fmla="*/ 590693 w 1128712"/>
              <a:gd name="connsiteY3" fmla="*/ 1056482 h 2023578"/>
              <a:gd name="connsiteX4" fmla="*/ 594455 w 1128712"/>
              <a:gd name="connsiteY4" fmla="*/ 1124157 h 2023578"/>
              <a:gd name="connsiteX5" fmla="*/ 671631 w 1128712"/>
              <a:gd name="connsiteY5" fmla="*/ 1992285 h 2023578"/>
              <a:gd name="connsiteX6" fmla="*/ 679167 w 1128712"/>
              <a:gd name="connsiteY6" fmla="*/ 2023578 h 2023578"/>
              <a:gd name="connsiteX7" fmla="*/ 315501 w 1128712"/>
              <a:gd name="connsiteY7" fmla="*/ 2023578 h 2023578"/>
              <a:gd name="connsiteX8" fmla="*/ 320272 w 1128712"/>
              <a:gd name="connsiteY8" fmla="*/ 1996662 h 2023578"/>
              <a:gd name="connsiteX9" fmla="*/ 376238 w 1128712"/>
              <a:gd name="connsiteY9" fmla="*/ 1124157 h 2023578"/>
              <a:gd name="connsiteX10" fmla="*/ 376238 w 1128712"/>
              <a:gd name="connsiteY10" fmla="*/ 1022644 h 2023578"/>
              <a:gd name="connsiteX11" fmla="*/ 0 w 1128712"/>
              <a:gd name="connsiteY11" fmla="*/ 612835 h 2023578"/>
              <a:gd name="connsiteX12" fmla="*/ 398812 w 1128712"/>
              <a:gd name="connsiteY12" fmla="*/ 782022 h 2023578"/>
              <a:gd name="connsiteX13" fmla="*/ 402574 w 1128712"/>
              <a:gd name="connsiteY13" fmla="*/ 718107 h 2023578"/>
              <a:gd name="connsiteX14" fmla="*/ 142970 w 1128712"/>
              <a:gd name="connsiteY14" fmla="*/ 293258 h 2023578"/>
              <a:gd name="connsiteX15" fmla="*/ 443960 w 1128712"/>
              <a:gd name="connsiteY15" fmla="*/ 518842 h 2023578"/>
              <a:gd name="connsiteX16" fmla="*/ 474059 w 1128712"/>
              <a:gd name="connsiteY16" fmla="*/ 428608 h 2023578"/>
              <a:gd name="connsiteX17" fmla="*/ 805148 w 1128712"/>
              <a:gd name="connsiteY17" fmla="*/ 0 h 20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8712" h="2023578">
                <a:moveTo>
                  <a:pt x="805148" y="0"/>
                </a:moveTo>
                <a:cubicBezTo>
                  <a:pt x="526732" y="545160"/>
                  <a:pt x="564356" y="789542"/>
                  <a:pt x="564356" y="789542"/>
                </a:cubicBezTo>
                <a:cubicBezTo>
                  <a:pt x="741188" y="567718"/>
                  <a:pt x="1128712" y="586517"/>
                  <a:pt x="1128712" y="586517"/>
                </a:cubicBezTo>
                <a:cubicBezTo>
                  <a:pt x="1128712" y="586517"/>
                  <a:pt x="680990" y="740665"/>
                  <a:pt x="590693" y="1056482"/>
                </a:cubicBezTo>
                <a:cubicBezTo>
                  <a:pt x="590693" y="1056482"/>
                  <a:pt x="594455" y="1082800"/>
                  <a:pt x="594455" y="1124157"/>
                </a:cubicBezTo>
                <a:cubicBezTo>
                  <a:pt x="600569" y="1295224"/>
                  <a:pt x="621586" y="1756686"/>
                  <a:pt x="671631" y="1992285"/>
                </a:cubicBezTo>
                <a:lnTo>
                  <a:pt x="679167" y="2023578"/>
                </a:lnTo>
                <a:lnTo>
                  <a:pt x="315501" y="2023578"/>
                </a:lnTo>
                <a:lnTo>
                  <a:pt x="320272" y="1996662"/>
                </a:lnTo>
                <a:cubicBezTo>
                  <a:pt x="361012" y="1721658"/>
                  <a:pt x="372946" y="1314962"/>
                  <a:pt x="376238" y="1124157"/>
                </a:cubicBezTo>
                <a:cubicBezTo>
                  <a:pt x="376238" y="1060241"/>
                  <a:pt x="376238" y="1022644"/>
                  <a:pt x="376238" y="1022644"/>
                </a:cubicBezTo>
                <a:cubicBezTo>
                  <a:pt x="316040" y="804580"/>
                  <a:pt x="0" y="612835"/>
                  <a:pt x="0" y="612835"/>
                </a:cubicBezTo>
                <a:cubicBezTo>
                  <a:pt x="338614" y="609075"/>
                  <a:pt x="398812" y="782022"/>
                  <a:pt x="398812" y="782022"/>
                </a:cubicBezTo>
                <a:cubicBezTo>
                  <a:pt x="398812" y="759464"/>
                  <a:pt x="402574" y="736905"/>
                  <a:pt x="402574" y="718107"/>
                </a:cubicBezTo>
                <a:cubicBezTo>
                  <a:pt x="353663" y="391011"/>
                  <a:pt x="142970" y="293258"/>
                  <a:pt x="142970" y="293258"/>
                </a:cubicBezTo>
                <a:cubicBezTo>
                  <a:pt x="342376" y="308297"/>
                  <a:pt x="417624" y="447407"/>
                  <a:pt x="443960" y="518842"/>
                </a:cubicBezTo>
                <a:cubicBezTo>
                  <a:pt x="451485" y="488764"/>
                  <a:pt x="462772" y="458686"/>
                  <a:pt x="474059" y="428608"/>
                </a:cubicBezTo>
                <a:cubicBezTo>
                  <a:pt x="594455" y="124071"/>
                  <a:pt x="805148" y="0"/>
                  <a:pt x="805148" y="0"/>
                </a:cubicBezTo>
                <a:close/>
              </a:path>
            </a:pathLst>
          </a:custGeom>
          <a:solidFill>
            <a:srgbClr val="805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7" name="Teardrop 3"/>
          <p:cNvSpPr/>
          <p:nvPr/>
        </p:nvSpPr>
        <p:spPr>
          <a:xfrm rot="20700000" flipH="1">
            <a:off x="6647710" y="4464002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8" name="Teardrop 4"/>
          <p:cNvSpPr/>
          <p:nvPr/>
        </p:nvSpPr>
        <p:spPr>
          <a:xfrm rot="17100000" flipH="1">
            <a:off x="6995301" y="2660123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9" name="Teardrop 5"/>
          <p:cNvSpPr/>
          <p:nvPr/>
        </p:nvSpPr>
        <p:spPr>
          <a:xfrm rot="14400000" flipH="1">
            <a:off x="6109482" y="105699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0" name="Teardrop 6"/>
          <p:cNvSpPr/>
          <p:nvPr/>
        </p:nvSpPr>
        <p:spPr>
          <a:xfrm rot="900000">
            <a:off x="3827987" y="4489420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1" name="Teardrop 7"/>
          <p:cNvSpPr/>
          <p:nvPr/>
        </p:nvSpPr>
        <p:spPr>
          <a:xfrm rot="4500000">
            <a:off x="3439106" y="2660122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2" name="Teardrop 8"/>
          <p:cNvSpPr/>
          <p:nvPr/>
        </p:nvSpPr>
        <p:spPr>
          <a:xfrm rot="7200000">
            <a:off x="4352098" y="107784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3" name="Teardrop 9"/>
          <p:cNvSpPr/>
          <p:nvPr/>
        </p:nvSpPr>
        <p:spPr>
          <a:xfrm rot="7120111">
            <a:off x="5617400" y="2875842"/>
            <a:ext cx="620369" cy="620369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4" name="Teardrop 10"/>
          <p:cNvSpPr/>
          <p:nvPr/>
        </p:nvSpPr>
        <p:spPr>
          <a:xfrm rot="10800000">
            <a:off x="6337088" y="3618637"/>
            <a:ext cx="361338" cy="361338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5" name="Teardrop 11"/>
          <p:cNvSpPr/>
          <p:nvPr/>
        </p:nvSpPr>
        <p:spPr>
          <a:xfrm rot="6441119">
            <a:off x="5802822" y="2428043"/>
            <a:ext cx="430792" cy="430792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6" name="Teardrop 12"/>
          <p:cNvSpPr/>
          <p:nvPr/>
        </p:nvSpPr>
        <p:spPr>
          <a:xfrm rot="9000000">
            <a:off x="6479548" y="3005370"/>
            <a:ext cx="437755" cy="437755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7" name="Teardrop 13"/>
          <p:cNvSpPr/>
          <p:nvPr/>
        </p:nvSpPr>
        <p:spPr>
          <a:xfrm rot="6300000">
            <a:off x="5110765" y="3071344"/>
            <a:ext cx="477013" cy="477013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8" name="Teardrop 14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9" name="Teardrop 15"/>
          <p:cNvSpPr/>
          <p:nvPr/>
        </p:nvSpPr>
        <p:spPr>
          <a:xfrm rot="1769098">
            <a:off x="3556222" y="4346496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0" name="Teardrop 16"/>
          <p:cNvSpPr/>
          <p:nvPr/>
        </p:nvSpPr>
        <p:spPr>
          <a:xfrm rot="2974210">
            <a:off x="3464948" y="2202885"/>
            <a:ext cx="517585" cy="51758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1" name="Teardrop 17"/>
          <p:cNvSpPr/>
          <p:nvPr/>
        </p:nvSpPr>
        <p:spPr>
          <a:xfrm rot="9070581">
            <a:off x="5970858" y="795011"/>
            <a:ext cx="430792" cy="43079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42" name="Teardrop 18"/>
          <p:cNvSpPr/>
          <p:nvPr/>
        </p:nvSpPr>
        <p:spPr>
          <a:xfrm rot="4740069">
            <a:off x="5781313" y="1175062"/>
            <a:ext cx="241812" cy="24181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8" name="Teardrop 19"/>
          <p:cNvSpPr/>
          <p:nvPr/>
        </p:nvSpPr>
        <p:spPr>
          <a:xfrm rot="12460915">
            <a:off x="7677271" y="2172264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9" name="Teardrop 20"/>
          <p:cNvSpPr/>
          <p:nvPr/>
        </p:nvSpPr>
        <p:spPr>
          <a:xfrm rot="15370581">
            <a:off x="8150008" y="4477015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0" name="Teardrop 21"/>
          <p:cNvSpPr/>
          <p:nvPr/>
        </p:nvSpPr>
        <p:spPr>
          <a:xfrm rot="13367882">
            <a:off x="8053733" y="4212642"/>
            <a:ext cx="241812" cy="24181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1" name="TextBox 22"/>
          <p:cNvSpPr txBox="1"/>
          <p:nvPr/>
        </p:nvSpPr>
        <p:spPr>
          <a:xfrm>
            <a:off x="4306123" y="4747820"/>
            <a:ext cx="595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3" name="TextBox 23"/>
          <p:cNvSpPr txBox="1"/>
          <p:nvPr/>
        </p:nvSpPr>
        <p:spPr>
          <a:xfrm>
            <a:off x="3906587" y="2918523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4" name="TextBox 24"/>
          <p:cNvSpPr txBox="1"/>
          <p:nvPr/>
        </p:nvSpPr>
        <p:spPr>
          <a:xfrm>
            <a:off x="4825879" y="1336242"/>
            <a:ext cx="633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P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6" name="TextBox 25"/>
          <p:cNvSpPr txBox="1"/>
          <p:nvPr/>
        </p:nvSpPr>
        <p:spPr>
          <a:xfrm>
            <a:off x="6596198" y="1315392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8" name="TextBox 26"/>
          <p:cNvSpPr txBox="1"/>
          <p:nvPr/>
        </p:nvSpPr>
        <p:spPr>
          <a:xfrm>
            <a:off x="7462782" y="29185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9" name="TextBox 27"/>
          <p:cNvSpPr txBox="1"/>
          <p:nvPr/>
        </p:nvSpPr>
        <p:spPr>
          <a:xfrm>
            <a:off x="7128674" y="4722403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L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0" name="Teardrop 28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4" name="矩形 1293"/>
          <p:cNvSpPr/>
          <p:nvPr/>
        </p:nvSpPr>
        <p:spPr bwMode="auto">
          <a:xfrm>
            <a:off x="227012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5" name="矩形 1294"/>
          <p:cNvSpPr/>
          <p:nvPr/>
        </p:nvSpPr>
        <p:spPr bwMode="auto">
          <a:xfrm>
            <a:off x="227012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6" name="矩形 1295"/>
          <p:cNvSpPr/>
          <p:nvPr/>
        </p:nvSpPr>
        <p:spPr bwMode="auto">
          <a:xfrm>
            <a:off x="227012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16" name="TextBox 137"/>
          <p:cNvSpPr txBox="1"/>
          <p:nvPr/>
        </p:nvSpPr>
        <p:spPr>
          <a:xfrm>
            <a:off x="244668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契合消费者健康饮食需求，新增 3 款低卡餐品，月销量占比达 22%，年轻客群点单率高。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7" name="Rectangle 138"/>
          <p:cNvSpPr/>
          <p:nvPr/>
        </p:nvSpPr>
        <p:spPr>
          <a:xfrm>
            <a:off x="247224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8" name="TextBox 139"/>
          <p:cNvSpPr txBox="1"/>
          <p:nvPr/>
        </p:nvSpPr>
        <p:spPr>
          <a:xfrm>
            <a:off x="677545" y="4679262"/>
            <a:ext cx="212598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社会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30" name="TextBox 131"/>
          <p:cNvSpPr txBox="1"/>
          <p:nvPr/>
        </p:nvSpPr>
        <p:spPr>
          <a:xfrm>
            <a:off x="244668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应对区域消费降级趋势，推出 29 元亲民套餐，上线后单店客流提升 18%，客单价稳定。​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31" name="Rectangle 132"/>
          <p:cNvSpPr/>
          <p:nvPr/>
        </p:nvSpPr>
        <p:spPr>
          <a:xfrm>
            <a:off x="247224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2" name="TextBox 133"/>
          <p:cNvSpPr txBox="1"/>
          <p:nvPr/>
        </p:nvSpPr>
        <p:spPr>
          <a:xfrm>
            <a:off x="677545" y="2864077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经济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22" name="TextBox 123"/>
          <p:cNvSpPr txBox="1"/>
          <p:nvPr/>
        </p:nvSpPr>
        <p:spPr>
          <a:xfrm>
            <a:off x="244668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响应地方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月起实施的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明厨亮灶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新规，完成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家门店改造，合规率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，顺利通过检查。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23" name="Rectangle 124"/>
          <p:cNvSpPr/>
          <p:nvPr/>
        </p:nvSpPr>
        <p:spPr>
          <a:xfrm>
            <a:off x="247225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TextBox 125"/>
          <p:cNvSpPr txBox="1"/>
          <p:nvPr/>
        </p:nvSpPr>
        <p:spPr>
          <a:xfrm>
            <a:off x="677545" y="1026669"/>
            <a:ext cx="2126615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政治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299" name="矩形 1298"/>
          <p:cNvSpPr/>
          <p:nvPr/>
        </p:nvSpPr>
        <p:spPr bwMode="auto">
          <a:xfrm>
            <a:off x="9415681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0" name="矩形 1299"/>
          <p:cNvSpPr/>
          <p:nvPr/>
        </p:nvSpPr>
        <p:spPr bwMode="auto">
          <a:xfrm>
            <a:off x="9415681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1" name="矩形 1300"/>
          <p:cNvSpPr/>
          <p:nvPr/>
        </p:nvSpPr>
        <p:spPr bwMode="auto">
          <a:xfrm>
            <a:off x="9415681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2" name="TextBox 137"/>
          <p:cNvSpPr txBox="1"/>
          <p:nvPr/>
        </p:nvSpPr>
        <p:spPr>
          <a:xfrm>
            <a:off x="9433337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组织员工学习新《食品安全法》，开展 3 场专项培训，参训 82 人考核通过率 98%。​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3" name="Rectangle 138"/>
          <p:cNvSpPr/>
          <p:nvPr/>
        </p:nvSpPr>
        <p:spPr>
          <a:xfrm>
            <a:off x="9435893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4" name="TextBox 139"/>
          <p:cNvSpPr txBox="1"/>
          <p:nvPr/>
        </p:nvSpPr>
        <p:spPr>
          <a:xfrm>
            <a:off x="9866630" y="4679579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法律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06" name="TextBox 131"/>
          <p:cNvSpPr txBox="1"/>
          <p:nvPr/>
        </p:nvSpPr>
        <p:spPr>
          <a:xfrm>
            <a:off x="9433337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全面推行可降解餐具，每月减少 500kg 塑料使用，获当地环保部门公开表彰。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7" name="Rectangle 132"/>
          <p:cNvSpPr/>
          <p:nvPr/>
        </p:nvSpPr>
        <p:spPr>
          <a:xfrm>
            <a:off x="9435893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8" name="TextBox 133"/>
          <p:cNvSpPr txBox="1"/>
          <p:nvPr/>
        </p:nvSpPr>
        <p:spPr>
          <a:xfrm>
            <a:off x="9866630" y="2864077"/>
            <a:ext cx="212534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环境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10" name="TextBox 123"/>
          <p:cNvSpPr txBox="1"/>
          <p:nvPr/>
        </p:nvSpPr>
        <p:spPr>
          <a:xfrm>
            <a:off x="9433337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上线智能点餐系统，减少 2 名人工成本，点餐效率提升 35%，顾客等待时长缩短。​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11" name="Rectangle 124"/>
          <p:cNvSpPr/>
          <p:nvPr/>
        </p:nvSpPr>
        <p:spPr>
          <a:xfrm>
            <a:off x="9435894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12" name="TextBox 125"/>
          <p:cNvSpPr txBox="1"/>
          <p:nvPr/>
        </p:nvSpPr>
        <p:spPr>
          <a:xfrm>
            <a:off x="9866630" y="1048576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技术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25688" y="4760942"/>
            <a:ext cx="204248" cy="204248"/>
            <a:chOff x="12965233" y="5330277"/>
            <a:chExt cx="1547813" cy="1547813"/>
          </a:xfrm>
          <a:solidFill>
            <a:schemeClr val="bg1"/>
          </a:solidFill>
        </p:grpSpPr>
        <p:sp>
          <p:nvSpPr>
            <p:cNvPr id="19" name="任意多边形: 形状 18"/>
            <p:cNvSpPr/>
            <p:nvPr/>
          </p:nvSpPr>
          <p:spPr>
            <a:xfrm>
              <a:off x="12965233" y="5330277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3798671" y="6163715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>
            <a:off x="9611134" y="1136718"/>
            <a:ext cx="199311" cy="189091"/>
          </a:xfrm>
          <a:custGeom>
            <a:avLst/>
            <a:gdLst>
              <a:gd name="connsiteX0" fmla="*/ 1170781 w 1547812"/>
              <a:gd name="connsiteY0" fmla="*/ 0 h 1468438"/>
              <a:gd name="connsiteX1" fmla="*/ 1221304 w 1547812"/>
              <a:gd name="connsiteY1" fmla="*/ 28060 h 1468438"/>
              <a:gd name="connsiteX2" fmla="*/ 1224043 w 1547812"/>
              <a:gd name="connsiteY2" fmla="*/ 32941 h 1468438"/>
              <a:gd name="connsiteX3" fmla="*/ 1376085 w 1547812"/>
              <a:gd name="connsiteY3" fmla="*/ 337345 h 1468438"/>
              <a:gd name="connsiteX4" fmla="*/ 1547813 w 1547812"/>
              <a:gd name="connsiteY4" fmla="*/ 337345 h 1468438"/>
              <a:gd name="connsiteX5" fmla="*/ 1547813 w 1547812"/>
              <a:gd name="connsiteY5" fmla="*/ 456407 h 1468438"/>
              <a:gd name="connsiteX6" fmla="*/ 1435537 w 1547812"/>
              <a:gd name="connsiteY6" fmla="*/ 456407 h 1468438"/>
              <a:gd name="connsiteX7" fmla="*/ 1541225 w 1547812"/>
              <a:gd name="connsiteY7" fmla="*/ 667941 h 1468438"/>
              <a:gd name="connsiteX8" fmla="*/ 1547217 w 1547812"/>
              <a:gd name="connsiteY8" fmla="*/ 688976 h 1468438"/>
              <a:gd name="connsiteX9" fmla="*/ 1547494 w 1547812"/>
              <a:gd name="connsiteY9" fmla="*/ 694533 h 1468438"/>
              <a:gd name="connsiteX10" fmla="*/ 1547813 w 1547812"/>
              <a:gd name="connsiteY10" fmla="*/ 1250156 h 1468438"/>
              <a:gd name="connsiteX11" fmla="*/ 1547813 w 1547812"/>
              <a:gd name="connsiteY11" fmla="*/ 1408908 h 1468438"/>
              <a:gd name="connsiteX12" fmla="*/ 1493996 w 1547812"/>
              <a:gd name="connsiteY12" fmla="*/ 1468160 h 1468438"/>
              <a:gd name="connsiteX13" fmla="*/ 1488281 w 1547812"/>
              <a:gd name="connsiteY13" fmla="*/ 1468439 h 1468438"/>
              <a:gd name="connsiteX14" fmla="*/ 1170781 w 1547812"/>
              <a:gd name="connsiteY14" fmla="*/ 1468439 h 1468438"/>
              <a:gd name="connsiteX15" fmla="*/ 1111528 w 1547812"/>
              <a:gd name="connsiteY15" fmla="*/ 1414623 h 1468438"/>
              <a:gd name="connsiteX16" fmla="*/ 1111249 w 1547812"/>
              <a:gd name="connsiteY16" fmla="*/ 1408908 h 1468438"/>
              <a:gd name="connsiteX17" fmla="*/ 1111210 w 1547812"/>
              <a:gd name="connsiteY17" fmla="*/ 1309688 h 1468438"/>
              <a:gd name="connsiteX18" fmla="*/ 436522 w 1547812"/>
              <a:gd name="connsiteY18" fmla="*/ 1309688 h 1468438"/>
              <a:gd name="connsiteX19" fmla="*/ 436563 w 1547812"/>
              <a:gd name="connsiteY19" fmla="*/ 1408908 h 1468438"/>
              <a:gd name="connsiteX20" fmla="*/ 388343 w 1547812"/>
              <a:gd name="connsiteY20" fmla="*/ 1467367 h 1468438"/>
              <a:gd name="connsiteX21" fmla="*/ 382786 w 1547812"/>
              <a:gd name="connsiteY21" fmla="*/ 1468160 h 1468438"/>
              <a:gd name="connsiteX22" fmla="*/ 377032 w 1547812"/>
              <a:gd name="connsiteY22" fmla="*/ 1468439 h 1468438"/>
              <a:gd name="connsiteX23" fmla="*/ 59531 w 1547812"/>
              <a:gd name="connsiteY23" fmla="*/ 1468439 h 1468438"/>
              <a:gd name="connsiteX24" fmla="*/ 278 w 1547812"/>
              <a:gd name="connsiteY24" fmla="*/ 1414623 h 1468438"/>
              <a:gd name="connsiteX25" fmla="*/ 0 w 1547812"/>
              <a:gd name="connsiteY25" fmla="*/ 1408908 h 1468438"/>
              <a:gd name="connsiteX26" fmla="*/ 0 w 1547812"/>
              <a:gd name="connsiteY26" fmla="*/ 694533 h 1468438"/>
              <a:gd name="connsiteX27" fmla="*/ 4048 w 1547812"/>
              <a:gd name="connsiteY27" fmla="*/ 672982 h 1468438"/>
              <a:gd name="connsiteX28" fmla="*/ 6271 w 1547812"/>
              <a:gd name="connsiteY28" fmla="*/ 667902 h 1468438"/>
              <a:gd name="connsiteX29" fmla="*/ 112038 w 1547812"/>
              <a:gd name="connsiteY29" fmla="*/ 456407 h 1468438"/>
              <a:gd name="connsiteX30" fmla="*/ 0 w 1547812"/>
              <a:gd name="connsiteY30" fmla="*/ 456407 h 1468438"/>
              <a:gd name="connsiteX31" fmla="*/ 0 w 1547812"/>
              <a:gd name="connsiteY31" fmla="*/ 337345 h 1468438"/>
              <a:gd name="connsiteX32" fmla="*/ 171569 w 1547812"/>
              <a:gd name="connsiteY32" fmla="*/ 337345 h 1468438"/>
              <a:gd name="connsiteX33" fmla="*/ 323770 w 1547812"/>
              <a:gd name="connsiteY33" fmla="*/ 32941 h 1468438"/>
              <a:gd name="connsiteX34" fmla="*/ 371436 w 1547812"/>
              <a:gd name="connsiteY34" fmla="*/ 279 h 1468438"/>
              <a:gd name="connsiteX35" fmla="*/ 377032 w 1547812"/>
              <a:gd name="connsiteY35" fmla="*/ 0 h 1468438"/>
              <a:gd name="connsiteX36" fmla="*/ 1170781 w 1547812"/>
              <a:gd name="connsiteY36" fmla="*/ 0 h 1468438"/>
              <a:gd name="connsiteX37" fmla="*/ 719694 w 1547812"/>
              <a:gd name="connsiteY37" fmla="*/ 423823 h 1468438"/>
              <a:gd name="connsiteX38" fmla="*/ 616625 w 1547812"/>
              <a:gd name="connsiteY38" fmla="*/ 429777 h 1468438"/>
              <a:gd name="connsiteX39" fmla="*/ 403146 w 1547812"/>
              <a:gd name="connsiteY39" fmla="*/ 856735 h 1468438"/>
              <a:gd name="connsiteX40" fmla="*/ 509668 w 1547812"/>
              <a:gd name="connsiteY40" fmla="*/ 909956 h 1468438"/>
              <a:gd name="connsiteX41" fmla="*/ 671116 w 1547812"/>
              <a:gd name="connsiteY41" fmla="*/ 586978 h 1468438"/>
              <a:gd name="connsiteX42" fmla="*/ 841097 w 1547812"/>
              <a:gd name="connsiteY42" fmla="*/ 910988 h 1468438"/>
              <a:gd name="connsiteX43" fmla="*/ 844034 w 1547812"/>
              <a:gd name="connsiteY43" fmla="*/ 916028 h 1468438"/>
              <a:gd name="connsiteX44" fmla="*/ 947817 w 1547812"/>
              <a:gd name="connsiteY44" fmla="*/ 908328 h 1468438"/>
              <a:gd name="connsiteX45" fmla="*/ 1145461 w 1547812"/>
              <a:gd name="connsiteY45" fmla="*/ 481411 h 1468438"/>
              <a:gd name="connsiteX46" fmla="*/ 1037392 w 1547812"/>
              <a:gd name="connsiteY46" fmla="*/ 431404 h 1468438"/>
              <a:gd name="connsiteX47" fmla="*/ 890429 w 1547812"/>
              <a:gd name="connsiteY47" fmla="*/ 748784 h 1468438"/>
              <a:gd name="connsiteX48" fmla="*/ 722590 w 1547812"/>
              <a:gd name="connsiteY48" fmla="*/ 428744 h 146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47812" h="1468438">
                <a:moveTo>
                  <a:pt x="1170781" y="0"/>
                </a:moveTo>
                <a:cubicBezTo>
                  <a:pt x="1191338" y="4"/>
                  <a:pt x="1210436" y="10611"/>
                  <a:pt x="1221304" y="28060"/>
                </a:cubicBezTo>
                <a:lnTo>
                  <a:pt x="1224043" y="32941"/>
                </a:lnTo>
                <a:lnTo>
                  <a:pt x="1376085" y="337345"/>
                </a:lnTo>
                <a:lnTo>
                  <a:pt x="1547813" y="337345"/>
                </a:lnTo>
                <a:lnTo>
                  <a:pt x="1547813" y="456407"/>
                </a:lnTo>
                <a:lnTo>
                  <a:pt x="1435537" y="456407"/>
                </a:lnTo>
                <a:lnTo>
                  <a:pt x="1541225" y="667941"/>
                </a:lnTo>
                <a:cubicBezTo>
                  <a:pt x="1544503" y="674523"/>
                  <a:pt x="1546536" y="681655"/>
                  <a:pt x="1547217" y="688976"/>
                </a:cubicBezTo>
                <a:lnTo>
                  <a:pt x="1547494" y="694533"/>
                </a:lnTo>
                <a:lnTo>
                  <a:pt x="1547813" y="1250156"/>
                </a:lnTo>
                <a:lnTo>
                  <a:pt x="1547813" y="1408908"/>
                </a:lnTo>
                <a:cubicBezTo>
                  <a:pt x="1547811" y="1439570"/>
                  <a:pt x="1524517" y="1465217"/>
                  <a:pt x="1493996" y="1468160"/>
                </a:cubicBezTo>
                <a:lnTo>
                  <a:pt x="1488281" y="1468439"/>
                </a:lnTo>
                <a:lnTo>
                  <a:pt x="1170781" y="1468439"/>
                </a:lnTo>
                <a:cubicBezTo>
                  <a:pt x="1140118" y="1468437"/>
                  <a:pt x="1114472" y="1445144"/>
                  <a:pt x="1111528" y="1414623"/>
                </a:cubicBezTo>
                <a:lnTo>
                  <a:pt x="1111249" y="1408908"/>
                </a:lnTo>
                <a:lnTo>
                  <a:pt x="1111210" y="1309688"/>
                </a:lnTo>
                <a:lnTo>
                  <a:pt x="436522" y="1309688"/>
                </a:lnTo>
                <a:lnTo>
                  <a:pt x="436563" y="1408908"/>
                </a:lnTo>
                <a:cubicBezTo>
                  <a:pt x="436569" y="1437429"/>
                  <a:pt x="416345" y="1461948"/>
                  <a:pt x="388343" y="1467367"/>
                </a:cubicBezTo>
                <a:lnTo>
                  <a:pt x="382786" y="1468160"/>
                </a:lnTo>
                <a:lnTo>
                  <a:pt x="377032" y="1468439"/>
                </a:lnTo>
                <a:lnTo>
                  <a:pt x="59531" y="1468439"/>
                </a:lnTo>
                <a:cubicBezTo>
                  <a:pt x="28867" y="1468437"/>
                  <a:pt x="3222" y="1445144"/>
                  <a:pt x="278" y="1414623"/>
                </a:cubicBezTo>
                <a:lnTo>
                  <a:pt x="0" y="1408908"/>
                </a:lnTo>
                <a:lnTo>
                  <a:pt x="0" y="694533"/>
                </a:lnTo>
                <a:cubicBezTo>
                  <a:pt x="0" y="687151"/>
                  <a:pt x="1389" y="679847"/>
                  <a:pt x="4048" y="672982"/>
                </a:cubicBezTo>
                <a:lnTo>
                  <a:pt x="6271" y="667902"/>
                </a:lnTo>
                <a:lnTo>
                  <a:pt x="112038" y="456407"/>
                </a:lnTo>
                <a:lnTo>
                  <a:pt x="0" y="456407"/>
                </a:lnTo>
                <a:lnTo>
                  <a:pt x="0" y="337345"/>
                </a:lnTo>
                <a:lnTo>
                  <a:pt x="171569" y="337345"/>
                </a:lnTo>
                <a:lnTo>
                  <a:pt x="323770" y="32941"/>
                </a:lnTo>
                <a:cubicBezTo>
                  <a:pt x="332956" y="14555"/>
                  <a:pt x="350974" y="2208"/>
                  <a:pt x="371436" y="279"/>
                </a:cubicBezTo>
                <a:lnTo>
                  <a:pt x="377032" y="0"/>
                </a:lnTo>
                <a:lnTo>
                  <a:pt x="1170781" y="0"/>
                </a:lnTo>
                <a:close/>
                <a:moveTo>
                  <a:pt x="719694" y="423823"/>
                </a:moveTo>
                <a:cubicBezTo>
                  <a:pt x="695167" y="385882"/>
                  <a:pt x="637461" y="388105"/>
                  <a:pt x="616625" y="429777"/>
                </a:cubicBezTo>
                <a:lnTo>
                  <a:pt x="403146" y="856735"/>
                </a:lnTo>
                <a:lnTo>
                  <a:pt x="509668" y="909956"/>
                </a:lnTo>
                <a:lnTo>
                  <a:pt x="671116" y="586978"/>
                </a:lnTo>
                <a:lnTo>
                  <a:pt x="841097" y="910988"/>
                </a:lnTo>
                <a:lnTo>
                  <a:pt x="844034" y="916028"/>
                </a:lnTo>
                <a:cubicBezTo>
                  <a:pt x="868998" y="954524"/>
                  <a:pt x="927934" y="951350"/>
                  <a:pt x="947817" y="908328"/>
                </a:cubicBezTo>
                <a:lnTo>
                  <a:pt x="1145461" y="481411"/>
                </a:lnTo>
                <a:lnTo>
                  <a:pt x="1037392" y="431404"/>
                </a:lnTo>
                <a:lnTo>
                  <a:pt x="890429" y="748784"/>
                </a:lnTo>
                <a:lnTo>
                  <a:pt x="722590" y="42874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9575808" y="2914660"/>
            <a:ext cx="254161" cy="260763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34112" y="4775605"/>
            <a:ext cx="192931" cy="178815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407450" y="2930835"/>
            <a:ext cx="192599" cy="203009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19422" y="1135195"/>
            <a:ext cx="171625" cy="201047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14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区域季度工作回顾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Straight Connector 86"/>
          <p:cNvCxnSpPr/>
          <p:nvPr/>
        </p:nvCxnSpPr>
        <p:spPr>
          <a:xfrm>
            <a:off x="2788602" y="1032314"/>
            <a:ext cx="2341205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95"/>
          <p:cNvCxnSpPr/>
          <p:nvPr/>
        </p:nvCxnSpPr>
        <p:spPr>
          <a:xfrm>
            <a:off x="3732726" y="2483117"/>
            <a:ext cx="1397082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Straight Connector 100"/>
          <p:cNvCxnSpPr/>
          <p:nvPr/>
        </p:nvCxnSpPr>
        <p:spPr>
          <a:xfrm>
            <a:off x="4022619" y="3933920"/>
            <a:ext cx="1107188" cy="0"/>
          </a:xfrm>
          <a:prstGeom prst="line">
            <a:avLst/>
          </a:prstGeom>
          <a:ln w="285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107"/>
          <p:cNvCxnSpPr/>
          <p:nvPr/>
        </p:nvCxnSpPr>
        <p:spPr>
          <a:xfrm>
            <a:off x="3732726" y="5384723"/>
            <a:ext cx="1397081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99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律师核心观点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1" name="Freeform: Shape 4"/>
          <p:cNvSpPr/>
          <p:nvPr/>
        </p:nvSpPr>
        <p:spPr>
          <a:xfrm>
            <a:off x="2365953" y="4712521"/>
            <a:ext cx="1019929" cy="1238759"/>
          </a:xfrm>
          <a:custGeom>
            <a:avLst/>
            <a:gdLst>
              <a:gd name="connsiteX0" fmla="*/ 953 w 759142"/>
              <a:gd name="connsiteY0" fmla="*/ 0 h 922019"/>
              <a:gd name="connsiteX1" fmla="*/ 759143 w 759142"/>
              <a:gd name="connsiteY1" fmla="*/ 0 h 922019"/>
              <a:gd name="connsiteX2" fmla="*/ 759143 w 759142"/>
              <a:gd name="connsiteY2" fmla="*/ 290513 h 922019"/>
              <a:gd name="connsiteX3" fmla="*/ 709613 w 759142"/>
              <a:gd name="connsiteY3" fmla="*/ 272415 h 922019"/>
              <a:gd name="connsiteX4" fmla="*/ 622935 w 759142"/>
              <a:gd name="connsiteY4" fmla="*/ 373380 h 922019"/>
              <a:gd name="connsiteX5" fmla="*/ 709613 w 759142"/>
              <a:gd name="connsiteY5" fmla="*/ 474345 h 922019"/>
              <a:gd name="connsiteX6" fmla="*/ 759143 w 759142"/>
              <a:gd name="connsiteY6" fmla="*/ 456247 h 922019"/>
              <a:gd name="connsiteX7" fmla="*/ 759143 w 759142"/>
              <a:gd name="connsiteY7" fmla="*/ 750570 h 922019"/>
              <a:gd name="connsiteX8" fmla="*/ 673418 w 759142"/>
              <a:gd name="connsiteY8" fmla="*/ 716280 h 922019"/>
              <a:gd name="connsiteX9" fmla="*/ 360045 w 759142"/>
              <a:gd name="connsiteY9" fmla="*/ 922020 h 922019"/>
              <a:gd name="connsiteX10" fmla="*/ 136208 w 759142"/>
              <a:gd name="connsiteY10" fmla="*/ 839152 h 922019"/>
              <a:gd name="connsiteX11" fmla="*/ 0 w 759142"/>
              <a:gd name="connsiteY11" fmla="*/ 880110 h 922019"/>
              <a:gd name="connsiteX12" fmla="*/ 0 w 759142"/>
              <a:gd name="connsiteY12" fmla="*/ 0 h 92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019">
                <a:moveTo>
                  <a:pt x="953" y="0"/>
                </a:moveTo>
                <a:lnTo>
                  <a:pt x="759143" y="0"/>
                </a:lnTo>
                <a:lnTo>
                  <a:pt x="759143" y="290513"/>
                </a:lnTo>
                <a:cubicBezTo>
                  <a:pt x="745808" y="279082"/>
                  <a:pt x="728663" y="272415"/>
                  <a:pt x="709613" y="272415"/>
                </a:cubicBezTo>
                <a:cubicBezTo>
                  <a:pt x="656272" y="272415"/>
                  <a:pt x="622935" y="323850"/>
                  <a:pt x="622935" y="373380"/>
                </a:cubicBezTo>
                <a:cubicBezTo>
                  <a:pt x="622935" y="422910"/>
                  <a:pt x="656272" y="474345"/>
                  <a:pt x="709613" y="474345"/>
                </a:cubicBezTo>
                <a:cubicBezTo>
                  <a:pt x="728663" y="474345"/>
                  <a:pt x="744855" y="467677"/>
                  <a:pt x="759143" y="456247"/>
                </a:cubicBezTo>
                <a:lnTo>
                  <a:pt x="759143" y="750570"/>
                </a:lnTo>
                <a:cubicBezTo>
                  <a:pt x="728663" y="742950"/>
                  <a:pt x="700088" y="731520"/>
                  <a:pt x="673418" y="716280"/>
                </a:cubicBezTo>
                <a:cubicBezTo>
                  <a:pt x="622935" y="837247"/>
                  <a:pt x="501967" y="922020"/>
                  <a:pt x="360045" y="922020"/>
                </a:cubicBezTo>
                <a:cubicBezTo>
                  <a:pt x="274320" y="922020"/>
                  <a:pt x="196215" y="890588"/>
                  <a:pt x="136208" y="839152"/>
                </a:cubicBezTo>
                <a:cubicBezTo>
                  <a:pt x="76200" y="864870"/>
                  <a:pt x="38100" y="879157"/>
                  <a:pt x="0" y="8801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2" name="Freeform: Shape 7"/>
          <p:cNvSpPr/>
          <p:nvPr/>
        </p:nvSpPr>
        <p:spPr>
          <a:xfrm>
            <a:off x="1303791" y="4712521"/>
            <a:ext cx="1019929" cy="1240040"/>
          </a:xfrm>
          <a:custGeom>
            <a:avLst/>
            <a:gdLst>
              <a:gd name="connsiteX0" fmla="*/ 952 w 759142"/>
              <a:gd name="connsiteY0" fmla="*/ 0 h 922972"/>
              <a:gd name="connsiteX1" fmla="*/ 759143 w 759142"/>
              <a:gd name="connsiteY1" fmla="*/ 0 h 922972"/>
              <a:gd name="connsiteX2" fmla="*/ 759143 w 759142"/>
              <a:gd name="connsiteY2" fmla="*/ 881063 h 922972"/>
              <a:gd name="connsiteX3" fmla="*/ 622935 w 759142"/>
              <a:gd name="connsiteY3" fmla="*/ 840105 h 922972"/>
              <a:gd name="connsiteX4" fmla="*/ 399098 w 759142"/>
              <a:gd name="connsiteY4" fmla="*/ 922972 h 922972"/>
              <a:gd name="connsiteX5" fmla="*/ 85725 w 759142"/>
              <a:gd name="connsiteY5" fmla="*/ 717232 h 922972"/>
              <a:gd name="connsiteX6" fmla="*/ 0 w 759142"/>
              <a:gd name="connsiteY6" fmla="*/ 751522 h 922972"/>
              <a:gd name="connsiteX7" fmla="*/ 0 w 759142"/>
              <a:gd name="connsiteY7" fmla="*/ 457200 h 922972"/>
              <a:gd name="connsiteX8" fmla="*/ 49530 w 759142"/>
              <a:gd name="connsiteY8" fmla="*/ 475297 h 922972"/>
              <a:gd name="connsiteX9" fmla="*/ 136208 w 759142"/>
              <a:gd name="connsiteY9" fmla="*/ 374332 h 922972"/>
              <a:gd name="connsiteX10" fmla="*/ 49530 w 759142"/>
              <a:gd name="connsiteY10" fmla="*/ 273367 h 922972"/>
              <a:gd name="connsiteX11" fmla="*/ 0 w 759142"/>
              <a:gd name="connsiteY11" fmla="*/ 291465 h 922972"/>
              <a:gd name="connsiteX12" fmla="*/ 0 w 759142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972">
                <a:moveTo>
                  <a:pt x="952" y="0"/>
                </a:moveTo>
                <a:lnTo>
                  <a:pt x="759143" y="0"/>
                </a:lnTo>
                <a:lnTo>
                  <a:pt x="759143" y="881063"/>
                </a:lnTo>
                <a:cubicBezTo>
                  <a:pt x="721043" y="880110"/>
                  <a:pt x="682943" y="865822"/>
                  <a:pt x="622935" y="840105"/>
                </a:cubicBezTo>
                <a:cubicBezTo>
                  <a:pt x="562928" y="891540"/>
                  <a:pt x="484822" y="922972"/>
                  <a:pt x="399098" y="922972"/>
                </a:cubicBezTo>
                <a:cubicBezTo>
                  <a:pt x="258127" y="922972"/>
                  <a:pt x="136208" y="838200"/>
                  <a:pt x="85725" y="717232"/>
                </a:cubicBezTo>
                <a:cubicBezTo>
                  <a:pt x="59055" y="732472"/>
                  <a:pt x="30480" y="743902"/>
                  <a:pt x="0" y="751522"/>
                </a:cubicBezTo>
                <a:lnTo>
                  <a:pt x="0" y="457200"/>
                </a:lnTo>
                <a:cubicBezTo>
                  <a:pt x="13335" y="468630"/>
                  <a:pt x="30480" y="475297"/>
                  <a:pt x="49530" y="475297"/>
                </a:cubicBezTo>
                <a:cubicBezTo>
                  <a:pt x="102870" y="475297"/>
                  <a:pt x="136208" y="423863"/>
                  <a:pt x="136208" y="374332"/>
                </a:cubicBezTo>
                <a:cubicBezTo>
                  <a:pt x="136208" y="324802"/>
                  <a:pt x="102870" y="273367"/>
                  <a:pt x="49530" y="273367"/>
                </a:cubicBezTo>
                <a:cubicBezTo>
                  <a:pt x="30480" y="273367"/>
                  <a:pt x="14288" y="280035"/>
                  <a:pt x="0" y="2914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3" name="Freeform: Shape 8"/>
          <p:cNvSpPr/>
          <p:nvPr/>
        </p:nvSpPr>
        <p:spPr>
          <a:xfrm>
            <a:off x="280022" y="3430251"/>
            <a:ext cx="597624" cy="1237480"/>
          </a:xfrm>
          <a:custGeom>
            <a:avLst/>
            <a:gdLst>
              <a:gd name="connsiteX0" fmla="*/ 143828 w 444817"/>
              <a:gd name="connsiteY0" fmla="*/ 0 h 921067"/>
              <a:gd name="connsiteX1" fmla="*/ 444818 w 444817"/>
              <a:gd name="connsiteY1" fmla="*/ 0 h 921067"/>
              <a:gd name="connsiteX2" fmla="*/ 444818 w 444817"/>
              <a:gd name="connsiteY2" fmla="*/ 456247 h 921067"/>
              <a:gd name="connsiteX3" fmla="*/ 395288 w 444817"/>
              <a:gd name="connsiteY3" fmla="*/ 438150 h 921067"/>
              <a:gd name="connsiteX4" fmla="*/ 308610 w 444817"/>
              <a:gd name="connsiteY4" fmla="*/ 539115 h 921067"/>
              <a:gd name="connsiteX5" fmla="*/ 395288 w 444817"/>
              <a:gd name="connsiteY5" fmla="*/ 640080 h 921067"/>
              <a:gd name="connsiteX6" fmla="*/ 444818 w 444817"/>
              <a:gd name="connsiteY6" fmla="*/ 621982 h 921067"/>
              <a:gd name="connsiteX7" fmla="*/ 444818 w 444817"/>
              <a:gd name="connsiteY7" fmla="*/ 921068 h 921067"/>
              <a:gd name="connsiteX8" fmla="*/ 35243 w 444817"/>
              <a:gd name="connsiteY8" fmla="*/ 921068 h 921067"/>
              <a:gd name="connsiteX9" fmla="*/ 74295 w 444817"/>
              <a:gd name="connsiteY9" fmla="*/ 844868 h 921067"/>
              <a:gd name="connsiteX10" fmla="*/ 0 w 444817"/>
              <a:gd name="connsiteY10" fmla="*/ 604838 h 921067"/>
              <a:gd name="connsiteX11" fmla="*/ 238125 w 444817"/>
              <a:gd name="connsiteY11" fmla="*/ 218122 h 921067"/>
              <a:gd name="connsiteX12" fmla="*/ 143828 w 444817"/>
              <a:gd name="connsiteY12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817" h="921067">
                <a:moveTo>
                  <a:pt x="143828" y="0"/>
                </a:moveTo>
                <a:lnTo>
                  <a:pt x="444818" y="0"/>
                </a:lnTo>
                <a:lnTo>
                  <a:pt x="444818" y="456247"/>
                </a:lnTo>
                <a:cubicBezTo>
                  <a:pt x="431483" y="444817"/>
                  <a:pt x="414338" y="438150"/>
                  <a:pt x="395288" y="438150"/>
                </a:cubicBezTo>
                <a:cubicBezTo>
                  <a:pt x="341948" y="438150"/>
                  <a:pt x="308610" y="489585"/>
                  <a:pt x="308610" y="539115"/>
                </a:cubicBezTo>
                <a:cubicBezTo>
                  <a:pt x="308610" y="588645"/>
                  <a:pt x="341948" y="640080"/>
                  <a:pt x="395288" y="640080"/>
                </a:cubicBezTo>
                <a:cubicBezTo>
                  <a:pt x="414338" y="640080"/>
                  <a:pt x="430530" y="633413"/>
                  <a:pt x="444818" y="621982"/>
                </a:cubicBezTo>
                <a:lnTo>
                  <a:pt x="444818" y="921068"/>
                </a:lnTo>
                <a:lnTo>
                  <a:pt x="35243" y="921068"/>
                </a:lnTo>
                <a:cubicBezTo>
                  <a:pt x="45720" y="894397"/>
                  <a:pt x="59055" y="868680"/>
                  <a:pt x="74295" y="844868"/>
                </a:cubicBezTo>
                <a:cubicBezTo>
                  <a:pt x="27623" y="777240"/>
                  <a:pt x="0" y="694372"/>
                  <a:pt x="0" y="604838"/>
                </a:cubicBezTo>
                <a:cubicBezTo>
                  <a:pt x="0" y="437197"/>
                  <a:pt x="96203" y="291465"/>
                  <a:pt x="238125" y="218122"/>
                </a:cubicBezTo>
                <a:cubicBezTo>
                  <a:pt x="187643" y="157163"/>
                  <a:pt x="154305" y="81915"/>
                  <a:pt x="14382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4" name="Freeform: Shape 9"/>
          <p:cNvSpPr/>
          <p:nvPr/>
        </p:nvSpPr>
        <p:spPr>
          <a:xfrm>
            <a:off x="3812026" y="3430251"/>
            <a:ext cx="598904" cy="1240040"/>
          </a:xfrm>
          <a:custGeom>
            <a:avLst/>
            <a:gdLst>
              <a:gd name="connsiteX0" fmla="*/ 953 w 445769"/>
              <a:gd name="connsiteY0" fmla="*/ 0 h 922972"/>
              <a:gd name="connsiteX1" fmla="*/ 301943 w 445769"/>
              <a:gd name="connsiteY1" fmla="*/ 0 h 922972"/>
              <a:gd name="connsiteX2" fmla="*/ 207645 w 445769"/>
              <a:gd name="connsiteY2" fmla="*/ 219075 h 922972"/>
              <a:gd name="connsiteX3" fmla="*/ 445770 w 445769"/>
              <a:gd name="connsiteY3" fmla="*/ 605790 h 922972"/>
              <a:gd name="connsiteX4" fmla="*/ 371475 w 445769"/>
              <a:gd name="connsiteY4" fmla="*/ 846772 h 922972"/>
              <a:gd name="connsiteX5" fmla="*/ 410528 w 445769"/>
              <a:gd name="connsiteY5" fmla="*/ 922972 h 922972"/>
              <a:gd name="connsiteX6" fmla="*/ 0 w 445769"/>
              <a:gd name="connsiteY6" fmla="*/ 922972 h 922972"/>
              <a:gd name="connsiteX7" fmla="*/ 0 w 445769"/>
              <a:gd name="connsiteY7" fmla="*/ 623888 h 922972"/>
              <a:gd name="connsiteX8" fmla="*/ 48578 w 445769"/>
              <a:gd name="connsiteY8" fmla="*/ 641032 h 922972"/>
              <a:gd name="connsiteX9" fmla="*/ 135255 w 445769"/>
              <a:gd name="connsiteY9" fmla="*/ 540068 h 922972"/>
              <a:gd name="connsiteX10" fmla="*/ 48578 w 445769"/>
              <a:gd name="connsiteY10" fmla="*/ 439103 h 922972"/>
              <a:gd name="connsiteX11" fmla="*/ 0 w 445769"/>
              <a:gd name="connsiteY11" fmla="*/ 456247 h 922972"/>
              <a:gd name="connsiteX12" fmla="*/ 0 w 445769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769" h="922972">
                <a:moveTo>
                  <a:pt x="953" y="0"/>
                </a:moveTo>
                <a:lnTo>
                  <a:pt x="301943" y="0"/>
                </a:lnTo>
                <a:cubicBezTo>
                  <a:pt x="291465" y="81915"/>
                  <a:pt x="258128" y="157163"/>
                  <a:pt x="207645" y="219075"/>
                </a:cubicBezTo>
                <a:cubicBezTo>
                  <a:pt x="349568" y="292417"/>
                  <a:pt x="445770" y="438150"/>
                  <a:pt x="445770" y="605790"/>
                </a:cubicBezTo>
                <a:cubicBezTo>
                  <a:pt x="445770" y="695325"/>
                  <a:pt x="418147" y="778193"/>
                  <a:pt x="371475" y="846772"/>
                </a:cubicBezTo>
                <a:cubicBezTo>
                  <a:pt x="386715" y="870585"/>
                  <a:pt x="400050" y="896303"/>
                  <a:pt x="410528" y="922972"/>
                </a:cubicBezTo>
                <a:lnTo>
                  <a:pt x="0" y="922972"/>
                </a:lnTo>
                <a:lnTo>
                  <a:pt x="0" y="623888"/>
                </a:lnTo>
                <a:cubicBezTo>
                  <a:pt x="13335" y="634365"/>
                  <a:pt x="30480" y="641032"/>
                  <a:pt x="48578" y="641032"/>
                </a:cubicBezTo>
                <a:cubicBezTo>
                  <a:pt x="101918" y="641032"/>
                  <a:pt x="135255" y="589597"/>
                  <a:pt x="135255" y="540068"/>
                </a:cubicBezTo>
                <a:cubicBezTo>
                  <a:pt x="135255" y="490538"/>
                  <a:pt x="101918" y="439103"/>
                  <a:pt x="48578" y="439103"/>
                </a:cubicBezTo>
                <a:cubicBezTo>
                  <a:pt x="30480" y="439103"/>
                  <a:pt x="13335" y="445770"/>
                  <a:pt x="0" y="4562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5" name="Freeform: Shape 13"/>
          <p:cNvSpPr/>
          <p:nvPr/>
        </p:nvSpPr>
        <p:spPr>
          <a:xfrm>
            <a:off x="468139" y="2146699"/>
            <a:ext cx="793419" cy="1238761"/>
          </a:xfrm>
          <a:custGeom>
            <a:avLst/>
            <a:gdLst>
              <a:gd name="connsiteX0" fmla="*/ 300990 w 590549"/>
              <a:gd name="connsiteY0" fmla="*/ 0 h 922020"/>
              <a:gd name="connsiteX1" fmla="*/ 590550 w 590549"/>
              <a:gd name="connsiteY1" fmla="*/ 0 h 922020"/>
              <a:gd name="connsiteX2" fmla="*/ 590550 w 590549"/>
              <a:gd name="connsiteY2" fmla="*/ 378142 h 922020"/>
              <a:gd name="connsiteX3" fmla="*/ 541020 w 590549"/>
              <a:gd name="connsiteY3" fmla="*/ 360045 h 922020"/>
              <a:gd name="connsiteX4" fmla="*/ 454343 w 590549"/>
              <a:gd name="connsiteY4" fmla="*/ 461010 h 922020"/>
              <a:gd name="connsiteX5" fmla="*/ 541020 w 590549"/>
              <a:gd name="connsiteY5" fmla="*/ 561975 h 922020"/>
              <a:gd name="connsiteX6" fmla="*/ 590550 w 590549"/>
              <a:gd name="connsiteY6" fmla="*/ 543878 h 922020"/>
              <a:gd name="connsiteX7" fmla="*/ 590550 w 590549"/>
              <a:gd name="connsiteY7" fmla="*/ 922020 h 922020"/>
              <a:gd name="connsiteX8" fmla="*/ 953 w 590549"/>
              <a:gd name="connsiteY8" fmla="*/ 922020 h 922020"/>
              <a:gd name="connsiteX9" fmla="*/ 0 w 590549"/>
              <a:gd name="connsiteY9" fmla="*/ 901065 h 922020"/>
              <a:gd name="connsiteX10" fmla="*/ 246697 w 590549"/>
              <a:gd name="connsiteY10" fmla="*/ 510540 h 922020"/>
              <a:gd name="connsiteX11" fmla="*/ 339090 w 590549"/>
              <a:gd name="connsiteY11" fmla="*/ 345758 h 922020"/>
              <a:gd name="connsiteX12" fmla="*/ 280988 w 590549"/>
              <a:gd name="connsiteY12" fmla="*/ 130493 h 922020"/>
              <a:gd name="connsiteX13" fmla="*/ 300990 w 590549"/>
              <a:gd name="connsiteY13" fmla="*/ 0 h 9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49" h="922020">
                <a:moveTo>
                  <a:pt x="300990" y="0"/>
                </a:moveTo>
                <a:lnTo>
                  <a:pt x="590550" y="0"/>
                </a:lnTo>
                <a:lnTo>
                  <a:pt x="590550" y="378142"/>
                </a:lnTo>
                <a:cubicBezTo>
                  <a:pt x="577215" y="366713"/>
                  <a:pt x="560070" y="360045"/>
                  <a:pt x="541020" y="360045"/>
                </a:cubicBezTo>
                <a:cubicBezTo>
                  <a:pt x="487680" y="360045"/>
                  <a:pt x="454343" y="411480"/>
                  <a:pt x="454343" y="461010"/>
                </a:cubicBezTo>
                <a:cubicBezTo>
                  <a:pt x="454343" y="510540"/>
                  <a:pt x="487680" y="561975"/>
                  <a:pt x="541020" y="561975"/>
                </a:cubicBezTo>
                <a:cubicBezTo>
                  <a:pt x="560070" y="561975"/>
                  <a:pt x="576263" y="555308"/>
                  <a:pt x="590550" y="543878"/>
                </a:cubicBezTo>
                <a:lnTo>
                  <a:pt x="590550" y="922020"/>
                </a:lnTo>
                <a:lnTo>
                  <a:pt x="953" y="922020"/>
                </a:lnTo>
                <a:cubicBezTo>
                  <a:pt x="953" y="915353"/>
                  <a:pt x="0" y="907733"/>
                  <a:pt x="0" y="901065"/>
                </a:cubicBezTo>
                <a:cubicBezTo>
                  <a:pt x="0" y="729615"/>
                  <a:pt x="100013" y="581978"/>
                  <a:pt x="246697" y="510540"/>
                </a:cubicBezTo>
                <a:cubicBezTo>
                  <a:pt x="264795" y="448628"/>
                  <a:pt x="297180" y="392430"/>
                  <a:pt x="339090" y="345758"/>
                </a:cubicBezTo>
                <a:cubicBezTo>
                  <a:pt x="301943" y="281940"/>
                  <a:pt x="280988" y="208598"/>
                  <a:pt x="280988" y="130493"/>
                </a:cubicBezTo>
                <a:cubicBezTo>
                  <a:pt x="280988" y="84773"/>
                  <a:pt x="287655" y="41910"/>
                  <a:pt x="30099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6" name="Freeform: Shape 14"/>
          <p:cNvSpPr/>
          <p:nvPr/>
        </p:nvSpPr>
        <p:spPr>
          <a:xfrm>
            <a:off x="3429391" y="2146699"/>
            <a:ext cx="793422" cy="1237480"/>
          </a:xfrm>
          <a:custGeom>
            <a:avLst/>
            <a:gdLst>
              <a:gd name="connsiteX0" fmla="*/ 0 w 590550"/>
              <a:gd name="connsiteY0" fmla="*/ 0 h 921067"/>
              <a:gd name="connsiteX1" fmla="*/ 289560 w 590550"/>
              <a:gd name="connsiteY1" fmla="*/ 0 h 921067"/>
              <a:gd name="connsiteX2" fmla="*/ 309563 w 590550"/>
              <a:gd name="connsiteY2" fmla="*/ 129540 h 921067"/>
              <a:gd name="connsiteX3" fmla="*/ 251460 w 590550"/>
              <a:gd name="connsiteY3" fmla="*/ 344805 h 921067"/>
              <a:gd name="connsiteX4" fmla="*/ 343853 w 590550"/>
              <a:gd name="connsiteY4" fmla="*/ 509588 h 921067"/>
              <a:gd name="connsiteX5" fmla="*/ 590550 w 590550"/>
              <a:gd name="connsiteY5" fmla="*/ 900113 h 921067"/>
              <a:gd name="connsiteX6" fmla="*/ 589597 w 590550"/>
              <a:gd name="connsiteY6" fmla="*/ 921068 h 921067"/>
              <a:gd name="connsiteX7" fmla="*/ 0 w 590550"/>
              <a:gd name="connsiteY7" fmla="*/ 921068 h 921067"/>
              <a:gd name="connsiteX8" fmla="*/ 0 w 590550"/>
              <a:gd name="connsiteY8" fmla="*/ 540068 h 921067"/>
              <a:gd name="connsiteX9" fmla="*/ 52388 w 590550"/>
              <a:gd name="connsiteY9" fmla="*/ 561023 h 921067"/>
              <a:gd name="connsiteX10" fmla="*/ 139065 w 590550"/>
              <a:gd name="connsiteY10" fmla="*/ 460058 h 921067"/>
              <a:gd name="connsiteX11" fmla="*/ 52388 w 590550"/>
              <a:gd name="connsiteY11" fmla="*/ 359092 h 921067"/>
              <a:gd name="connsiteX12" fmla="*/ 0 w 590550"/>
              <a:gd name="connsiteY12" fmla="*/ 380048 h 921067"/>
              <a:gd name="connsiteX13" fmla="*/ 0 w 590550"/>
              <a:gd name="connsiteY13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50" h="921067">
                <a:moveTo>
                  <a:pt x="0" y="0"/>
                </a:moveTo>
                <a:lnTo>
                  <a:pt x="289560" y="0"/>
                </a:lnTo>
                <a:cubicBezTo>
                  <a:pt x="302895" y="40958"/>
                  <a:pt x="309563" y="84773"/>
                  <a:pt x="309563" y="129540"/>
                </a:cubicBezTo>
                <a:cubicBezTo>
                  <a:pt x="309563" y="207645"/>
                  <a:pt x="288607" y="280988"/>
                  <a:pt x="251460" y="344805"/>
                </a:cubicBezTo>
                <a:cubicBezTo>
                  <a:pt x="293370" y="392430"/>
                  <a:pt x="324803" y="447675"/>
                  <a:pt x="343853" y="509588"/>
                </a:cubicBezTo>
                <a:cubicBezTo>
                  <a:pt x="490538" y="581025"/>
                  <a:pt x="590550" y="729615"/>
                  <a:pt x="590550" y="900113"/>
                </a:cubicBezTo>
                <a:cubicBezTo>
                  <a:pt x="590550" y="907733"/>
                  <a:pt x="590550" y="914400"/>
                  <a:pt x="589597" y="921068"/>
                </a:cubicBezTo>
                <a:lnTo>
                  <a:pt x="0" y="921068"/>
                </a:lnTo>
                <a:lnTo>
                  <a:pt x="0" y="540068"/>
                </a:lnTo>
                <a:cubicBezTo>
                  <a:pt x="14288" y="552450"/>
                  <a:pt x="32385" y="561023"/>
                  <a:pt x="52388" y="561023"/>
                </a:cubicBezTo>
                <a:cubicBezTo>
                  <a:pt x="105728" y="561023"/>
                  <a:pt x="139065" y="509588"/>
                  <a:pt x="139065" y="460058"/>
                </a:cubicBezTo>
                <a:cubicBezTo>
                  <a:pt x="139065" y="410528"/>
                  <a:pt x="105728" y="359092"/>
                  <a:pt x="52388" y="359092"/>
                </a:cubicBezTo>
                <a:cubicBezTo>
                  <a:pt x="32385" y="359092"/>
                  <a:pt x="14288" y="366713"/>
                  <a:pt x="0" y="38004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7" name="Freeform: Shape 137"/>
          <p:cNvSpPr/>
          <p:nvPr/>
        </p:nvSpPr>
        <p:spPr>
          <a:xfrm>
            <a:off x="1122072" y="2146699"/>
            <a:ext cx="1201648" cy="1423039"/>
          </a:xfrm>
          <a:custGeom>
            <a:avLst/>
            <a:gdLst>
              <a:gd name="connsiteX0" fmla="*/ 552008 w 1034602"/>
              <a:gd name="connsiteY0" fmla="*/ 1067658 h 1225217"/>
              <a:gd name="connsiteX1" fmla="*/ 640153 w 1034602"/>
              <a:gd name="connsiteY1" fmla="*/ 1067658 h 1225217"/>
              <a:gd name="connsiteX2" fmla="*/ 640153 w 1034602"/>
              <a:gd name="connsiteY2" fmla="*/ 1110628 h 1225217"/>
              <a:gd name="connsiteX3" fmla="*/ 675411 w 1034602"/>
              <a:gd name="connsiteY3" fmla="*/ 1162414 h 1225217"/>
              <a:gd name="connsiteX4" fmla="*/ 596081 w 1034602"/>
              <a:gd name="connsiteY4" fmla="*/ 1225217 h 1225217"/>
              <a:gd name="connsiteX5" fmla="*/ 516750 w 1034602"/>
              <a:gd name="connsiteY5" fmla="*/ 1162414 h 1225217"/>
              <a:gd name="connsiteX6" fmla="*/ 552008 w 1034602"/>
              <a:gd name="connsiteY6" fmla="*/ 1110628 h 1225217"/>
              <a:gd name="connsiteX7" fmla="*/ 157558 w 1034602"/>
              <a:gd name="connsiteY7" fmla="*/ 0 h 1225217"/>
              <a:gd name="connsiteX8" fmla="*/ 500223 w 1034602"/>
              <a:gd name="connsiteY8" fmla="*/ 0 h 1225217"/>
              <a:gd name="connsiteX9" fmla="*/ 479288 w 1034602"/>
              <a:gd name="connsiteY9" fmla="*/ 57294 h 1225217"/>
              <a:gd name="connsiteX10" fmla="*/ 596080 w 1034602"/>
              <a:gd name="connsiteY10" fmla="*/ 157560 h 1225217"/>
              <a:gd name="connsiteX11" fmla="*/ 712873 w 1034602"/>
              <a:gd name="connsiteY11" fmla="*/ 57294 h 1225217"/>
              <a:gd name="connsiteX12" fmla="*/ 691939 w 1034602"/>
              <a:gd name="connsiteY12" fmla="*/ 0 h 1225217"/>
              <a:gd name="connsiteX13" fmla="*/ 1034602 w 1034602"/>
              <a:gd name="connsiteY13" fmla="*/ 0 h 1225217"/>
              <a:gd name="connsiteX14" fmla="*/ 1034602 w 1034602"/>
              <a:gd name="connsiteY14" fmla="*/ 1066556 h 1225217"/>
              <a:gd name="connsiteX15" fmla="*/ 157558 w 1034602"/>
              <a:gd name="connsiteY15" fmla="*/ 1066556 h 1225217"/>
              <a:gd name="connsiteX16" fmla="*/ 157558 w 1034602"/>
              <a:gd name="connsiteY16" fmla="*/ 575147 h 1225217"/>
              <a:gd name="connsiteX17" fmla="*/ 114589 w 1034602"/>
              <a:gd name="connsiteY17" fmla="*/ 575147 h 1225217"/>
              <a:gd name="connsiteX18" fmla="*/ 62803 w 1034602"/>
              <a:gd name="connsiteY18" fmla="*/ 610405 h 1225217"/>
              <a:gd name="connsiteX19" fmla="*/ 0 w 1034602"/>
              <a:gd name="connsiteY19" fmla="*/ 531075 h 1225217"/>
              <a:gd name="connsiteX20" fmla="*/ 62803 w 1034602"/>
              <a:gd name="connsiteY20" fmla="*/ 451744 h 1225217"/>
              <a:gd name="connsiteX21" fmla="*/ 114589 w 1034602"/>
              <a:gd name="connsiteY21" fmla="*/ 487002 h 1225217"/>
              <a:gd name="connsiteX22" fmla="*/ 157558 w 1034602"/>
              <a:gd name="connsiteY22" fmla="*/ 487002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2" h="1225217">
                <a:moveTo>
                  <a:pt x="552008" y="1067658"/>
                </a:moveTo>
                <a:lnTo>
                  <a:pt x="640153" y="1067658"/>
                </a:lnTo>
                <a:lnTo>
                  <a:pt x="640153" y="1110628"/>
                </a:lnTo>
                <a:cubicBezTo>
                  <a:pt x="661088" y="1121646"/>
                  <a:pt x="675411" y="1141479"/>
                  <a:pt x="675411" y="1162414"/>
                </a:cubicBezTo>
                <a:cubicBezTo>
                  <a:pt x="675411" y="1196570"/>
                  <a:pt x="640153" y="1225217"/>
                  <a:pt x="596081" y="1225217"/>
                </a:cubicBezTo>
                <a:cubicBezTo>
                  <a:pt x="552008" y="1225217"/>
                  <a:pt x="516750" y="1197672"/>
                  <a:pt x="516750" y="1162414"/>
                </a:cubicBezTo>
                <a:cubicBezTo>
                  <a:pt x="516750" y="1140378"/>
                  <a:pt x="531074" y="1121646"/>
                  <a:pt x="552008" y="1110628"/>
                </a:cubicBezTo>
                <a:close/>
                <a:moveTo>
                  <a:pt x="157558" y="0"/>
                </a:moveTo>
                <a:lnTo>
                  <a:pt x="500223" y="0"/>
                </a:lnTo>
                <a:cubicBezTo>
                  <a:pt x="487001" y="15426"/>
                  <a:pt x="479288" y="35258"/>
                  <a:pt x="479288" y="57294"/>
                </a:cubicBezTo>
                <a:cubicBezTo>
                  <a:pt x="479288" y="118996"/>
                  <a:pt x="538786" y="157560"/>
                  <a:pt x="596080" y="157560"/>
                </a:cubicBezTo>
                <a:cubicBezTo>
                  <a:pt x="653375" y="157560"/>
                  <a:pt x="712873" y="118996"/>
                  <a:pt x="712873" y="57294"/>
                </a:cubicBezTo>
                <a:cubicBezTo>
                  <a:pt x="712873" y="35258"/>
                  <a:pt x="705160" y="16528"/>
                  <a:pt x="691939" y="0"/>
                </a:cubicBezTo>
                <a:lnTo>
                  <a:pt x="1034602" y="0"/>
                </a:lnTo>
                <a:lnTo>
                  <a:pt x="1034602" y="1066556"/>
                </a:lnTo>
                <a:lnTo>
                  <a:pt x="157558" y="1066556"/>
                </a:lnTo>
                <a:lnTo>
                  <a:pt x="157558" y="575147"/>
                </a:lnTo>
                <a:lnTo>
                  <a:pt x="114589" y="575147"/>
                </a:lnTo>
                <a:cubicBezTo>
                  <a:pt x="103570" y="596082"/>
                  <a:pt x="84839" y="610405"/>
                  <a:pt x="62803" y="610405"/>
                </a:cubicBezTo>
                <a:cubicBezTo>
                  <a:pt x="27546" y="610405"/>
                  <a:pt x="0" y="575147"/>
                  <a:pt x="0" y="531075"/>
                </a:cubicBezTo>
                <a:cubicBezTo>
                  <a:pt x="0" y="487002"/>
                  <a:pt x="28647" y="451744"/>
                  <a:pt x="62803" y="451744"/>
                </a:cubicBezTo>
                <a:cubicBezTo>
                  <a:pt x="83738" y="451744"/>
                  <a:pt x="103570" y="466068"/>
                  <a:pt x="114589" y="487002"/>
                </a:cubicBezTo>
                <a:lnTo>
                  <a:pt x="157558" y="487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8" name="Freeform: Shape 140"/>
          <p:cNvSpPr/>
          <p:nvPr/>
        </p:nvSpPr>
        <p:spPr>
          <a:xfrm>
            <a:off x="2368510" y="1138286"/>
            <a:ext cx="1018652" cy="1147902"/>
          </a:xfrm>
          <a:custGeom>
            <a:avLst/>
            <a:gdLst>
              <a:gd name="connsiteX0" fmla="*/ 393349 w 877045"/>
              <a:gd name="connsiteY0" fmla="*/ 830769 h 988328"/>
              <a:gd name="connsiteX1" fmla="*/ 481494 w 877045"/>
              <a:gd name="connsiteY1" fmla="*/ 830769 h 988328"/>
              <a:gd name="connsiteX2" fmla="*/ 481494 w 877045"/>
              <a:gd name="connsiteY2" fmla="*/ 873739 h 988328"/>
              <a:gd name="connsiteX3" fmla="*/ 516752 w 877045"/>
              <a:gd name="connsiteY3" fmla="*/ 925525 h 988328"/>
              <a:gd name="connsiteX4" fmla="*/ 437422 w 877045"/>
              <a:gd name="connsiteY4" fmla="*/ 988328 h 988328"/>
              <a:gd name="connsiteX5" fmla="*/ 358091 w 877045"/>
              <a:gd name="connsiteY5" fmla="*/ 925525 h 988328"/>
              <a:gd name="connsiteX6" fmla="*/ 393349 w 877045"/>
              <a:gd name="connsiteY6" fmla="*/ 873739 h 988328"/>
              <a:gd name="connsiteX7" fmla="*/ 243502 w 877045"/>
              <a:gd name="connsiteY7" fmla="*/ 0 h 988328"/>
              <a:gd name="connsiteX8" fmla="*/ 322832 w 877045"/>
              <a:gd name="connsiteY8" fmla="*/ 62804 h 988328"/>
              <a:gd name="connsiteX9" fmla="*/ 287574 w 877045"/>
              <a:gd name="connsiteY9" fmla="*/ 114589 h 988328"/>
              <a:gd name="connsiteX10" fmla="*/ 287574 w 877045"/>
              <a:gd name="connsiteY10" fmla="*/ 157560 h 988328"/>
              <a:gd name="connsiteX11" fmla="*/ 599388 w 877045"/>
              <a:gd name="connsiteY11" fmla="*/ 157560 h 988328"/>
              <a:gd name="connsiteX12" fmla="*/ 877045 w 877045"/>
              <a:gd name="connsiteY12" fmla="*/ 277657 h 988328"/>
              <a:gd name="connsiteX13" fmla="*/ 877045 w 877045"/>
              <a:gd name="connsiteY13" fmla="*/ 452846 h 988328"/>
              <a:gd name="connsiteX14" fmla="*/ 819751 w 877045"/>
              <a:gd name="connsiteY14" fmla="*/ 431911 h 988328"/>
              <a:gd name="connsiteX15" fmla="*/ 719485 w 877045"/>
              <a:gd name="connsiteY15" fmla="*/ 548703 h 988328"/>
              <a:gd name="connsiteX16" fmla="*/ 819751 w 877045"/>
              <a:gd name="connsiteY16" fmla="*/ 665496 h 988328"/>
              <a:gd name="connsiteX17" fmla="*/ 877045 w 877045"/>
              <a:gd name="connsiteY17" fmla="*/ 644561 h 988328"/>
              <a:gd name="connsiteX18" fmla="*/ 877045 w 877045"/>
              <a:gd name="connsiteY18" fmla="*/ 830768 h 988328"/>
              <a:gd name="connsiteX19" fmla="*/ 0 w 877045"/>
              <a:gd name="connsiteY19" fmla="*/ 830768 h 988328"/>
              <a:gd name="connsiteX20" fmla="*/ 0 w 877045"/>
              <a:gd name="connsiteY20" fmla="*/ 157560 h 988328"/>
              <a:gd name="connsiteX21" fmla="*/ 199429 w 877045"/>
              <a:gd name="connsiteY21" fmla="*/ 157560 h 988328"/>
              <a:gd name="connsiteX22" fmla="*/ 199429 w 877045"/>
              <a:gd name="connsiteY22" fmla="*/ 114589 h 988328"/>
              <a:gd name="connsiteX23" fmla="*/ 164171 w 877045"/>
              <a:gd name="connsiteY23" fmla="*/ 62804 h 988328"/>
              <a:gd name="connsiteX24" fmla="*/ 243502 w 877045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5" h="988328">
                <a:moveTo>
                  <a:pt x="393349" y="830769"/>
                </a:moveTo>
                <a:lnTo>
                  <a:pt x="481494" y="830769"/>
                </a:lnTo>
                <a:lnTo>
                  <a:pt x="481494" y="873739"/>
                </a:lnTo>
                <a:cubicBezTo>
                  <a:pt x="502429" y="884757"/>
                  <a:pt x="516752" y="904590"/>
                  <a:pt x="516752" y="925525"/>
                </a:cubicBezTo>
                <a:cubicBezTo>
                  <a:pt x="516752" y="959681"/>
                  <a:pt x="481494" y="988328"/>
                  <a:pt x="437422" y="988328"/>
                </a:cubicBezTo>
                <a:cubicBezTo>
                  <a:pt x="393349" y="988328"/>
                  <a:pt x="358091" y="960783"/>
                  <a:pt x="358091" y="925525"/>
                </a:cubicBezTo>
                <a:cubicBezTo>
                  <a:pt x="358091" y="903489"/>
                  <a:pt x="372415" y="884757"/>
                  <a:pt x="393349" y="873739"/>
                </a:cubicBezTo>
                <a:close/>
                <a:moveTo>
                  <a:pt x="243502" y="0"/>
                </a:moveTo>
                <a:cubicBezTo>
                  <a:pt x="287574" y="0"/>
                  <a:pt x="322832" y="28647"/>
                  <a:pt x="322832" y="62804"/>
                </a:cubicBezTo>
                <a:cubicBezTo>
                  <a:pt x="322832" y="83738"/>
                  <a:pt x="308508" y="103571"/>
                  <a:pt x="287574" y="114589"/>
                </a:cubicBezTo>
                <a:lnTo>
                  <a:pt x="287574" y="157560"/>
                </a:lnTo>
                <a:lnTo>
                  <a:pt x="599388" y="157560"/>
                </a:lnTo>
                <a:cubicBezTo>
                  <a:pt x="708467" y="160865"/>
                  <a:pt x="806528" y="206040"/>
                  <a:pt x="877045" y="277657"/>
                </a:cubicBezTo>
                <a:lnTo>
                  <a:pt x="877045" y="452846"/>
                </a:lnTo>
                <a:cubicBezTo>
                  <a:pt x="861619" y="439624"/>
                  <a:pt x="841787" y="431911"/>
                  <a:pt x="819751" y="431911"/>
                </a:cubicBezTo>
                <a:cubicBezTo>
                  <a:pt x="758048" y="431911"/>
                  <a:pt x="719485" y="491410"/>
                  <a:pt x="719485" y="548703"/>
                </a:cubicBezTo>
                <a:cubicBezTo>
                  <a:pt x="719485" y="605999"/>
                  <a:pt x="758048" y="665496"/>
                  <a:pt x="819751" y="665496"/>
                </a:cubicBezTo>
                <a:cubicBezTo>
                  <a:pt x="841787" y="665496"/>
                  <a:pt x="860518" y="657783"/>
                  <a:pt x="877045" y="644561"/>
                </a:cubicBezTo>
                <a:lnTo>
                  <a:pt x="877045" y="830768"/>
                </a:lnTo>
                <a:lnTo>
                  <a:pt x="0" y="830768"/>
                </a:lnTo>
                <a:lnTo>
                  <a:pt x="0" y="157560"/>
                </a:lnTo>
                <a:lnTo>
                  <a:pt x="199429" y="157560"/>
                </a:lnTo>
                <a:lnTo>
                  <a:pt x="199429" y="114589"/>
                </a:lnTo>
                <a:cubicBezTo>
                  <a:pt x="178494" y="103571"/>
                  <a:pt x="164171" y="84840"/>
                  <a:pt x="164171" y="62804"/>
                </a:cubicBezTo>
                <a:cubicBezTo>
                  <a:pt x="164171" y="27546"/>
                  <a:pt x="199429" y="0"/>
                  <a:pt x="24350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9" name="Freeform: Shape 138"/>
          <p:cNvSpPr/>
          <p:nvPr/>
        </p:nvSpPr>
        <p:spPr>
          <a:xfrm>
            <a:off x="889163" y="1511962"/>
            <a:ext cx="555397" cy="591227"/>
          </a:xfrm>
          <a:custGeom>
            <a:avLst/>
            <a:gdLst>
              <a:gd name="connsiteX0" fmla="*/ 415385 w 478189"/>
              <a:gd name="connsiteY0" fmla="*/ 147645 h 509038"/>
              <a:gd name="connsiteX1" fmla="*/ 478189 w 478189"/>
              <a:gd name="connsiteY1" fmla="*/ 226976 h 509038"/>
              <a:gd name="connsiteX2" fmla="*/ 415385 w 478189"/>
              <a:gd name="connsiteY2" fmla="*/ 306306 h 509038"/>
              <a:gd name="connsiteX3" fmla="*/ 363601 w 478189"/>
              <a:gd name="connsiteY3" fmla="*/ 271048 h 509038"/>
              <a:gd name="connsiteX4" fmla="*/ 320629 w 478189"/>
              <a:gd name="connsiteY4" fmla="*/ 271048 h 509038"/>
              <a:gd name="connsiteX5" fmla="*/ 320629 w 478189"/>
              <a:gd name="connsiteY5" fmla="*/ 182903 h 509038"/>
              <a:gd name="connsiteX6" fmla="*/ 363601 w 478189"/>
              <a:gd name="connsiteY6" fmla="*/ 182903 h 509038"/>
              <a:gd name="connsiteX7" fmla="*/ 415385 w 478189"/>
              <a:gd name="connsiteY7" fmla="*/ 147645 h 509038"/>
              <a:gd name="connsiteX8" fmla="*/ 320628 w 478189"/>
              <a:gd name="connsiteY8" fmla="*/ 0 h 509038"/>
              <a:gd name="connsiteX9" fmla="*/ 320628 w 478189"/>
              <a:gd name="connsiteY9" fmla="*/ 509038 h 509038"/>
              <a:gd name="connsiteX10" fmla="*/ 0 w 478189"/>
              <a:gd name="connsiteY10" fmla="*/ 509038 h 509038"/>
              <a:gd name="connsiteX11" fmla="*/ 247909 w 478189"/>
              <a:gd name="connsiteY11" fmla="*/ 244603 h 509038"/>
              <a:gd name="connsiteX12" fmla="*/ 247909 w 478189"/>
              <a:gd name="connsiteY12" fmla="*/ 225873 h 509038"/>
              <a:gd name="connsiteX13" fmla="*/ 320628 w 478189"/>
              <a:gd name="connsiteY13" fmla="*/ 0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8189" h="509038">
                <a:moveTo>
                  <a:pt x="415385" y="147645"/>
                </a:moveTo>
                <a:cubicBezTo>
                  <a:pt x="449542" y="147645"/>
                  <a:pt x="478189" y="182903"/>
                  <a:pt x="478189" y="226976"/>
                </a:cubicBezTo>
                <a:cubicBezTo>
                  <a:pt x="478189" y="271048"/>
                  <a:pt x="450643" y="306306"/>
                  <a:pt x="415385" y="306306"/>
                </a:cubicBezTo>
                <a:cubicBezTo>
                  <a:pt x="393349" y="306306"/>
                  <a:pt x="374619" y="291982"/>
                  <a:pt x="363601" y="271048"/>
                </a:cubicBezTo>
                <a:lnTo>
                  <a:pt x="320629" y="271048"/>
                </a:lnTo>
                <a:lnTo>
                  <a:pt x="320629" y="182903"/>
                </a:lnTo>
                <a:lnTo>
                  <a:pt x="363601" y="182903"/>
                </a:lnTo>
                <a:cubicBezTo>
                  <a:pt x="374619" y="161969"/>
                  <a:pt x="394451" y="147645"/>
                  <a:pt x="415385" y="147645"/>
                </a:cubicBezTo>
                <a:close/>
                <a:moveTo>
                  <a:pt x="320628" y="0"/>
                </a:moveTo>
                <a:lnTo>
                  <a:pt x="320628" y="509038"/>
                </a:lnTo>
                <a:lnTo>
                  <a:pt x="0" y="509038"/>
                </a:lnTo>
                <a:cubicBezTo>
                  <a:pt x="47379" y="394449"/>
                  <a:pt x="135524" y="300796"/>
                  <a:pt x="247909" y="244603"/>
                </a:cubicBezTo>
                <a:cubicBezTo>
                  <a:pt x="247909" y="237992"/>
                  <a:pt x="247909" y="232482"/>
                  <a:pt x="247909" y="225873"/>
                </a:cubicBezTo>
                <a:cubicBezTo>
                  <a:pt x="246806" y="142135"/>
                  <a:pt x="274352" y="63905"/>
                  <a:pt x="32062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0" name="Freeform: Shape 139"/>
          <p:cNvSpPr/>
          <p:nvPr/>
        </p:nvSpPr>
        <p:spPr>
          <a:xfrm>
            <a:off x="1305069" y="1138286"/>
            <a:ext cx="1018651" cy="1147902"/>
          </a:xfrm>
          <a:custGeom>
            <a:avLst/>
            <a:gdLst>
              <a:gd name="connsiteX0" fmla="*/ 394450 w 877044"/>
              <a:gd name="connsiteY0" fmla="*/ 830769 h 988328"/>
              <a:gd name="connsiteX1" fmla="*/ 482595 w 877044"/>
              <a:gd name="connsiteY1" fmla="*/ 830769 h 988328"/>
              <a:gd name="connsiteX2" fmla="*/ 482595 w 877044"/>
              <a:gd name="connsiteY2" fmla="*/ 873739 h 988328"/>
              <a:gd name="connsiteX3" fmla="*/ 517853 w 877044"/>
              <a:gd name="connsiteY3" fmla="*/ 925525 h 988328"/>
              <a:gd name="connsiteX4" fmla="*/ 438523 w 877044"/>
              <a:gd name="connsiteY4" fmla="*/ 988328 h 988328"/>
              <a:gd name="connsiteX5" fmla="*/ 359192 w 877044"/>
              <a:gd name="connsiteY5" fmla="*/ 925525 h 988328"/>
              <a:gd name="connsiteX6" fmla="*/ 394450 w 877044"/>
              <a:gd name="connsiteY6" fmla="*/ 873739 h 988328"/>
              <a:gd name="connsiteX7" fmla="*/ 632442 w 877044"/>
              <a:gd name="connsiteY7" fmla="*/ 0 h 988328"/>
              <a:gd name="connsiteX8" fmla="*/ 711772 w 877044"/>
              <a:gd name="connsiteY8" fmla="*/ 62804 h 988328"/>
              <a:gd name="connsiteX9" fmla="*/ 676514 w 877044"/>
              <a:gd name="connsiteY9" fmla="*/ 114589 h 988328"/>
              <a:gd name="connsiteX10" fmla="*/ 676514 w 877044"/>
              <a:gd name="connsiteY10" fmla="*/ 157560 h 988328"/>
              <a:gd name="connsiteX11" fmla="*/ 877044 w 877044"/>
              <a:gd name="connsiteY11" fmla="*/ 157560 h 988328"/>
              <a:gd name="connsiteX12" fmla="*/ 877044 w 877044"/>
              <a:gd name="connsiteY12" fmla="*/ 830768 h 988328"/>
              <a:gd name="connsiteX13" fmla="*/ 0 w 877044"/>
              <a:gd name="connsiteY13" fmla="*/ 830768 h 988328"/>
              <a:gd name="connsiteX14" fmla="*/ 0 w 877044"/>
              <a:gd name="connsiteY14" fmla="*/ 645664 h 988328"/>
              <a:gd name="connsiteX15" fmla="*/ 57295 w 877044"/>
              <a:gd name="connsiteY15" fmla="*/ 666598 h 988328"/>
              <a:gd name="connsiteX16" fmla="*/ 157560 w 877044"/>
              <a:gd name="connsiteY16" fmla="*/ 549805 h 988328"/>
              <a:gd name="connsiteX17" fmla="*/ 57295 w 877044"/>
              <a:gd name="connsiteY17" fmla="*/ 433013 h 988328"/>
              <a:gd name="connsiteX18" fmla="*/ 0 w 877044"/>
              <a:gd name="connsiteY18" fmla="*/ 453947 h 988328"/>
              <a:gd name="connsiteX19" fmla="*/ 0 w 877044"/>
              <a:gd name="connsiteY19" fmla="*/ 277657 h 988328"/>
              <a:gd name="connsiteX20" fmla="*/ 276555 w 877044"/>
              <a:gd name="connsiteY20" fmla="*/ 157560 h 988328"/>
              <a:gd name="connsiteX21" fmla="*/ 588369 w 877044"/>
              <a:gd name="connsiteY21" fmla="*/ 157560 h 988328"/>
              <a:gd name="connsiteX22" fmla="*/ 588369 w 877044"/>
              <a:gd name="connsiteY22" fmla="*/ 114589 h 988328"/>
              <a:gd name="connsiteX23" fmla="*/ 553111 w 877044"/>
              <a:gd name="connsiteY23" fmla="*/ 62804 h 988328"/>
              <a:gd name="connsiteX24" fmla="*/ 632442 w 877044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4" h="988328">
                <a:moveTo>
                  <a:pt x="394450" y="830769"/>
                </a:moveTo>
                <a:lnTo>
                  <a:pt x="482595" y="830769"/>
                </a:lnTo>
                <a:lnTo>
                  <a:pt x="482595" y="873739"/>
                </a:lnTo>
                <a:cubicBezTo>
                  <a:pt x="503530" y="884757"/>
                  <a:pt x="517853" y="904590"/>
                  <a:pt x="517853" y="925525"/>
                </a:cubicBezTo>
                <a:cubicBezTo>
                  <a:pt x="517853" y="959681"/>
                  <a:pt x="482595" y="988328"/>
                  <a:pt x="438523" y="988328"/>
                </a:cubicBezTo>
                <a:cubicBezTo>
                  <a:pt x="394450" y="988328"/>
                  <a:pt x="359192" y="960783"/>
                  <a:pt x="359192" y="925525"/>
                </a:cubicBezTo>
                <a:cubicBezTo>
                  <a:pt x="359192" y="903489"/>
                  <a:pt x="373516" y="884757"/>
                  <a:pt x="394450" y="873739"/>
                </a:cubicBezTo>
                <a:close/>
                <a:moveTo>
                  <a:pt x="632442" y="0"/>
                </a:moveTo>
                <a:cubicBezTo>
                  <a:pt x="676514" y="0"/>
                  <a:pt x="711772" y="28647"/>
                  <a:pt x="711772" y="62804"/>
                </a:cubicBezTo>
                <a:cubicBezTo>
                  <a:pt x="711772" y="83738"/>
                  <a:pt x="697448" y="103571"/>
                  <a:pt x="676514" y="114589"/>
                </a:cubicBezTo>
                <a:lnTo>
                  <a:pt x="676514" y="157560"/>
                </a:lnTo>
                <a:lnTo>
                  <a:pt x="877044" y="157560"/>
                </a:lnTo>
                <a:lnTo>
                  <a:pt x="877044" y="830768"/>
                </a:lnTo>
                <a:lnTo>
                  <a:pt x="0" y="830768"/>
                </a:lnTo>
                <a:lnTo>
                  <a:pt x="0" y="645664"/>
                </a:lnTo>
                <a:cubicBezTo>
                  <a:pt x="15426" y="658884"/>
                  <a:pt x="35258" y="666598"/>
                  <a:pt x="57295" y="666598"/>
                </a:cubicBezTo>
                <a:cubicBezTo>
                  <a:pt x="118996" y="666598"/>
                  <a:pt x="157560" y="607100"/>
                  <a:pt x="157560" y="549805"/>
                </a:cubicBezTo>
                <a:cubicBezTo>
                  <a:pt x="157560" y="492511"/>
                  <a:pt x="118996" y="433013"/>
                  <a:pt x="57295" y="433013"/>
                </a:cubicBezTo>
                <a:cubicBezTo>
                  <a:pt x="35258" y="433013"/>
                  <a:pt x="16528" y="440727"/>
                  <a:pt x="0" y="453947"/>
                </a:cubicBezTo>
                <a:lnTo>
                  <a:pt x="0" y="277657"/>
                </a:lnTo>
                <a:cubicBezTo>
                  <a:pt x="70516" y="206040"/>
                  <a:pt x="168578" y="160865"/>
                  <a:pt x="276555" y="157560"/>
                </a:cubicBezTo>
                <a:lnTo>
                  <a:pt x="588369" y="157560"/>
                </a:lnTo>
                <a:lnTo>
                  <a:pt x="588369" y="114589"/>
                </a:lnTo>
                <a:cubicBezTo>
                  <a:pt x="567435" y="103571"/>
                  <a:pt x="553111" y="84840"/>
                  <a:pt x="553111" y="62804"/>
                </a:cubicBezTo>
                <a:cubicBezTo>
                  <a:pt x="553111" y="27546"/>
                  <a:pt x="588369" y="0"/>
                  <a:pt x="63244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1" name="Freeform: Shape 20"/>
          <p:cNvSpPr/>
          <p:nvPr/>
        </p:nvSpPr>
        <p:spPr>
          <a:xfrm>
            <a:off x="1646754" y="864430"/>
            <a:ext cx="676967" cy="413346"/>
          </a:xfrm>
          <a:custGeom>
            <a:avLst/>
            <a:gdLst>
              <a:gd name="connsiteX0" fmla="*/ 503872 w 503872"/>
              <a:gd name="connsiteY0" fmla="*/ 0 h 307657"/>
              <a:gd name="connsiteX1" fmla="*/ 503872 w 503872"/>
              <a:gd name="connsiteY1" fmla="*/ 307658 h 307657"/>
              <a:gd name="connsiteX2" fmla="*/ 375285 w 503872"/>
              <a:gd name="connsiteY2" fmla="*/ 307658 h 307657"/>
              <a:gd name="connsiteX3" fmla="*/ 393383 w 503872"/>
              <a:gd name="connsiteY3" fmla="*/ 258128 h 307657"/>
              <a:gd name="connsiteX4" fmla="*/ 292417 w 503872"/>
              <a:gd name="connsiteY4" fmla="*/ 171450 h 307657"/>
              <a:gd name="connsiteX5" fmla="*/ 191452 w 503872"/>
              <a:gd name="connsiteY5" fmla="*/ 258128 h 307657"/>
              <a:gd name="connsiteX6" fmla="*/ 209550 w 503872"/>
              <a:gd name="connsiteY6" fmla="*/ 307658 h 307657"/>
              <a:gd name="connsiteX7" fmla="*/ 0 w 503872"/>
              <a:gd name="connsiteY7" fmla="*/ 307658 h 307657"/>
              <a:gd name="connsiteX8" fmla="*/ 503872 w 503872"/>
              <a:gd name="connsiteY8" fmla="*/ 0 h 307657"/>
              <a:gd name="connsiteX9" fmla="*/ 503872 w 503872"/>
              <a:gd name="connsiteY9" fmla="*/ 0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872" h="307657">
                <a:moveTo>
                  <a:pt x="503872" y="0"/>
                </a:moveTo>
                <a:lnTo>
                  <a:pt x="503872" y="307658"/>
                </a:lnTo>
                <a:lnTo>
                  <a:pt x="375285" y="307658"/>
                </a:lnTo>
                <a:cubicBezTo>
                  <a:pt x="386715" y="294323"/>
                  <a:pt x="393383" y="277178"/>
                  <a:pt x="393383" y="258128"/>
                </a:cubicBezTo>
                <a:cubicBezTo>
                  <a:pt x="393383" y="204788"/>
                  <a:pt x="341947" y="171450"/>
                  <a:pt x="292417" y="171450"/>
                </a:cubicBezTo>
                <a:cubicBezTo>
                  <a:pt x="242888" y="171450"/>
                  <a:pt x="191452" y="204788"/>
                  <a:pt x="191452" y="258128"/>
                </a:cubicBezTo>
                <a:cubicBezTo>
                  <a:pt x="191452" y="277178"/>
                  <a:pt x="198120" y="293370"/>
                  <a:pt x="209550" y="307658"/>
                </a:cubicBezTo>
                <a:lnTo>
                  <a:pt x="0" y="307658"/>
                </a:lnTo>
                <a:cubicBezTo>
                  <a:pt x="91440" y="125730"/>
                  <a:pt x="282892" y="0"/>
                  <a:pt x="503872" y="0"/>
                </a:cubicBezTo>
                <a:lnTo>
                  <a:pt x="503872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2" name="Freeform: Shape 21"/>
          <p:cNvSpPr/>
          <p:nvPr/>
        </p:nvSpPr>
        <p:spPr>
          <a:xfrm>
            <a:off x="2368510" y="864430"/>
            <a:ext cx="675688" cy="413346"/>
          </a:xfrm>
          <a:custGeom>
            <a:avLst/>
            <a:gdLst>
              <a:gd name="connsiteX0" fmla="*/ 502920 w 502920"/>
              <a:gd name="connsiteY0" fmla="*/ 307658 h 307657"/>
              <a:gd name="connsiteX1" fmla="*/ 293370 w 502920"/>
              <a:gd name="connsiteY1" fmla="*/ 307658 h 307657"/>
              <a:gd name="connsiteX2" fmla="*/ 311467 w 502920"/>
              <a:gd name="connsiteY2" fmla="*/ 258128 h 307657"/>
              <a:gd name="connsiteX3" fmla="*/ 210503 w 502920"/>
              <a:gd name="connsiteY3" fmla="*/ 171450 h 307657"/>
              <a:gd name="connsiteX4" fmla="*/ 109538 w 502920"/>
              <a:gd name="connsiteY4" fmla="*/ 258128 h 307657"/>
              <a:gd name="connsiteX5" fmla="*/ 127635 w 502920"/>
              <a:gd name="connsiteY5" fmla="*/ 307658 h 307657"/>
              <a:gd name="connsiteX6" fmla="*/ 0 w 502920"/>
              <a:gd name="connsiteY6" fmla="*/ 307658 h 307657"/>
              <a:gd name="connsiteX7" fmla="*/ 0 w 502920"/>
              <a:gd name="connsiteY7" fmla="*/ 0 h 307657"/>
              <a:gd name="connsiteX8" fmla="*/ 0 w 502920"/>
              <a:gd name="connsiteY8" fmla="*/ 0 h 307657"/>
              <a:gd name="connsiteX9" fmla="*/ 502920 w 502920"/>
              <a:gd name="connsiteY9" fmla="*/ 307658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920" h="307657">
                <a:moveTo>
                  <a:pt x="502920" y="307658"/>
                </a:moveTo>
                <a:lnTo>
                  <a:pt x="293370" y="307658"/>
                </a:lnTo>
                <a:cubicBezTo>
                  <a:pt x="304800" y="294323"/>
                  <a:pt x="311467" y="277178"/>
                  <a:pt x="311467" y="258128"/>
                </a:cubicBezTo>
                <a:cubicBezTo>
                  <a:pt x="311467" y="204788"/>
                  <a:pt x="260033" y="171450"/>
                  <a:pt x="210503" y="171450"/>
                </a:cubicBezTo>
                <a:cubicBezTo>
                  <a:pt x="160973" y="171450"/>
                  <a:pt x="109538" y="204788"/>
                  <a:pt x="109538" y="258128"/>
                </a:cubicBezTo>
                <a:cubicBezTo>
                  <a:pt x="109538" y="277178"/>
                  <a:pt x="116205" y="293370"/>
                  <a:pt x="127635" y="307658"/>
                </a:cubicBezTo>
                <a:lnTo>
                  <a:pt x="0" y="307658"/>
                </a:lnTo>
                <a:lnTo>
                  <a:pt x="0" y="0"/>
                </a:lnTo>
                <a:lnTo>
                  <a:pt x="0" y="0"/>
                </a:lnTo>
                <a:cubicBezTo>
                  <a:pt x="220980" y="0"/>
                  <a:pt x="411480" y="125730"/>
                  <a:pt x="502920" y="30765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6" name="Freeform: Shape 133"/>
          <p:cNvSpPr/>
          <p:nvPr/>
        </p:nvSpPr>
        <p:spPr>
          <a:xfrm>
            <a:off x="3246393" y="4712521"/>
            <a:ext cx="1158137" cy="1023769"/>
          </a:xfrm>
          <a:custGeom>
            <a:avLst/>
            <a:gdLst>
              <a:gd name="connsiteX0" fmla="*/ 157558 w 997140"/>
              <a:gd name="connsiteY0" fmla="*/ 0 h 881451"/>
              <a:gd name="connsiteX1" fmla="*/ 975104 w 997140"/>
              <a:gd name="connsiteY1" fmla="*/ 0 h 881451"/>
              <a:gd name="connsiteX2" fmla="*/ 997140 w 997140"/>
              <a:gd name="connsiteY2" fmla="*/ 146540 h 881451"/>
              <a:gd name="connsiteX3" fmla="*/ 579552 w 997140"/>
              <a:gd name="connsiteY3" fmla="*/ 643459 h 881451"/>
              <a:gd name="connsiteX4" fmla="*/ 217056 w 997140"/>
              <a:gd name="connsiteY4" fmla="*/ 881451 h 881451"/>
              <a:gd name="connsiteX5" fmla="*/ 157558 w 997140"/>
              <a:gd name="connsiteY5" fmla="*/ 877044 h 881451"/>
              <a:gd name="connsiteX6" fmla="*/ 157558 w 997140"/>
              <a:gd name="connsiteY6" fmla="*/ 477084 h 881451"/>
              <a:gd name="connsiteX7" fmla="*/ 114589 w 997140"/>
              <a:gd name="connsiteY7" fmla="*/ 477084 h 881451"/>
              <a:gd name="connsiteX8" fmla="*/ 62803 w 997140"/>
              <a:gd name="connsiteY8" fmla="*/ 512342 h 881451"/>
              <a:gd name="connsiteX9" fmla="*/ 0 w 997140"/>
              <a:gd name="connsiteY9" fmla="*/ 433012 h 881451"/>
              <a:gd name="connsiteX10" fmla="*/ 62803 w 997140"/>
              <a:gd name="connsiteY10" fmla="*/ 353681 h 881451"/>
              <a:gd name="connsiteX11" fmla="*/ 114589 w 997140"/>
              <a:gd name="connsiteY11" fmla="*/ 388939 h 881451"/>
              <a:gd name="connsiteX12" fmla="*/ 157558 w 997140"/>
              <a:gd name="connsiteY12" fmla="*/ 388939 h 8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7140" h="881451">
                <a:moveTo>
                  <a:pt x="157558" y="0"/>
                </a:moveTo>
                <a:lnTo>
                  <a:pt x="975104" y="0"/>
                </a:lnTo>
                <a:cubicBezTo>
                  <a:pt x="989428" y="46276"/>
                  <a:pt x="997140" y="94756"/>
                  <a:pt x="997140" y="146540"/>
                </a:cubicBezTo>
                <a:cubicBezTo>
                  <a:pt x="997140" y="392246"/>
                  <a:pt x="817544" y="597183"/>
                  <a:pt x="579552" y="643459"/>
                </a:cubicBezTo>
                <a:cubicBezTo>
                  <a:pt x="521157" y="783389"/>
                  <a:pt x="381226" y="881451"/>
                  <a:pt x="217056" y="881451"/>
                </a:cubicBezTo>
                <a:cubicBezTo>
                  <a:pt x="197224" y="881451"/>
                  <a:pt x="177391" y="880349"/>
                  <a:pt x="157558" y="877044"/>
                </a:cubicBezTo>
                <a:lnTo>
                  <a:pt x="157558" y="477084"/>
                </a:lnTo>
                <a:lnTo>
                  <a:pt x="114589" y="477084"/>
                </a:lnTo>
                <a:cubicBezTo>
                  <a:pt x="103571" y="498019"/>
                  <a:pt x="84839" y="512342"/>
                  <a:pt x="62803" y="512342"/>
                </a:cubicBezTo>
                <a:cubicBezTo>
                  <a:pt x="27546" y="512342"/>
                  <a:pt x="0" y="477084"/>
                  <a:pt x="0" y="433012"/>
                </a:cubicBezTo>
                <a:cubicBezTo>
                  <a:pt x="0" y="388939"/>
                  <a:pt x="28647" y="353681"/>
                  <a:pt x="62803" y="353681"/>
                </a:cubicBezTo>
                <a:cubicBezTo>
                  <a:pt x="83738" y="353681"/>
                  <a:pt x="103571" y="368005"/>
                  <a:pt x="114589" y="388939"/>
                </a:cubicBezTo>
                <a:lnTo>
                  <a:pt x="157558" y="38893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7" name="Freeform: Shape 136"/>
          <p:cNvSpPr/>
          <p:nvPr/>
        </p:nvSpPr>
        <p:spPr>
          <a:xfrm>
            <a:off x="2367230" y="2146699"/>
            <a:ext cx="1201650" cy="1423039"/>
          </a:xfrm>
          <a:custGeom>
            <a:avLst/>
            <a:gdLst>
              <a:gd name="connsiteX0" fmla="*/ 394449 w 1034604"/>
              <a:gd name="connsiteY0" fmla="*/ 1067658 h 1225217"/>
              <a:gd name="connsiteX1" fmla="*/ 482594 w 1034604"/>
              <a:gd name="connsiteY1" fmla="*/ 1067658 h 1225217"/>
              <a:gd name="connsiteX2" fmla="*/ 482594 w 1034604"/>
              <a:gd name="connsiteY2" fmla="*/ 1110628 h 1225217"/>
              <a:gd name="connsiteX3" fmla="*/ 517852 w 1034604"/>
              <a:gd name="connsiteY3" fmla="*/ 1162414 h 1225217"/>
              <a:gd name="connsiteX4" fmla="*/ 438522 w 1034604"/>
              <a:gd name="connsiteY4" fmla="*/ 1225217 h 1225217"/>
              <a:gd name="connsiteX5" fmla="*/ 359191 w 1034604"/>
              <a:gd name="connsiteY5" fmla="*/ 1162414 h 1225217"/>
              <a:gd name="connsiteX6" fmla="*/ 394449 w 1034604"/>
              <a:gd name="connsiteY6" fmla="*/ 1110628 h 1225217"/>
              <a:gd name="connsiteX7" fmla="*/ 0 w 1034604"/>
              <a:gd name="connsiteY7" fmla="*/ 0 h 1225217"/>
              <a:gd name="connsiteX8" fmla="*/ 342663 w 1034604"/>
              <a:gd name="connsiteY8" fmla="*/ 0 h 1225217"/>
              <a:gd name="connsiteX9" fmla="*/ 321730 w 1034604"/>
              <a:gd name="connsiteY9" fmla="*/ 57294 h 1225217"/>
              <a:gd name="connsiteX10" fmla="*/ 438522 w 1034604"/>
              <a:gd name="connsiteY10" fmla="*/ 157560 h 1225217"/>
              <a:gd name="connsiteX11" fmla="*/ 555315 w 1034604"/>
              <a:gd name="connsiteY11" fmla="*/ 57294 h 1225217"/>
              <a:gd name="connsiteX12" fmla="*/ 534381 w 1034604"/>
              <a:gd name="connsiteY12" fmla="*/ 0 h 1225217"/>
              <a:gd name="connsiteX13" fmla="*/ 877044 w 1034604"/>
              <a:gd name="connsiteY13" fmla="*/ 0 h 1225217"/>
              <a:gd name="connsiteX14" fmla="*/ 877044 w 1034604"/>
              <a:gd name="connsiteY14" fmla="*/ 487002 h 1225217"/>
              <a:gd name="connsiteX15" fmla="*/ 920016 w 1034604"/>
              <a:gd name="connsiteY15" fmla="*/ 487002 h 1225217"/>
              <a:gd name="connsiteX16" fmla="*/ 971800 w 1034604"/>
              <a:gd name="connsiteY16" fmla="*/ 451744 h 1225217"/>
              <a:gd name="connsiteX17" fmla="*/ 1034604 w 1034604"/>
              <a:gd name="connsiteY17" fmla="*/ 531074 h 1225217"/>
              <a:gd name="connsiteX18" fmla="*/ 971800 w 1034604"/>
              <a:gd name="connsiteY18" fmla="*/ 610405 h 1225217"/>
              <a:gd name="connsiteX19" fmla="*/ 920016 w 1034604"/>
              <a:gd name="connsiteY19" fmla="*/ 575147 h 1225217"/>
              <a:gd name="connsiteX20" fmla="*/ 877044 w 1034604"/>
              <a:gd name="connsiteY20" fmla="*/ 575147 h 1225217"/>
              <a:gd name="connsiteX21" fmla="*/ 877044 w 1034604"/>
              <a:gd name="connsiteY21" fmla="*/ 1066556 h 1225217"/>
              <a:gd name="connsiteX22" fmla="*/ 0 w 1034604"/>
              <a:gd name="connsiteY22" fmla="*/ 1066556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4" h="1225217">
                <a:moveTo>
                  <a:pt x="394449" y="1067658"/>
                </a:moveTo>
                <a:lnTo>
                  <a:pt x="482594" y="1067658"/>
                </a:lnTo>
                <a:lnTo>
                  <a:pt x="482594" y="1110628"/>
                </a:lnTo>
                <a:cubicBezTo>
                  <a:pt x="503529" y="1121646"/>
                  <a:pt x="517852" y="1141479"/>
                  <a:pt x="517852" y="1162414"/>
                </a:cubicBezTo>
                <a:cubicBezTo>
                  <a:pt x="517852" y="1196570"/>
                  <a:pt x="482594" y="1225217"/>
                  <a:pt x="438522" y="1225217"/>
                </a:cubicBezTo>
                <a:cubicBezTo>
                  <a:pt x="394449" y="1225217"/>
                  <a:pt x="359191" y="1197672"/>
                  <a:pt x="359191" y="1162414"/>
                </a:cubicBezTo>
                <a:cubicBezTo>
                  <a:pt x="359191" y="1140378"/>
                  <a:pt x="373515" y="1121646"/>
                  <a:pt x="394449" y="1110628"/>
                </a:cubicBezTo>
                <a:close/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8" y="157560"/>
                  <a:pt x="438522" y="157560"/>
                </a:cubicBezTo>
                <a:cubicBezTo>
                  <a:pt x="495817" y="157560"/>
                  <a:pt x="555315" y="118996"/>
                  <a:pt x="555315" y="57294"/>
                </a:cubicBezTo>
                <a:cubicBezTo>
                  <a:pt x="555315" y="35258"/>
                  <a:pt x="547601" y="16528"/>
                  <a:pt x="534381" y="0"/>
                </a:cubicBezTo>
                <a:lnTo>
                  <a:pt x="877044" y="0"/>
                </a:lnTo>
                <a:lnTo>
                  <a:pt x="877044" y="487002"/>
                </a:lnTo>
                <a:lnTo>
                  <a:pt x="920016" y="487002"/>
                </a:lnTo>
                <a:cubicBezTo>
                  <a:pt x="931034" y="466068"/>
                  <a:pt x="950865" y="451744"/>
                  <a:pt x="971800" y="451744"/>
                </a:cubicBezTo>
                <a:cubicBezTo>
                  <a:pt x="1005956" y="451744"/>
                  <a:pt x="1034604" y="487002"/>
                  <a:pt x="1034604" y="531074"/>
                </a:cubicBezTo>
                <a:cubicBezTo>
                  <a:pt x="1034604" y="575147"/>
                  <a:pt x="1007058" y="610405"/>
                  <a:pt x="971800" y="610405"/>
                </a:cubicBezTo>
                <a:cubicBezTo>
                  <a:pt x="949764" y="610405"/>
                  <a:pt x="931034" y="596082"/>
                  <a:pt x="920016" y="575147"/>
                </a:cubicBezTo>
                <a:lnTo>
                  <a:pt x="877044" y="575147"/>
                </a:lnTo>
                <a:lnTo>
                  <a:pt x="877044" y="1066556"/>
                </a:lnTo>
                <a:lnTo>
                  <a:pt x="0" y="10665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8" name="Freeform: Shape 135"/>
          <p:cNvSpPr/>
          <p:nvPr/>
        </p:nvSpPr>
        <p:spPr>
          <a:xfrm>
            <a:off x="2367230" y="3430251"/>
            <a:ext cx="1584284" cy="1238760"/>
          </a:xfrm>
          <a:custGeom>
            <a:avLst/>
            <a:gdLst>
              <a:gd name="connsiteX0" fmla="*/ 0 w 1364046"/>
              <a:gd name="connsiteY0" fmla="*/ 0 h 1066555"/>
              <a:gd name="connsiteX1" fmla="*/ 342663 w 1364046"/>
              <a:gd name="connsiteY1" fmla="*/ 0 h 1066555"/>
              <a:gd name="connsiteX2" fmla="*/ 321730 w 1364046"/>
              <a:gd name="connsiteY2" fmla="*/ 57294 h 1066555"/>
              <a:gd name="connsiteX3" fmla="*/ 438522 w 1364046"/>
              <a:gd name="connsiteY3" fmla="*/ 157560 h 1066555"/>
              <a:gd name="connsiteX4" fmla="*/ 555314 w 1364046"/>
              <a:gd name="connsiteY4" fmla="*/ 57294 h 1066555"/>
              <a:gd name="connsiteX5" fmla="*/ 534380 w 1364046"/>
              <a:gd name="connsiteY5" fmla="*/ 0 h 1066555"/>
              <a:gd name="connsiteX6" fmla="*/ 1206487 w 1364046"/>
              <a:gd name="connsiteY6" fmla="*/ 0 h 1066555"/>
              <a:gd name="connsiteX7" fmla="*/ 1206487 w 1364046"/>
              <a:gd name="connsiteY7" fmla="*/ 579553 h 1066555"/>
              <a:gd name="connsiteX8" fmla="*/ 1249457 w 1364046"/>
              <a:gd name="connsiteY8" fmla="*/ 579553 h 1066555"/>
              <a:gd name="connsiteX9" fmla="*/ 1301243 w 1364046"/>
              <a:gd name="connsiteY9" fmla="*/ 544295 h 1066555"/>
              <a:gd name="connsiteX10" fmla="*/ 1364046 w 1364046"/>
              <a:gd name="connsiteY10" fmla="*/ 623626 h 1066555"/>
              <a:gd name="connsiteX11" fmla="*/ 1301243 w 1364046"/>
              <a:gd name="connsiteY11" fmla="*/ 702956 h 1066555"/>
              <a:gd name="connsiteX12" fmla="*/ 1249457 w 1364046"/>
              <a:gd name="connsiteY12" fmla="*/ 667698 h 1066555"/>
              <a:gd name="connsiteX13" fmla="*/ 1206487 w 1364046"/>
              <a:gd name="connsiteY13" fmla="*/ 667698 h 1066555"/>
              <a:gd name="connsiteX14" fmla="*/ 1206487 w 1364046"/>
              <a:gd name="connsiteY14" fmla="*/ 1066555 h 1066555"/>
              <a:gd name="connsiteX15" fmla="*/ 0 w 1364046"/>
              <a:gd name="connsiteY15" fmla="*/ 1066555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6" h="1066555"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7" y="157560"/>
                  <a:pt x="438522" y="157560"/>
                </a:cubicBezTo>
                <a:cubicBezTo>
                  <a:pt x="495816" y="157560"/>
                  <a:pt x="555314" y="118996"/>
                  <a:pt x="555314" y="57294"/>
                </a:cubicBezTo>
                <a:cubicBezTo>
                  <a:pt x="555314" y="35258"/>
                  <a:pt x="547601" y="16528"/>
                  <a:pt x="534380" y="0"/>
                </a:cubicBezTo>
                <a:lnTo>
                  <a:pt x="1206487" y="0"/>
                </a:lnTo>
                <a:lnTo>
                  <a:pt x="1206487" y="579553"/>
                </a:lnTo>
                <a:lnTo>
                  <a:pt x="1249457" y="579553"/>
                </a:lnTo>
                <a:cubicBezTo>
                  <a:pt x="1260476" y="558619"/>
                  <a:pt x="1280308" y="544295"/>
                  <a:pt x="1301243" y="544295"/>
                </a:cubicBezTo>
                <a:cubicBezTo>
                  <a:pt x="1335399" y="544295"/>
                  <a:pt x="1364046" y="579553"/>
                  <a:pt x="1364046" y="623626"/>
                </a:cubicBezTo>
                <a:cubicBezTo>
                  <a:pt x="1364046" y="667698"/>
                  <a:pt x="1336501" y="702956"/>
                  <a:pt x="1301243" y="702956"/>
                </a:cubicBezTo>
                <a:cubicBezTo>
                  <a:pt x="1279207" y="702956"/>
                  <a:pt x="1260476" y="688633"/>
                  <a:pt x="1249457" y="667698"/>
                </a:cubicBezTo>
                <a:lnTo>
                  <a:pt x="1206487" y="667698"/>
                </a:lnTo>
                <a:lnTo>
                  <a:pt x="1206487" y="1066555"/>
                </a:lnTo>
                <a:lnTo>
                  <a:pt x="0" y="1066555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9" name="Freeform: Shape 134"/>
          <p:cNvSpPr/>
          <p:nvPr/>
        </p:nvSpPr>
        <p:spPr>
          <a:xfrm>
            <a:off x="738157" y="3430251"/>
            <a:ext cx="1584285" cy="1238760"/>
          </a:xfrm>
          <a:custGeom>
            <a:avLst/>
            <a:gdLst>
              <a:gd name="connsiteX0" fmla="*/ 157560 w 1364047"/>
              <a:gd name="connsiteY0" fmla="*/ 0 h 1066555"/>
              <a:gd name="connsiteX1" fmla="*/ 829667 w 1364047"/>
              <a:gd name="connsiteY1" fmla="*/ 0 h 1066555"/>
              <a:gd name="connsiteX2" fmla="*/ 808733 w 1364047"/>
              <a:gd name="connsiteY2" fmla="*/ 57294 h 1066555"/>
              <a:gd name="connsiteX3" fmla="*/ 925525 w 1364047"/>
              <a:gd name="connsiteY3" fmla="*/ 157560 h 1066555"/>
              <a:gd name="connsiteX4" fmla="*/ 1042316 w 1364047"/>
              <a:gd name="connsiteY4" fmla="*/ 57294 h 1066555"/>
              <a:gd name="connsiteX5" fmla="*/ 1021383 w 1364047"/>
              <a:gd name="connsiteY5" fmla="*/ 0 h 1066555"/>
              <a:gd name="connsiteX6" fmla="*/ 1364047 w 1364047"/>
              <a:gd name="connsiteY6" fmla="*/ 0 h 1066555"/>
              <a:gd name="connsiteX7" fmla="*/ 1364047 w 1364047"/>
              <a:gd name="connsiteY7" fmla="*/ 1066555 h 1066555"/>
              <a:gd name="connsiteX8" fmla="*/ 157560 w 1364047"/>
              <a:gd name="connsiteY8" fmla="*/ 1066555 h 1066555"/>
              <a:gd name="connsiteX9" fmla="*/ 157560 w 1364047"/>
              <a:gd name="connsiteY9" fmla="*/ 667698 h 1066555"/>
              <a:gd name="connsiteX10" fmla="*/ 114589 w 1364047"/>
              <a:gd name="connsiteY10" fmla="*/ 667698 h 1066555"/>
              <a:gd name="connsiteX11" fmla="*/ 62804 w 1364047"/>
              <a:gd name="connsiteY11" fmla="*/ 702956 h 1066555"/>
              <a:gd name="connsiteX12" fmla="*/ 0 w 1364047"/>
              <a:gd name="connsiteY12" fmla="*/ 623626 h 1066555"/>
              <a:gd name="connsiteX13" fmla="*/ 62804 w 1364047"/>
              <a:gd name="connsiteY13" fmla="*/ 544295 h 1066555"/>
              <a:gd name="connsiteX14" fmla="*/ 114589 w 1364047"/>
              <a:gd name="connsiteY14" fmla="*/ 579553 h 1066555"/>
              <a:gd name="connsiteX15" fmla="*/ 157560 w 1364047"/>
              <a:gd name="connsiteY15" fmla="*/ 579553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7" h="1066555">
                <a:moveTo>
                  <a:pt x="157560" y="0"/>
                </a:moveTo>
                <a:lnTo>
                  <a:pt x="829667" y="0"/>
                </a:lnTo>
                <a:cubicBezTo>
                  <a:pt x="816445" y="15425"/>
                  <a:pt x="808733" y="35258"/>
                  <a:pt x="808733" y="57294"/>
                </a:cubicBezTo>
                <a:cubicBezTo>
                  <a:pt x="808733" y="118996"/>
                  <a:pt x="868231" y="157560"/>
                  <a:pt x="925525" y="157560"/>
                </a:cubicBezTo>
                <a:cubicBezTo>
                  <a:pt x="982820" y="157560"/>
                  <a:pt x="1042316" y="118996"/>
                  <a:pt x="1042316" y="57294"/>
                </a:cubicBezTo>
                <a:cubicBezTo>
                  <a:pt x="1042316" y="35258"/>
                  <a:pt x="1034604" y="16528"/>
                  <a:pt x="1021383" y="0"/>
                </a:cubicBezTo>
                <a:lnTo>
                  <a:pt x="1364047" y="0"/>
                </a:lnTo>
                <a:lnTo>
                  <a:pt x="1364047" y="1066555"/>
                </a:lnTo>
                <a:lnTo>
                  <a:pt x="157560" y="1066555"/>
                </a:lnTo>
                <a:lnTo>
                  <a:pt x="157560" y="667698"/>
                </a:lnTo>
                <a:lnTo>
                  <a:pt x="114589" y="667698"/>
                </a:lnTo>
                <a:cubicBezTo>
                  <a:pt x="103571" y="688633"/>
                  <a:pt x="84841" y="702956"/>
                  <a:pt x="62804" y="702956"/>
                </a:cubicBezTo>
                <a:cubicBezTo>
                  <a:pt x="27546" y="702956"/>
                  <a:pt x="0" y="667698"/>
                  <a:pt x="0" y="623626"/>
                </a:cubicBezTo>
                <a:cubicBezTo>
                  <a:pt x="0" y="579553"/>
                  <a:pt x="28647" y="544295"/>
                  <a:pt x="62804" y="544295"/>
                </a:cubicBezTo>
                <a:cubicBezTo>
                  <a:pt x="83738" y="544295"/>
                  <a:pt x="103571" y="558619"/>
                  <a:pt x="114589" y="579553"/>
                </a:cubicBezTo>
                <a:lnTo>
                  <a:pt x="157560" y="5795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0" name="Freeform: Shape 141"/>
          <p:cNvSpPr/>
          <p:nvPr/>
        </p:nvSpPr>
        <p:spPr>
          <a:xfrm>
            <a:off x="3246394" y="1511961"/>
            <a:ext cx="556672" cy="591227"/>
          </a:xfrm>
          <a:custGeom>
            <a:avLst/>
            <a:gdLst>
              <a:gd name="connsiteX0" fmla="*/ 62803 w 479287"/>
              <a:gd name="connsiteY0" fmla="*/ 147645 h 509038"/>
              <a:gd name="connsiteX1" fmla="*/ 114589 w 479287"/>
              <a:gd name="connsiteY1" fmla="*/ 182903 h 509038"/>
              <a:gd name="connsiteX2" fmla="*/ 157560 w 479287"/>
              <a:gd name="connsiteY2" fmla="*/ 182903 h 509038"/>
              <a:gd name="connsiteX3" fmla="*/ 157560 w 479287"/>
              <a:gd name="connsiteY3" fmla="*/ 271048 h 509038"/>
              <a:gd name="connsiteX4" fmla="*/ 114589 w 479287"/>
              <a:gd name="connsiteY4" fmla="*/ 271048 h 509038"/>
              <a:gd name="connsiteX5" fmla="*/ 62803 w 479287"/>
              <a:gd name="connsiteY5" fmla="*/ 306306 h 509038"/>
              <a:gd name="connsiteX6" fmla="*/ 0 w 479287"/>
              <a:gd name="connsiteY6" fmla="*/ 226976 h 509038"/>
              <a:gd name="connsiteX7" fmla="*/ 62803 w 479287"/>
              <a:gd name="connsiteY7" fmla="*/ 147645 h 509038"/>
              <a:gd name="connsiteX8" fmla="*/ 158660 w 479287"/>
              <a:gd name="connsiteY8" fmla="*/ 0 h 509038"/>
              <a:gd name="connsiteX9" fmla="*/ 232481 w 479287"/>
              <a:gd name="connsiteY9" fmla="*/ 226974 h 509038"/>
              <a:gd name="connsiteX10" fmla="*/ 232481 w 479287"/>
              <a:gd name="connsiteY10" fmla="*/ 245705 h 509038"/>
              <a:gd name="connsiteX11" fmla="*/ 479287 w 479287"/>
              <a:gd name="connsiteY11" fmla="*/ 509038 h 509038"/>
              <a:gd name="connsiteX12" fmla="*/ 158660 w 479287"/>
              <a:gd name="connsiteY12" fmla="*/ 509038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9287" h="509038">
                <a:moveTo>
                  <a:pt x="62803" y="147645"/>
                </a:moveTo>
                <a:cubicBezTo>
                  <a:pt x="83738" y="147645"/>
                  <a:pt x="103571" y="161969"/>
                  <a:pt x="114589" y="182903"/>
                </a:cubicBezTo>
                <a:lnTo>
                  <a:pt x="157560" y="182903"/>
                </a:lnTo>
                <a:lnTo>
                  <a:pt x="157560" y="271048"/>
                </a:lnTo>
                <a:lnTo>
                  <a:pt x="114589" y="271048"/>
                </a:lnTo>
                <a:cubicBezTo>
                  <a:pt x="103571" y="291982"/>
                  <a:pt x="84839" y="306306"/>
                  <a:pt x="62803" y="306306"/>
                </a:cubicBezTo>
                <a:cubicBezTo>
                  <a:pt x="27546" y="306306"/>
                  <a:pt x="0" y="271048"/>
                  <a:pt x="0" y="226976"/>
                </a:cubicBezTo>
                <a:cubicBezTo>
                  <a:pt x="0" y="182903"/>
                  <a:pt x="28647" y="147645"/>
                  <a:pt x="62803" y="147645"/>
                </a:cubicBezTo>
                <a:close/>
                <a:moveTo>
                  <a:pt x="158660" y="0"/>
                </a:moveTo>
                <a:cubicBezTo>
                  <a:pt x="204936" y="63905"/>
                  <a:pt x="232481" y="142134"/>
                  <a:pt x="232481" y="226974"/>
                </a:cubicBezTo>
                <a:cubicBezTo>
                  <a:pt x="232481" y="233585"/>
                  <a:pt x="232481" y="239094"/>
                  <a:pt x="232481" y="245705"/>
                </a:cubicBezTo>
                <a:cubicBezTo>
                  <a:pt x="343765" y="300796"/>
                  <a:pt x="431910" y="394449"/>
                  <a:pt x="479287" y="509038"/>
                </a:cubicBezTo>
                <a:lnTo>
                  <a:pt x="158660" y="5090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9" name="任意多边形: 形状 1698"/>
          <p:cNvSpPr/>
          <p:nvPr/>
        </p:nvSpPr>
        <p:spPr>
          <a:xfrm>
            <a:off x="2072898" y="5889855"/>
            <a:ext cx="750114" cy="968145"/>
          </a:xfrm>
          <a:custGeom>
            <a:avLst/>
            <a:gdLst>
              <a:gd name="connsiteX0" fmla="*/ 74223 w 750114"/>
              <a:gd name="connsiteY0" fmla="*/ 0 h 968145"/>
              <a:gd name="connsiteX1" fmla="*/ 249543 w 750114"/>
              <a:gd name="connsiteY1" fmla="*/ 46172 h 968145"/>
              <a:gd name="connsiteX2" fmla="*/ 250823 w 750114"/>
              <a:gd name="connsiteY2" fmla="*/ 46172 h 968145"/>
              <a:gd name="connsiteX3" fmla="*/ 250823 w 750114"/>
              <a:gd name="connsiteY3" fmla="*/ 47386 h 968145"/>
              <a:gd name="connsiteX4" fmla="*/ 272578 w 750114"/>
              <a:gd name="connsiteY4" fmla="*/ 47386 h 968145"/>
              <a:gd name="connsiteX5" fmla="*/ 295612 w 750114"/>
              <a:gd name="connsiteY5" fmla="*/ 47386 h 968145"/>
              <a:gd name="connsiteX6" fmla="*/ 467094 w 750114"/>
              <a:gd name="connsiteY6" fmla="*/ 1215 h 968145"/>
              <a:gd name="connsiteX7" fmla="*/ 729435 w 750114"/>
              <a:gd name="connsiteY7" fmla="*/ 98418 h 968145"/>
              <a:gd name="connsiteX8" fmla="*/ 748630 w 750114"/>
              <a:gd name="connsiteY8" fmla="*/ 816511 h 968145"/>
              <a:gd name="connsiteX9" fmla="*/ 749911 w 750114"/>
              <a:gd name="connsiteY9" fmla="*/ 927840 h 968145"/>
              <a:gd name="connsiteX10" fmla="*/ 750114 w 750114"/>
              <a:gd name="connsiteY10" fmla="*/ 968145 h 968145"/>
              <a:gd name="connsiteX11" fmla="*/ 5786 w 750114"/>
              <a:gd name="connsiteY11" fmla="*/ 968145 h 968145"/>
              <a:gd name="connsiteX12" fmla="*/ 5638 w 750114"/>
              <a:gd name="connsiteY12" fmla="*/ 915367 h 968145"/>
              <a:gd name="connsiteX13" fmla="*/ 3838 w 750114"/>
              <a:gd name="connsiteY13" fmla="*/ 57107 h 968145"/>
              <a:gd name="connsiteX14" fmla="*/ 2559 w 750114"/>
              <a:gd name="connsiteY14" fmla="*/ 52247 h 968145"/>
              <a:gd name="connsiteX15" fmla="*/ 0 w 750114"/>
              <a:gd name="connsiteY15" fmla="*/ 44956 h 968145"/>
              <a:gd name="connsiteX16" fmla="*/ 74223 w 750114"/>
              <a:gd name="connsiteY16" fmla="*/ 0 h 96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0114" h="968145">
                <a:moveTo>
                  <a:pt x="74223" y="0"/>
                </a:moveTo>
                <a:cubicBezTo>
                  <a:pt x="140768" y="26731"/>
                  <a:pt x="194516" y="44956"/>
                  <a:pt x="249543" y="46172"/>
                </a:cubicBezTo>
                <a:lnTo>
                  <a:pt x="250823" y="46172"/>
                </a:lnTo>
                <a:lnTo>
                  <a:pt x="250823" y="47386"/>
                </a:lnTo>
                <a:lnTo>
                  <a:pt x="272578" y="47386"/>
                </a:lnTo>
                <a:lnTo>
                  <a:pt x="295612" y="47386"/>
                </a:lnTo>
                <a:cubicBezTo>
                  <a:pt x="350641" y="46172"/>
                  <a:pt x="403108" y="27946"/>
                  <a:pt x="467094" y="1215"/>
                </a:cubicBezTo>
                <a:cubicBezTo>
                  <a:pt x="542597" y="57107"/>
                  <a:pt x="633456" y="89914"/>
                  <a:pt x="729435" y="98418"/>
                </a:cubicBezTo>
                <a:cubicBezTo>
                  <a:pt x="738393" y="426481"/>
                  <a:pt x="746071" y="686502"/>
                  <a:pt x="748630" y="816511"/>
                </a:cubicBezTo>
                <a:cubicBezTo>
                  <a:pt x="749271" y="818941"/>
                  <a:pt x="749591" y="865113"/>
                  <a:pt x="749911" y="927840"/>
                </a:cubicBezTo>
                <a:lnTo>
                  <a:pt x="750114" y="968145"/>
                </a:lnTo>
                <a:lnTo>
                  <a:pt x="5786" y="968145"/>
                </a:lnTo>
                <a:lnTo>
                  <a:pt x="5638" y="915367"/>
                </a:lnTo>
                <a:cubicBezTo>
                  <a:pt x="5038" y="668579"/>
                  <a:pt x="4798" y="372411"/>
                  <a:pt x="3838" y="57107"/>
                </a:cubicBezTo>
                <a:cubicBezTo>
                  <a:pt x="3838" y="55892"/>
                  <a:pt x="2559" y="53462"/>
                  <a:pt x="2559" y="52247"/>
                </a:cubicBezTo>
                <a:cubicBezTo>
                  <a:pt x="2559" y="49817"/>
                  <a:pt x="1279" y="47386"/>
                  <a:pt x="0" y="44956"/>
                </a:cubicBezTo>
                <a:cubicBezTo>
                  <a:pt x="26873" y="31591"/>
                  <a:pt x="51188" y="17011"/>
                  <a:pt x="74223" y="0"/>
                </a:cubicBezTo>
                <a:close/>
              </a:path>
            </a:pathLst>
          </a:custGeom>
          <a:solidFill>
            <a:srgbClr val="7A533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2" name="Freeform: Shape 132"/>
          <p:cNvSpPr/>
          <p:nvPr/>
        </p:nvSpPr>
        <p:spPr>
          <a:xfrm>
            <a:off x="286419" y="4712520"/>
            <a:ext cx="1158141" cy="1022488"/>
          </a:xfrm>
          <a:custGeom>
            <a:avLst/>
            <a:gdLst>
              <a:gd name="connsiteX0" fmla="*/ 934339 w 997143"/>
              <a:gd name="connsiteY0" fmla="*/ 353681 h 880348"/>
              <a:gd name="connsiteX1" fmla="*/ 997143 w 997143"/>
              <a:gd name="connsiteY1" fmla="*/ 433012 h 880348"/>
              <a:gd name="connsiteX2" fmla="*/ 934339 w 997143"/>
              <a:gd name="connsiteY2" fmla="*/ 512342 h 880348"/>
              <a:gd name="connsiteX3" fmla="*/ 882555 w 997143"/>
              <a:gd name="connsiteY3" fmla="*/ 477084 h 880348"/>
              <a:gd name="connsiteX4" fmla="*/ 839583 w 997143"/>
              <a:gd name="connsiteY4" fmla="*/ 477084 h 880348"/>
              <a:gd name="connsiteX5" fmla="*/ 839583 w 997143"/>
              <a:gd name="connsiteY5" fmla="*/ 388939 h 880348"/>
              <a:gd name="connsiteX6" fmla="*/ 882555 w 997143"/>
              <a:gd name="connsiteY6" fmla="*/ 388939 h 880348"/>
              <a:gd name="connsiteX7" fmla="*/ 934339 w 997143"/>
              <a:gd name="connsiteY7" fmla="*/ 353681 h 880348"/>
              <a:gd name="connsiteX8" fmla="*/ 22036 w 997143"/>
              <a:gd name="connsiteY8" fmla="*/ 0 h 880348"/>
              <a:gd name="connsiteX9" fmla="*/ 839582 w 997143"/>
              <a:gd name="connsiteY9" fmla="*/ 0 h 880348"/>
              <a:gd name="connsiteX10" fmla="*/ 839582 w 997143"/>
              <a:gd name="connsiteY10" fmla="*/ 875942 h 880348"/>
              <a:gd name="connsiteX11" fmla="*/ 780084 w 997143"/>
              <a:gd name="connsiteY11" fmla="*/ 880348 h 880348"/>
              <a:gd name="connsiteX12" fmla="*/ 417588 w 997143"/>
              <a:gd name="connsiteY12" fmla="*/ 642357 h 880348"/>
              <a:gd name="connsiteX13" fmla="*/ 0 w 997143"/>
              <a:gd name="connsiteY13" fmla="*/ 146540 h 880348"/>
              <a:gd name="connsiteX14" fmla="*/ 22036 w 997143"/>
              <a:gd name="connsiteY14" fmla="*/ 0 h 88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7143" h="880348">
                <a:moveTo>
                  <a:pt x="934339" y="353681"/>
                </a:moveTo>
                <a:cubicBezTo>
                  <a:pt x="968496" y="353681"/>
                  <a:pt x="997143" y="388939"/>
                  <a:pt x="997143" y="433012"/>
                </a:cubicBezTo>
                <a:cubicBezTo>
                  <a:pt x="997143" y="477084"/>
                  <a:pt x="969597" y="512342"/>
                  <a:pt x="934339" y="512342"/>
                </a:cubicBezTo>
                <a:cubicBezTo>
                  <a:pt x="912303" y="512342"/>
                  <a:pt x="893573" y="498019"/>
                  <a:pt x="882555" y="477084"/>
                </a:cubicBezTo>
                <a:lnTo>
                  <a:pt x="839583" y="477084"/>
                </a:lnTo>
                <a:lnTo>
                  <a:pt x="839583" y="388939"/>
                </a:lnTo>
                <a:lnTo>
                  <a:pt x="882555" y="388939"/>
                </a:lnTo>
                <a:cubicBezTo>
                  <a:pt x="893573" y="368005"/>
                  <a:pt x="913405" y="353681"/>
                  <a:pt x="934339" y="353681"/>
                </a:cubicBezTo>
                <a:close/>
                <a:moveTo>
                  <a:pt x="22036" y="0"/>
                </a:moveTo>
                <a:lnTo>
                  <a:pt x="839582" y="0"/>
                </a:lnTo>
                <a:lnTo>
                  <a:pt x="839582" y="875942"/>
                </a:lnTo>
                <a:cubicBezTo>
                  <a:pt x="819749" y="879247"/>
                  <a:pt x="799917" y="880348"/>
                  <a:pt x="780084" y="880348"/>
                </a:cubicBezTo>
                <a:cubicBezTo>
                  <a:pt x="615914" y="880348"/>
                  <a:pt x="475983" y="782287"/>
                  <a:pt x="417588" y="642357"/>
                </a:cubicBezTo>
                <a:cubicBezTo>
                  <a:pt x="179596" y="597183"/>
                  <a:pt x="0" y="392246"/>
                  <a:pt x="0" y="146540"/>
                </a:cubicBezTo>
                <a:cubicBezTo>
                  <a:pt x="0" y="95857"/>
                  <a:pt x="7713" y="46276"/>
                  <a:pt x="2203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3" name="Freeform: Shape 41"/>
          <p:cNvSpPr/>
          <p:nvPr/>
        </p:nvSpPr>
        <p:spPr>
          <a:xfrm>
            <a:off x="1648086" y="2531182"/>
            <a:ext cx="332616" cy="469796"/>
          </a:xfrm>
          <a:custGeom>
            <a:avLst/>
            <a:gdLst>
              <a:gd name="connsiteX0" fmla="*/ 337185 w 674370"/>
              <a:gd name="connsiteY0" fmla="*/ 0 h 952500"/>
              <a:gd name="connsiteX1" fmla="*/ 0 w 674370"/>
              <a:gd name="connsiteY1" fmla="*/ 615315 h 952500"/>
              <a:gd name="connsiteX2" fmla="*/ 337185 w 674370"/>
              <a:gd name="connsiteY2" fmla="*/ 952500 h 952500"/>
              <a:gd name="connsiteX3" fmla="*/ 674370 w 674370"/>
              <a:gd name="connsiteY3" fmla="*/ 615315 h 952500"/>
              <a:gd name="connsiteX4" fmla="*/ 337185 w 674370"/>
              <a:gd name="connsiteY4" fmla="*/ 0 h 952500"/>
              <a:gd name="connsiteX5" fmla="*/ 332423 w 674370"/>
              <a:gd name="connsiteY5" fmla="*/ 876300 h 952500"/>
              <a:gd name="connsiteX6" fmla="*/ 76200 w 674370"/>
              <a:gd name="connsiteY6" fmla="*/ 654368 h 952500"/>
              <a:gd name="connsiteX7" fmla="*/ 121920 w 674370"/>
              <a:gd name="connsiteY7" fmla="*/ 641985 h 952500"/>
              <a:gd name="connsiteX8" fmla="*/ 341948 w 674370"/>
              <a:gd name="connsiteY8" fmla="*/ 830580 h 952500"/>
              <a:gd name="connsiteX9" fmla="*/ 332423 w 674370"/>
              <a:gd name="connsiteY9" fmla="*/ 8763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370" h="952500">
                <a:moveTo>
                  <a:pt x="337185" y="0"/>
                </a:moveTo>
                <a:cubicBezTo>
                  <a:pt x="337185" y="0"/>
                  <a:pt x="0" y="429578"/>
                  <a:pt x="0" y="615315"/>
                </a:cubicBezTo>
                <a:cubicBezTo>
                  <a:pt x="0" y="801053"/>
                  <a:pt x="150495" y="952500"/>
                  <a:pt x="337185" y="952500"/>
                </a:cubicBezTo>
                <a:cubicBezTo>
                  <a:pt x="522923" y="952500"/>
                  <a:pt x="674370" y="802005"/>
                  <a:pt x="674370" y="615315"/>
                </a:cubicBezTo>
                <a:cubicBezTo>
                  <a:pt x="674370" y="429578"/>
                  <a:pt x="337185" y="0"/>
                  <a:pt x="337185" y="0"/>
                </a:cubicBezTo>
                <a:close/>
                <a:moveTo>
                  <a:pt x="332423" y="876300"/>
                </a:moveTo>
                <a:cubicBezTo>
                  <a:pt x="128588" y="834390"/>
                  <a:pt x="78105" y="661988"/>
                  <a:pt x="76200" y="654368"/>
                </a:cubicBezTo>
                <a:lnTo>
                  <a:pt x="121920" y="641985"/>
                </a:lnTo>
                <a:cubicBezTo>
                  <a:pt x="123825" y="648653"/>
                  <a:pt x="167640" y="794385"/>
                  <a:pt x="341948" y="830580"/>
                </a:cubicBezTo>
                <a:lnTo>
                  <a:pt x="332423" y="87630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4" name="Freeform: Shape 46"/>
          <p:cNvSpPr/>
          <p:nvPr/>
        </p:nvSpPr>
        <p:spPr>
          <a:xfrm>
            <a:off x="1634780" y="1584914"/>
            <a:ext cx="469857" cy="254645"/>
          </a:xfrm>
          <a:custGeom>
            <a:avLst/>
            <a:gdLst>
              <a:gd name="connsiteX0" fmla="*/ 714375 w 952622"/>
              <a:gd name="connsiteY0" fmla="*/ 269590 h 516287"/>
              <a:gd name="connsiteX1" fmla="*/ 476250 w 952622"/>
              <a:gd name="connsiteY1" fmla="*/ 33 h 516287"/>
              <a:gd name="connsiteX2" fmla="*/ 307658 w 952622"/>
              <a:gd name="connsiteY2" fmla="*/ 209583 h 516287"/>
              <a:gd name="connsiteX3" fmla="*/ 139065 w 952622"/>
              <a:gd name="connsiteY3" fmla="*/ 359125 h 516287"/>
              <a:gd name="connsiteX4" fmla="*/ 0 w 952622"/>
              <a:gd name="connsiteY4" fmla="*/ 516288 h 516287"/>
              <a:gd name="connsiteX5" fmla="*/ 952500 w 952622"/>
              <a:gd name="connsiteY5" fmla="*/ 516288 h 516287"/>
              <a:gd name="connsiteX6" fmla="*/ 714375 w 952622"/>
              <a:gd name="connsiteY6" fmla="*/ 269590 h 516287"/>
              <a:gd name="connsiteX7" fmla="*/ 590550 w 952622"/>
              <a:gd name="connsiteY7" fmla="*/ 229585 h 516287"/>
              <a:gd name="connsiteX8" fmla="*/ 504825 w 952622"/>
              <a:gd name="connsiteY8" fmla="*/ 112428 h 516287"/>
              <a:gd name="connsiteX9" fmla="*/ 525780 w 952622"/>
              <a:gd name="connsiteY9" fmla="*/ 69565 h 516287"/>
              <a:gd name="connsiteX10" fmla="*/ 638175 w 952622"/>
              <a:gd name="connsiteY10" fmla="*/ 221013 h 516287"/>
              <a:gd name="connsiteX11" fmla="*/ 590550 w 952622"/>
              <a:gd name="connsiteY11" fmla="*/ 229585 h 51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52622" h="516287">
                <a:moveTo>
                  <a:pt x="714375" y="269590"/>
                </a:moveTo>
                <a:cubicBezTo>
                  <a:pt x="714375" y="269590"/>
                  <a:pt x="720090" y="33"/>
                  <a:pt x="476250" y="33"/>
                </a:cubicBezTo>
                <a:cubicBezTo>
                  <a:pt x="476250" y="33"/>
                  <a:pt x="307658" y="-7587"/>
                  <a:pt x="307658" y="209583"/>
                </a:cubicBezTo>
                <a:cubicBezTo>
                  <a:pt x="307658" y="209583"/>
                  <a:pt x="139065" y="179103"/>
                  <a:pt x="139065" y="359125"/>
                </a:cubicBezTo>
                <a:cubicBezTo>
                  <a:pt x="139065" y="359125"/>
                  <a:pt x="0" y="308643"/>
                  <a:pt x="0" y="516288"/>
                </a:cubicBezTo>
                <a:lnTo>
                  <a:pt x="952500" y="516288"/>
                </a:lnTo>
                <a:cubicBezTo>
                  <a:pt x="952500" y="516288"/>
                  <a:pt x="965835" y="269590"/>
                  <a:pt x="714375" y="269590"/>
                </a:cubicBezTo>
                <a:close/>
                <a:moveTo>
                  <a:pt x="590550" y="229585"/>
                </a:moveTo>
                <a:cubicBezTo>
                  <a:pt x="579120" y="174340"/>
                  <a:pt x="550545" y="134335"/>
                  <a:pt x="504825" y="112428"/>
                </a:cubicBezTo>
                <a:lnTo>
                  <a:pt x="525780" y="69565"/>
                </a:lnTo>
                <a:cubicBezTo>
                  <a:pt x="566738" y="89568"/>
                  <a:pt x="620078" y="132430"/>
                  <a:pt x="638175" y="221013"/>
                </a:cubicBezTo>
                <a:lnTo>
                  <a:pt x="590550" y="2295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475" name="Graphic 1"/>
          <p:cNvGrpSpPr/>
          <p:nvPr/>
        </p:nvGrpSpPr>
        <p:grpSpPr>
          <a:xfrm>
            <a:off x="1742482" y="5072742"/>
            <a:ext cx="275301" cy="519597"/>
            <a:chOff x="1558289" y="3338512"/>
            <a:chExt cx="558164" cy="1053465"/>
          </a:xfrm>
          <a:solidFill>
            <a:schemeClr val="bg1"/>
          </a:solidFill>
        </p:grpSpPr>
        <p:sp>
          <p:nvSpPr>
            <p:cNvPr id="1476" name="Freeform: Shape 48"/>
            <p:cNvSpPr/>
            <p:nvPr/>
          </p:nvSpPr>
          <p:spPr>
            <a:xfrm>
              <a:off x="1558289" y="3338512"/>
              <a:ext cx="558164" cy="781050"/>
            </a:xfrm>
            <a:custGeom>
              <a:avLst/>
              <a:gdLst>
                <a:gd name="connsiteX0" fmla="*/ 558165 w 558164"/>
                <a:gd name="connsiteY0" fmla="*/ 503872 h 781050"/>
                <a:gd name="connsiteX1" fmla="*/ 304800 w 558164"/>
                <a:gd name="connsiteY1" fmla="*/ 781050 h 781050"/>
                <a:gd name="connsiteX2" fmla="*/ 304800 w 558164"/>
                <a:gd name="connsiteY2" fmla="*/ 702945 h 781050"/>
                <a:gd name="connsiteX3" fmla="*/ 426720 w 558164"/>
                <a:gd name="connsiteY3" fmla="*/ 549593 h 781050"/>
                <a:gd name="connsiteX4" fmla="*/ 386715 w 558164"/>
                <a:gd name="connsiteY4" fmla="*/ 518160 h 781050"/>
                <a:gd name="connsiteX5" fmla="*/ 303848 w 558164"/>
                <a:gd name="connsiteY5" fmla="*/ 621982 h 781050"/>
                <a:gd name="connsiteX6" fmla="*/ 303848 w 558164"/>
                <a:gd name="connsiteY6" fmla="*/ 347663 h 781050"/>
                <a:gd name="connsiteX7" fmla="*/ 253365 w 558164"/>
                <a:gd name="connsiteY7" fmla="*/ 347663 h 781050"/>
                <a:gd name="connsiteX8" fmla="*/ 253365 w 558164"/>
                <a:gd name="connsiteY8" fmla="*/ 461010 h 781050"/>
                <a:gd name="connsiteX9" fmla="*/ 213360 w 558164"/>
                <a:gd name="connsiteY9" fmla="*/ 406718 h 781050"/>
                <a:gd name="connsiteX10" fmla="*/ 172403 w 558164"/>
                <a:gd name="connsiteY10" fmla="*/ 436245 h 781050"/>
                <a:gd name="connsiteX11" fmla="*/ 253365 w 558164"/>
                <a:gd name="connsiteY11" fmla="*/ 546735 h 781050"/>
                <a:gd name="connsiteX12" fmla="*/ 253365 w 558164"/>
                <a:gd name="connsiteY12" fmla="*/ 781050 h 781050"/>
                <a:gd name="connsiteX13" fmla="*/ 0 w 558164"/>
                <a:gd name="connsiteY13" fmla="*/ 503872 h 781050"/>
                <a:gd name="connsiteX14" fmla="*/ 258128 w 558164"/>
                <a:gd name="connsiteY14" fmla="*/ 25717 h 781050"/>
                <a:gd name="connsiteX15" fmla="*/ 278130 w 558164"/>
                <a:gd name="connsiteY15" fmla="*/ 0 h 781050"/>
                <a:gd name="connsiteX16" fmla="*/ 298133 w 558164"/>
                <a:gd name="connsiteY16" fmla="*/ 25717 h 781050"/>
                <a:gd name="connsiteX17" fmla="*/ 558165 w 558164"/>
                <a:gd name="connsiteY17" fmla="*/ 503872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164" h="781050">
                  <a:moveTo>
                    <a:pt x="558165" y="503872"/>
                  </a:moveTo>
                  <a:cubicBezTo>
                    <a:pt x="558165" y="648653"/>
                    <a:pt x="446723" y="768668"/>
                    <a:pt x="304800" y="781050"/>
                  </a:cubicBezTo>
                  <a:lnTo>
                    <a:pt x="304800" y="702945"/>
                  </a:lnTo>
                  <a:lnTo>
                    <a:pt x="426720" y="549593"/>
                  </a:lnTo>
                  <a:lnTo>
                    <a:pt x="386715" y="518160"/>
                  </a:lnTo>
                  <a:lnTo>
                    <a:pt x="303848" y="621982"/>
                  </a:lnTo>
                  <a:lnTo>
                    <a:pt x="303848" y="347663"/>
                  </a:lnTo>
                  <a:lnTo>
                    <a:pt x="253365" y="347663"/>
                  </a:lnTo>
                  <a:lnTo>
                    <a:pt x="253365" y="461010"/>
                  </a:lnTo>
                  <a:lnTo>
                    <a:pt x="213360" y="406718"/>
                  </a:lnTo>
                  <a:lnTo>
                    <a:pt x="172403" y="436245"/>
                  </a:lnTo>
                  <a:lnTo>
                    <a:pt x="253365" y="546735"/>
                  </a:lnTo>
                  <a:lnTo>
                    <a:pt x="253365" y="781050"/>
                  </a:lnTo>
                  <a:cubicBezTo>
                    <a:pt x="111442" y="768668"/>
                    <a:pt x="0" y="648653"/>
                    <a:pt x="0" y="503872"/>
                  </a:cubicBezTo>
                  <a:cubicBezTo>
                    <a:pt x="0" y="357188"/>
                    <a:pt x="247650" y="39053"/>
                    <a:pt x="258128" y="25717"/>
                  </a:cubicBezTo>
                  <a:lnTo>
                    <a:pt x="278130" y="0"/>
                  </a:lnTo>
                  <a:lnTo>
                    <a:pt x="298133" y="25717"/>
                  </a:lnTo>
                  <a:cubicBezTo>
                    <a:pt x="309562" y="40005"/>
                    <a:pt x="558165" y="357188"/>
                    <a:pt x="558165" y="503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77" name="Freeform: Shape 49"/>
            <p:cNvSpPr/>
            <p:nvPr/>
          </p:nvSpPr>
          <p:spPr>
            <a:xfrm>
              <a:off x="1812606" y="4119562"/>
              <a:ext cx="50482" cy="272415"/>
            </a:xfrm>
            <a:custGeom>
              <a:avLst/>
              <a:gdLst>
                <a:gd name="connsiteX0" fmla="*/ 50482 w 50482"/>
                <a:gd name="connsiteY0" fmla="*/ 0 h 272415"/>
                <a:gd name="connsiteX1" fmla="*/ 50482 w 50482"/>
                <a:gd name="connsiteY1" fmla="*/ 272415 h 272415"/>
                <a:gd name="connsiteX2" fmla="*/ 0 w 50482"/>
                <a:gd name="connsiteY2" fmla="*/ 272415 h 272415"/>
                <a:gd name="connsiteX3" fmla="*/ 0 w 50482"/>
                <a:gd name="connsiteY3" fmla="*/ 0 h 272415"/>
                <a:gd name="connsiteX4" fmla="*/ 25718 w 50482"/>
                <a:gd name="connsiteY4" fmla="*/ 953 h 272415"/>
                <a:gd name="connsiteX5" fmla="*/ 50482 w 50482"/>
                <a:gd name="connsiteY5" fmla="*/ 0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82" h="272415">
                  <a:moveTo>
                    <a:pt x="50482" y="0"/>
                  </a:moveTo>
                  <a:lnTo>
                    <a:pt x="50482" y="272415"/>
                  </a:lnTo>
                  <a:lnTo>
                    <a:pt x="0" y="272415"/>
                  </a:lnTo>
                  <a:lnTo>
                    <a:pt x="0" y="0"/>
                  </a:lnTo>
                  <a:cubicBezTo>
                    <a:pt x="8573" y="953"/>
                    <a:pt x="17145" y="953"/>
                    <a:pt x="25718" y="953"/>
                  </a:cubicBezTo>
                  <a:cubicBezTo>
                    <a:pt x="33338" y="1905"/>
                    <a:pt x="41910" y="953"/>
                    <a:pt x="5048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8" name="Graphic 1"/>
          <p:cNvGrpSpPr/>
          <p:nvPr/>
        </p:nvGrpSpPr>
        <p:grpSpPr>
          <a:xfrm>
            <a:off x="2671342" y="2642131"/>
            <a:ext cx="410427" cy="247897"/>
            <a:chOff x="1347787" y="2615565"/>
            <a:chExt cx="952500" cy="575309"/>
          </a:xfrm>
          <a:solidFill>
            <a:schemeClr val="bg1"/>
          </a:solidFill>
        </p:grpSpPr>
        <p:sp>
          <p:nvSpPr>
            <p:cNvPr id="1479" name="Freeform: Shape 52"/>
            <p:cNvSpPr/>
            <p:nvPr/>
          </p:nvSpPr>
          <p:spPr>
            <a:xfrm>
              <a:off x="2062162" y="2812732"/>
              <a:ext cx="238125" cy="378142"/>
            </a:xfrm>
            <a:custGeom>
              <a:avLst/>
              <a:gdLst>
                <a:gd name="connsiteX0" fmla="*/ 43815 w 238125"/>
                <a:gd name="connsiteY0" fmla="*/ 0 h 378142"/>
                <a:gd name="connsiteX1" fmla="*/ 0 w 238125"/>
                <a:gd name="connsiteY1" fmla="*/ 0 h 378142"/>
                <a:gd name="connsiteX2" fmla="*/ 0 w 238125"/>
                <a:gd name="connsiteY2" fmla="*/ 378142 h 378142"/>
                <a:gd name="connsiteX3" fmla="*/ 238125 w 238125"/>
                <a:gd name="connsiteY3" fmla="*/ 378142 h 378142"/>
                <a:gd name="connsiteX4" fmla="*/ 238125 w 238125"/>
                <a:gd name="connsiteY4" fmla="*/ 195263 h 378142"/>
                <a:gd name="connsiteX5" fmla="*/ 43815 w 238125"/>
                <a:gd name="connsiteY5" fmla="*/ 0 h 37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378142">
                  <a:moveTo>
                    <a:pt x="43815" y="0"/>
                  </a:moveTo>
                  <a:lnTo>
                    <a:pt x="0" y="0"/>
                  </a:lnTo>
                  <a:lnTo>
                    <a:pt x="0" y="378142"/>
                  </a:lnTo>
                  <a:lnTo>
                    <a:pt x="238125" y="378142"/>
                  </a:lnTo>
                  <a:lnTo>
                    <a:pt x="238125" y="195263"/>
                  </a:lnTo>
                  <a:cubicBezTo>
                    <a:pt x="238125" y="87630"/>
                    <a:pt x="150495" y="0"/>
                    <a:pt x="438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0" name="Freeform: Shape 53"/>
            <p:cNvSpPr/>
            <p:nvPr/>
          </p:nvSpPr>
          <p:spPr>
            <a:xfrm>
              <a:off x="1347787" y="2714625"/>
              <a:ext cx="139065" cy="476250"/>
            </a:xfrm>
            <a:custGeom>
              <a:avLst/>
              <a:gdLst>
                <a:gd name="connsiteX0" fmla="*/ 0 w 139065"/>
                <a:gd name="connsiteY0" fmla="*/ 0 h 476250"/>
                <a:gd name="connsiteX1" fmla="*/ 139065 w 139065"/>
                <a:gd name="connsiteY1" fmla="*/ 0 h 476250"/>
                <a:gd name="connsiteX2" fmla="*/ 139065 w 139065"/>
                <a:gd name="connsiteY2" fmla="*/ 476250 h 476250"/>
                <a:gd name="connsiteX3" fmla="*/ 0 w 139065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" h="476250">
                  <a:moveTo>
                    <a:pt x="0" y="0"/>
                  </a:moveTo>
                  <a:lnTo>
                    <a:pt x="139065" y="0"/>
                  </a:lnTo>
                  <a:lnTo>
                    <a:pt x="139065" y="476250"/>
                  </a:lnTo>
                  <a:lnTo>
                    <a:pt x="0" y="476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1" name="Freeform: Shape 54"/>
            <p:cNvSpPr/>
            <p:nvPr/>
          </p:nvSpPr>
          <p:spPr>
            <a:xfrm>
              <a:off x="1522094" y="2615565"/>
              <a:ext cx="540067" cy="435292"/>
            </a:xfrm>
            <a:custGeom>
              <a:avLst/>
              <a:gdLst>
                <a:gd name="connsiteX0" fmla="*/ 344805 w 540067"/>
                <a:gd name="connsiteY0" fmla="*/ 99060 h 435292"/>
                <a:gd name="connsiteX1" fmla="*/ 540068 w 540067"/>
                <a:gd name="connsiteY1" fmla="*/ 99060 h 435292"/>
                <a:gd name="connsiteX2" fmla="*/ 540068 w 540067"/>
                <a:gd name="connsiteY2" fmla="*/ 0 h 435292"/>
                <a:gd name="connsiteX3" fmla="*/ 344805 w 540067"/>
                <a:gd name="connsiteY3" fmla="*/ 0 h 435292"/>
                <a:gd name="connsiteX4" fmla="*/ 259080 w 540067"/>
                <a:gd name="connsiteY4" fmla="*/ 0 h 435292"/>
                <a:gd name="connsiteX5" fmla="*/ 63818 w 540067"/>
                <a:gd name="connsiteY5" fmla="*/ 0 h 435292"/>
                <a:gd name="connsiteX6" fmla="*/ 63818 w 540067"/>
                <a:gd name="connsiteY6" fmla="*/ 99060 h 435292"/>
                <a:gd name="connsiteX7" fmla="*/ 259080 w 540067"/>
                <a:gd name="connsiteY7" fmla="*/ 99060 h 435292"/>
                <a:gd name="connsiteX8" fmla="*/ 259080 w 540067"/>
                <a:gd name="connsiteY8" fmla="*/ 197167 h 435292"/>
                <a:gd name="connsiteX9" fmla="*/ 0 w 540067"/>
                <a:gd name="connsiteY9" fmla="*/ 197167 h 435292"/>
                <a:gd name="connsiteX10" fmla="*/ 0 w 540067"/>
                <a:gd name="connsiteY10" fmla="*/ 435292 h 435292"/>
                <a:gd name="connsiteX11" fmla="*/ 505778 w 540067"/>
                <a:gd name="connsiteY11" fmla="*/ 435292 h 435292"/>
                <a:gd name="connsiteX12" fmla="*/ 505778 w 540067"/>
                <a:gd name="connsiteY12" fmla="*/ 197167 h 435292"/>
                <a:gd name="connsiteX13" fmla="*/ 344805 w 540067"/>
                <a:gd name="connsiteY13" fmla="*/ 197167 h 43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0067" h="435292">
                  <a:moveTo>
                    <a:pt x="344805" y="99060"/>
                  </a:moveTo>
                  <a:lnTo>
                    <a:pt x="540068" y="99060"/>
                  </a:lnTo>
                  <a:lnTo>
                    <a:pt x="540068" y="0"/>
                  </a:lnTo>
                  <a:lnTo>
                    <a:pt x="344805" y="0"/>
                  </a:lnTo>
                  <a:lnTo>
                    <a:pt x="259080" y="0"/>
                  </a:lnTo>
                  <a:lnTo>
                    <a:pt x="63818" y="0"/>
                  </a:lnTo>
                  <a:lnTo>
                    <a:pt x="63818" y="99060"/>
                  </a:lnTo>
                  <a:lnTo>
                    <a:pt x="259080" y="99060"/>
                  </a:lnTo>
                  <a:lnTo>
                    <a:pt x="259080" y="197167"/>
                  </a:lnTo>
                  <a:lnTo>
                    <a:pt x="0" y="197167"/>
                  </a:lnTo>
                  <a:lnTo>
                    <a:pt x="0" y="435292"/>
                  </a:lnTo>
                  <a:lnTo>
                    <a:pt x="505778" y="435292"/>
                  </a:lnTo>
                  <a:lnTo>
                    <a:pt x="505778" y="197167"/>
                  </a:lnTo>
                  <a:lnTo>
                    <a:pt x="344805" y="197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2" name="Graphic 1"/>
          <p:cNvGrpSpPr/>
          <p:nvPr/>
        </p:nvGrpSpPr>
        <p:grpSpPr>
          <a:xfrm>
            <a:off x="2611918" y="5170602"/>
            <a:ext cx="395242" cy="322598"/>
            <a:chOff x="1403984" y="4770119"/>
            <a:chExt cx="917257" cy="748665"/>
          </a:xfrm>
          <a:solidFill>
            <a:schemeClr val="bg1"/>
          </a:solidFill>
        </p:grpSpPr>
        <p:sp>
          <p:nvSpPr>
            <p:cNvPr id="1483" name="Freeform: Shape 59"/>
            <p:cNvSpPr/>
            <p:nvPr/>
          </p:nvSpPr>
          <p:spPr>
            <a:xfrm>
              <a:off x="1957387" y="4770119"/>
              <a:ext cx="363854" cy="734377"/>
            </a:xfrm>
            <a:custGeom>
              <a:avLst/>
              <a:gdLst>
                <a:gd name="connsiteX0" fmla="*/ 103823 w 363854"/>
                <a:gd name="connsiteY0" fmla="*/ 374333 h 734377"/>
                <a:gd name="connsiteX1" fmla="*/ 0 w 363854"/>
                <a:gd name="connsiteY1" fmla="*/ 734378 h 734377"/>
                <a:gd name="connsiteX2" fmla="*/ 363855 w 363854"/>
                <a:gd name="connsiteY2" fmla="*/ 643890 h 734377"/>
                <a:gd name="connsiteX3" fmla="*/ 286703 w 363854"/>
                <a:gd name="connsiteY3" fmla="*/ 563880 h 734377"/>
                <a:gd name="connsiteX4" fmla="*/ 321945 w 363854"/>
                <a:gd name="connsiteY4" fmla="*/ 392430 h 734377"/>
                <a:gd name="connsiteX5" fmla="*/ 75248 w 363854"/>
                <a:gd name="connsiteY5" fmla="*/ 0 h 734377"/>
                <a:gd name="connsiteX6" fmla="*/ 9525 w 363854"/>
                <a:gd name="connsiteY6" fmla="*/ 135255 h 734377"/>
                <a:gd name="connsiteX7" fmla="*/ 171450 w 363854"/>
                <a:gd name="connsiteY7" fmla="*/ 392430 h 734377"/>
                <a:gd name="connsiteX8" fmla="*/ 167640 w 363854"/>
                <a:gd name="connsiteY8" fmla="*/ 440055 h 734377"/>
                <a:gd name="connsiteX9" fmla="*/ 103823 w 363854"/>
                <a:gd name="connsiteY9" fmla="*/ 374333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103823" y="374333"/>
                  </a:moveTo>
                  <a:lnTo>
                    <a:pt x="0" y="734378"/>
                  </a:lnTo>
                  <a:lnTo>
                    <a:pt x="363855" y="643890"/>
                  </a:lnTo>
                  <a:lnTo>
                    <a:pt x="286703" y="563880"/>
                  </a:lnTo>
                  <a:cubicBezTo>
                    <a:pt x="309563" y="509588"/>
                    <a:pt x="321945" y="451485"/>
                    <a:pt x="321945" y="392430"/>
                  </a:cubicBezTo>
                  <a:cubicBezTo>
                    <a:pt x="321945" y="225743"/>
                    <a:pt x="224790" y="72390"/>
                    <a:pt x="75248" y="0"/>
                  </a:cubicBezTo>
                  <a:lnTo>
                    <a:pt x="9525" y="135255"/>
                  </a:lnTo>
                  <a:cubicBezTo>
                    <a:pt x="107633" y="182880"/>
                    <a:pt x="171450" y="283845"/>
                    <a:pt x="171450" y="392430"/>
                  </a:cubicBezTo>
                  <a:cubicBezTo>
                    <a:pt x="171450" y="408623"/>
                    <a:pt x="170498" y="424815"/>
                    <a:pt x="167640" y="440055"/>
                  </a:cubicBezTo>
                  <a:lnTo>
                    <a:pt x="103823" y="3743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4" name="Freeform: Shape 60"/>
            <p:cNvSpPr/>
            <p:nvPr/>
          </p:nvSpPr>
          <p:spPr>
            <a:xfrm>
              <a:off x="1403984" y="4784407"/>
              <a:ext cx="363854" cy="734377"/>
            </a:xfrm>
            <a:custGeom>
              <a:avLst/>
              <a:gdLst>
                <a:gd name="connsiteX0" fmla="*/ 260985 w 363854"/>
                <a:gd name="connsiteY0" fmla="*/ 360045 h 734377"/>
                <a:gd name="connsiteX1" fmla="*/ 363855 w 363854"/>
                <a:gd name="connsiteY1" fmla="*/ 0 h 734377"/>
                <a:gd name="connsiteX2" fmla="*/ 0 w 363854"/>
                <a:gd name="connsiteY2" fmla="*/ 90488 h 734377"/>
                <a:gd name="connsiteX3" fmla="*/ 77153 w 363854"/>
                <a:gd name="connsiteY3" fmla="*/ 170498 h 734377"/>
                <a:gd name="connsiteX4" fmla="*/ 41910 w 363854"/>
                <a:gd name="connsiteY4" fmla="*/ 341948 h 734377"/>
                <a:gd name="connsiteX5" fmla="*/ 288608 w 363854"/>
                <a:gd name="connsiteY5" fmla="*/ 734378 h 734377"/>
                <a:gd name="connsiteX6" fmla="*/ 354330 w 363854"/>
                <a:gd name="connsiteY6" fmla="*/ 599123 h 734377"/>
                <a:gd name="connsiteX7" fmla="*/ 192405 w 363854"/>
                <a:gd name="connsiteY7" fmla="*/ 341948 h 734377"/>
                <a:gd name="connsiteX8" fmla="*/ 196215 w 363854"/>
                <a:gd name="connsiteY8" fmla="*/ 294323 h 734377"/>
                <a:gd name="connsiteX9" fmla="*/ 260985 w 363854"/>
                <a:gd name="connsiteY9" fmla="*/ 360045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260985" y="360045"/>
                  </a:moveTo>
                  <a:lnTo>
                    <a:pt x="363855" y="0"/>
                  </a:lnTo>
                  <a:lnTo>
                    <a:pt x="0" y="90488"/>
                  </a:lnTo>
                  <a:lnTo>
                    <a:pt x="77153" y="170498"/>
                  </a:lnTo>
                  <a:cubicBezTo>
                    <a:pt x="54293" y="224790"/>
                    <a:pt x="41910" y="282893"/>
                    <a:pt x="41910" y="341948"/>
                  </a:cubicBezTo>
                  <a:cubicBezTo>
                    <a:pt x="41910" y="508635"/>
                    <a:pt x="139065" y="661988"/>
                    <a:pt x="288608" y="734378"/>
                  </a:cubicBezTo>
                  <a:lnTo>
                    <a:pt x="354330" y="599123"/>
                  </a:lnTo>
                  <a:cubicBezTo>
                    <a:pt x="256222" y="551498"/>
                    <a:pt x="192405" y="450533"/>
                    <a:pt x="192405" y="341948"/>
                  </a:cubicBezTo>
                  <a:cubicBezTo>
                    <a:pt x="192405" y="325755"/>
                    <a:pt x="193358" y="309563"/>
                    <a:pt x="196215" y="294323"/>
                  </a:cubicBezTo>
                  <a:lnTo>
                    <a:pt x="260985" y="3600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5" name="Graphic 1"/>
          <p:cNvGrpSpPr/>
          <p:nvPr/>
        </p:nvGrpSpPr>
        <p:grpSpPr>
          <a:xfrm>
            <a:off x="2849719" y="3831257"/>
            <a:ext cx="436309" cy="436746"/>
            <a:chOff x="3504247" y="1264920"/>
            <a:chExt cx="951547" cy="952500"/>
          </a:xfrm>
          <a:solidFill>
            <a:schemeClr val="bg1"/>
          </a:solidFill>
        </p:grpSpPr>
        <p:sp>
          <p:nvSpPr>
            <p:cNvPr id="1486" name="Freeform: Shape 62"/>
            <p:cNvSpPr/>
            <p:nvPr/>
          </p:nvSpPr>
          <p:spPr>
            <a:xfrm>
              <a:off x="3643311" y="1403985"/>
              <a:ext cx="674369" cy="674369"/>
            </a:xfrm>
            <a:custGeom>
              <a:avLst/>
              <a:gdLst>
                <a:gd name="connsiteX0" fmla="*/ 674370 w 674369"/>
                <a:gd name="connsiteY0" fmla="*/ 337185 h 674369"/>
                <a:gd name="connsiteX1" fmla="*/ 337185 w 674369"/>
                <a:gd name="connsiteY1" fmla="*/ 674370 h 674369"/>
                <a:gd name="connsiteX2" fmla="*/ 0 w 674369"/>
                <a:gd name="connsiteY2" fmla="*/ 337185 h 674369"/>
                <a:gd name="connsiteX3" fmla="*/ 337185 w 674369"/>
                <a:gd name="connsiteY3" fmla="*/ 0 h 674369"/>
                <a:gd name="connsiteX4" fmla="*/ 674370 w 674369"/>
                <a:gd name="connsiteY4" fmla="*/ 337185 h 67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369" h="674369">
                  <a:moveTo>
                    <a:pt x="674370" y="337185"/>
                  </a:moveTo>
                  <a:cubicBezTo>
                    <a:pt x="674370" y="523407"/>
                    <a:pt x="523407" y="674370"/>
                    <a:pt x="337185" y="674370"/>
                  </a:cubicBezTo>
                  <a:cubicBezTo>
                    <a:pt x="150963" y="674370"/>
                    <a:pt x="0" y="523407"/>
                    <a:pt x="0" y="337185"/>
                  </a:cubicBezTo>
                  <a:cubicBezTo>
                    <a:pt x="0" y="150963"/>
                    <a:pt x="150963" y="0"/>
                    <a:pt x="337185" y="0"/>
                  </a:cubicBezTo>
                  <a:cubicBezTo>
                    <a:pt x="523407" y="0"/>
                    <a:pt x="674370" y="150963"/>
                    <a:pt x="674370" y="3371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7" name="Freeform: Shape 63"/>
            <p:cNvSpPr/>
            <p:nvPr/>
          </p:nvSpPr>
          <p:spPr>
            <a:xfrm>
              <a:off x="3956684" y="1264920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8" name="Freeform: Shape 64"/>
            <p:cNvSpPr/>
            <p:nvPr/>
          </p:nvSpPr>
          <p:spPr>
            <a:xfrm rot="-2700000">
              <a:off x="3646166" y="1393671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5 w 47624"/>
                <a:gd name="connsiteY1" fmla="*/ 0 h 75246"/>
                <a:gd name="connsiteX2" fmla="*/ 47625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5" y="0"/>
                  </a:lnTo>
                  <a:lnTo>
                    <a:pt x="47625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9" name="Freeform: Shape 65"/>
            <p:cNvSpPr/>
            <p:nvPr/>
          </p:nvSpPr>
          <p:spPr>
            <a:xfrm>
              <a:off x="35042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0" name="Freeform: Shape 66"/>
            <p:cNvSpPr/>
            <p:nvPr/>
          </p:nvSpPr>
          <p:spPr>
            <a:xfrm rot="-2700000">
              <a:off x="3632314" y="2028140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1" name="Freeform: Shape 67"/>
            <p:cNvSpPr/>
            <p:nvPr/>
          </p:nvSpPr>
          <p:spPr>
            <a:xfrm>
              <a:off x="3956684" y="2142172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2" name="Freeform: Shape 68"/>
            <p:cNvSpPr/>
            <p:nvPr/>
          </p:nvSpPr>
          <p:spPr>
            <a:xfrm rot="-2699514">
              <a:off x="4266268" y="2013785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4 w 47624"/>
                <a:gd name="connsiteY1" fmla="*/ 0 h 75246"/>
                <a:gd name="connsiteX2" fmla="*/ 47624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4" y="0"/>
                  </a:lnTo>
                  <a:lnTo>
                    <a:pt x="47624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3" name="Freeform: Shape 69"/>
            <p:cNvSpPr/>
            <p:nvPr/>
          </p:nvSpPr>
          <p:spPr>
            <a:xfrm>
              <a:off x="43805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4" name="Freeform: Shape 70"/>
            <p:cNvSpPr/>
            <p:nvPr/>
          </p:nvSpPr>
          <p:spPr>
            <a:xfrm rot="-2700000">
              <a:off x="4252353" y="1408059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95" name="Graphic 1"/>
          <p:cNvGrpSpPr/>
          <p:nvPr/>
        </p:nvGrpSpPr>
        <p:grpSpPr>
          <a:xfrm>
            <a:off x="2642354" y="1532241"/>
            <a:ext cx="359053" cy="359992"/>
            <a:chOff x="8959214" y="2548890"/>
            <a:chExt cx="727710" cy="729614"/>
          </a:xfrm>
          <a:solidFill>
            <a:schemeClr val="bg1"/>
          </a:solidFill>
        </p:grpSpPr>
        <p:sp>
          <p:nvSpPr>
            <p:cNvPr id="1496" name="Freeform: Shape 72"/>
            <p:cNvSpPr/>
            <p:nvPr/>
          </p:nvSpPr>
          <p:spPr>
            <a:xfrm>
              <a:off x="8959214" y="3156584"/>
              <a:ext cx="120967" cy="121920"/>
            </a:xfrm>
            <a:custGeom>
              <a:avLst/>
              <a:gdLst>
                <a:gd name="connsiteX0" fmla="*/ 120968 w 120967"/>
                <a:gd name="connsiteY0" fmla="*/ 33338 h 121920"/>
                <a:gd name="connsiteX1" fmla="*/ 33338 w 120967"/>
                <a:gd name="connsiteY1" fmla="*/ 121920 h 121920"/>
                <a:gd name="connsiteX2" fmla="*/ 0 w 120967"/>
                <a:gd name="connsiteY2" fmla="*/ 88583 h 121920"/>
                <a:gd name="connsiteX3" fmla="*/ 87630 w 120967"/>
                <a:gd name="connsiteY3" fmla="*/ 0 h 121920"/>
                <a:gd name="connsiteX4" fmla="*/ 103823 w 120967"/>
                <a:gd name="connsiteY4" fmla="*/ 18098 h 121920"/>
                <a:gd name="connsiteX5" fmla="*/ 120968 w 120967"/>
                <a:gd name="connsiteY5" fmla="*/ 33338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" h="121920">
                  <a:moveTo>
                    <a:pt x="120968" y="33338"/>
                  </a:moveTo>
                  <a:lnTo>
                    <a:pt x="33338" y="121920"/>
                  </a:lnTo>
                  <a:lnTo>
                    <a:pt x="0" y="88583"/>
                  </a:lnTo>
                  <a:lnTo>
                    <a:pt x="87630" y="0"/>
                  </a:lnTo>
                  <a:cubicBezTo>
                    <a:pt x="92393" y="5715"/>
                    <a:pt x="98108" y="12383"/>
                    <a:pt x="103823" y="18098"/>
                  </a:cubicBezTo>
                  <a:cubicBezTo>
                    <a:pt x="109538" y="22860"/>
                    <a:pt x="115253" y="27623"/>
                    <a:pt x="120968" y="33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497" name="Graphic 1"/>
            <p:cNvGrpSpPr/>
            <p:nvPr/>
          </p:nvGrpSpPr>
          <p:grpSpPr>
            <a:xfrm>
              <a:off x="8971174" y="2548890"/>
              <a:ext cx="715750" cy="716279"/>
              <a:chOff x="8971174" y="2548890"/>
              <a:chExt cx="715750" cy="716279"/>
            </a:xfrm>
            <a:grpFill/>
          </p:grpSpPr>
          <p:sp>
            <p:nvSpPr>
              <p:cNvPr id="1498" name="Freeform: Shape 74"/>
              <p:cNvSpPr/>
              <p:nvPr/>
            </p:nvSpPr>
            <p:spPr>
              <a:xfrm>
                <a:off x="8971174" y="2548890"/>
                <a:ext cx="715750" cy="716279"/>
              </a:xfrm>
              <a:custGeom>
                <a:avLst/>
                <a:gdLst>
                  <a:gd name="connsiteX0" fmla="*/ 686223 w 715750"/>
                  <a:gd name="connsiteY0" fmla="*/ 3810 h 716279"/>
                  <a:gd name="connsiteX1" fmla="*/ 91863 w 715750"/>
                  <a:gd name="connsiteY1" fmla="*/ 180975 h 716279"/>
                  <a:gd name="connsiteX2" fmla="*/ 75670 w 715750"/>
                  <a:gd name="connsiteY2" fmla="*/ 606743 h 716279"/>
                  <a:gd name="connsiteX3" fmla="*/ 149965 w 715750"/>
                  <a:gd name="connsiteY3" fmla="*/ 532447 h 716279"/>
                  <a:gd name="connsiteX4" fmla="*/ 183303 w 715750"/>
                  <a:gd name="connsiteY4" fmla="*/ 565785 h 716279"/>
                  <a:gd name="connsiteX5" fmla="*/ 109008 w 715750"/>
                  <a:gd name="connsiteY5" fmla="*/ 640080 h 716279"/>
                  <a:gd name="connsiteX6" fmla="*/ 313795 w 715750"/>
                  <a:gd name="connsiteY6" fmla="*/ 716280 h 716279"/>
                  <a:gd name="connsiteX7" fmla="*/ 535728 w 715750"/>
                  <a:gd name="connsiteY7" fmla="*/ 624840 h 716279"/>
                  <a:gd name="connsiteX8" fmla="*/ 711940 w 715750"/>
                  <a:gd name="connsiteY8" fmla="*/ 30480 h 716279"/>
                  <a:gd name="connsiteX9" fmla="*/ 715750 w 715750"/>
                  <a:gd name="connsiteY9" fmla="*/ 0 h 716279"/>
                  <a:gd name="connsiteX10" fmla="*/ 686223 w 715750"/>
                  <a:gd name="connsiteY10" fmla="*/ 3810 h 716279"/>
                  <a:gd name="connsiteX11" fmla="*/ 390948 w 715750"/>
                  <a:gd name="connsiteY11" fmla="*/ 454342 h 716279"/>
                  <a:gd name="connsiteX12" fmla="*/ 303318 w 715750"/>
                  <a:gd name="connsiteY12" fmla="*/ 488632 h 716279"/>
                  <a:gd name="connsiteX13" fmla="*/ 215688 w 715750"/>
                  <a:gd name="connsiteY13" fmla="*/ 455295 h 716279"/>
                  <a:gd name="connsiteX14" fmla="*/ 183303 w 715750"/>
                  <a:gd name="connsiteY14" fmla="*/ 362902 h 716279"/>
                  <a:gd name="connsiteX15" fmla="*/ 194733 w 715750"/>
                  <a:gd name="connsiteY15" fmla="*/ 299085 h 716279"/>
                  <a:gd name="connsiteX16" fmla="*/ 217593 w 715750"/>
                  <a:gd name="connsiteY16" fmla="*/ 264795 h 716279"/>
                  <a:gd name="connsiteX17" fmla="*/ 249978 w 715750"/>
                  <a:gd name="connsiteY17" fmla="*/ 242888 h 716279"/>
                  <a:gd name="connsiteX18" fmla="*/ 303318 w 715750"/>
                  <a:gd name="connsiteY18" fmla="*/ 233363 h 716279"/>
                  <a:gd name="connsiteX19" fmla="*/ 390948 w 715750"/>
                  <a:gd name="connsiteY19" fmla="*/ 267652 h 716279"/>
                  <a:gd name="connsiteX20" fmla="*/ 424286 w 715750"/>
                  <a:gd name="connsiteY20" fmla="*/ 361950 h 716279"/>
                  <a:gd name="connsiteX21" fmla="*/ 390948 w 715750"/>
                  <a:gd name="connsiteY21" fmla="*/ 454342 h 716279"/>
                  <a:gd name="connsiteX22" fmla="*/ 500486 w 715750"/>
                  <a:gd name="connsiteY22" fmla="*/ 500063 h 716279"/>
                  <a:gd name="connsiteX23" fmla="*/ 500486 w 715750"/>
                  <a:gd name="connsiteY23" fmla="*/ 516255 h 716279"/>
                  <a:gd name="connsiteX24" fmla="*/ 439525 w 715750"/>
                  <a:gd name="connsiteY24" fmla="*/ 516255 h 716279"/>
                  <a:gd name="connsiteX25" fmla="*/ 445240 w 715750"/>
                  <a:gd name="connsiteY25" fmla="*/ 499110 h 716279"/>
                  <a:gd name="connsiteX26" fmla="*/ 465243 w 715750"/>
                  <a:gd name="connsiteY26" fmla="*/ 477202 h 716279"/>
                  <a:gd name="connsiteX27" fmla="*/ 479530 w 715750"/>
                  <a:gd name="connsiteY27" fmla="*/ 461963 h 716279"/>
                  <a:gd name="connsiteX28" fmla="*/ 483340 w 715750"/>
                  <a:gd name="connsiteY28" fmla="*/ 451485 h 716279"/>
                  <a:gd name="connsiteX29" fmla="*/ 480483 w 715750"/>
                  <a:gd name="connsiteY29" fmla="*/ 442913 h 716279"/>
                  <a:gd name="connsiteX30" fmla="*/ 471911 w 715750"/>
                  <a:gd name="connsiteY30" fmla="*/ 440055 h 716279"/>
                  <a:gd name="connsiteX31" fmla="*/ 463338 w 715750"/>
                  <a:gd name="connsiteY31" fmla="*/ 442913 h 716279"/>
                  <a:gd name="connsiteX32" fmla="*/ 459528 w 715750"/>
                  <a:gd name="connsiteY32" fmla="*/ 454342 h 716279"/>
                  <a:gd name="connsiteX33" fmla="*/ 442383 w 715750"/>
                  <a:gd name="connsiteY33" fmla="*/ 452438 h 716279"/>
                  <a:gd name="connsiteX34" fmla="*/ 451908 w 715750"/>
                  <a:gd name="connsiteY34" fmla="*/ 431482 h 716279"/>
                  <a:gd name="connsiteX35" fmla="*/ 472863 w 715750"/>
                  <a:gd name="connsiteY35" fmla="*/ 424815 h 716279"/>
                  <a:gd name="connsiteX36" fmla="*/ 493818 w 715750"/>
                  <a:gd name="connsiteY36" fmla="*/ 432435 h 716279"/>
                  <a:gd name="connsiteX37" fmla="*/ 501438 w 715750"/>
                  <a:gd name="connsiteY37" fmla="*/ 450532 h 716279"/>
                  <a:gd name="connsiteX38" fmla="*/ 499533 w 715750"/>
                  <a:gd name="connsiteY38" fmla="*/ 461963 h 716279"/>
                  <a:gd name="connsiteX39" fmla="*/ 492865 w 715750"/>
                  <a:gd name="connsiteY39" fmla="*/ 473392 h 716279"/>
                  <a:gd name="connsiteX40" fmla="*/ 481436 w 715750"/>
                  <a:gd name="connsiteY40" fmla="*/ 484822 h 716279"/>
                  <a:gd name="connsiteX41" fmla="*/ 470958 w 715750"/>
                  <a:gd name="connsiteY41" fmla="*/ 495300 h 716279"/>
                  <a:gd name="connsiteX42" fmla="*/ 467148 w 715750"/>
                  <a:gd name="connsiteY42" fmla="*/ 500063 h 716279"/>
                  <a:gd name="connsiteX43" fmla="*/ 500486 w 715750"/>
                  <a:gd name="connsiteY43" fmla="*/ 500063 h 716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15750" h="716279">
                    <a:moveTo>
                      <a:pt x="686223" y="3810"/>
                    </a:moveTo>
                    <a:cubicBezTo>
                      <a:pt x="667173" y="6667"/>
                      <a:pt x="209973" y="62865"/>
                      <a:pt x="91863" y="180975"/>
                    </a:cubicBezTo>
                    <a:cubicBezTo>
                      <a:pt x="-25295" y="297180"/>
                      <a:pt x="-30057" y="483870"/>
                      <a:pt x="75670" y="606743"/>
                    </a:cubicBezTo>
                    <a:lnTo>
                      <a:pt x="149965" y="532447"/>
                    </a:lnTo>
                    <a:lnTo>
                      <a:pt x="183303" y="565785"/>
                    </a:lnTo>
                    <a:lnTo>
                      <a:pt x="109008" y="640080"/>
                    </a:lnTo>
                    <a:cubicBezTo>
                      <a:pt x="168063" y="690563"/>
                      <a:pt x="240453" y="716280"/>
                      <a:pt x="313795" y="716280"/>
                    </a:cubicBezTo>
                    <a:cubicBezTo>
                      <a:pt x="393805" y="716280"/>
                      <a:pt x="474768" y="685800"/>
                      <a:pt x="535728" y="624840"/>
                    </a:cubicBezTo>
                    <a:cubicBezTo>
                      <a:pt x="653838" y="506730"/>
                      <a:pt x="710036" y="50482"/>
                      <a:pt x="711940" y="30480"/>
                    </a:cubicBezTo>
                    <a:lnTo>
                      <a:pt x="715750" y="0"/>
                    </a:lnTo>
                    <a:lnTo>
                      <a:pt x="686223" y="3810"/>
                    </a:lnTo>
                    <a:close/>
                    <a:moveTo>
                      <a:pt x="390948" y="454342"/>
                    </a:moveTo>
                    <a:cubicBezTo>
                      <a:pt x="369040" y="477202"/>
                      <a:pt x="340465" y="488632"/>
                      <a:pt x="303318" y="488632"/>
                    </a:cubicBezTo>
                    <a:cubicBezTo>
                      <a:pt x="266170" y="488632"/>
                      <a:pt x="237595" y="477202"/>
                      <a:pt x="215688" y="455295"/>
                    </a:cubicBezTo>
                    <a:cubicBezTo>
                      <a:pt x="193780" y="432435"/>
                      <a:pt x="183303" y="401955"/>
                      <a:pt x="183303" y="362902"/>
                    </a:cubicBezTo>
                    <a:cubicBezTo>
                      <a:pt x="183303" y="338138"/>
                      <a:pt x="187113" y="316230"/>
                      <a:pt x="194733" y="299085"/>
                    </a:cubicBezTo>
                    <a:cubicBezTo>
                      <a:pt x="200448" y="286702"/>
                      <a:pt x="208068" y="275272"/>
                      <a:pt x="217593" y="264795"/>
                    </a:cubicBezTo>
                    <a:cubicBezTo>
                      <a:pt x="227118" y="254317"/>
                      <a:pt x="237595" y="247650"/>
                      <a:pt x="249978" y="242888"/>
                    </a:cubicBezTo>
                    <a:cubicBezTo>
                      <a:pt x="265218" y="236220"/>
                      <a:pt x="283315" y="233363"/>
                      <a:pt x="303318" y="233363"/>
                    </a:cubicBezTo>
                    <a:cubicBezTo>
                      <a:pt x="339513" y="233363"/>
                      <a:pt x="369040" y="244792"/>
                      <a:pt x="390948" y="267652"/>
                    </a:cubicBezTo>
                    <a:cubicBezTo>
                      <a:pt x="412855" y="290513"/>
                      <a:pt x="424286" y="321945"/>
                      <a:pt x="424286" y="361950"/>
                    </a:cubicBezTo>
                    <a:cubicBezTo>
                      <a:pt x="423333" y="400050"/>
                      <a:pt x="412855" y="431482"/>
                      <a:pt x="390948" y="454342"/>
                    </a:cubicBezTo>
                    <a:close/>
                    <a:moveTo>
                      <a:pt x="500486" y="500063"/>
                    </a:moveTo>
                    <a:lnTo>
                      <a:pt x="500486" y="516255"/>
                    </a:lnTo>
                    <a:lnTo>
                      <a:pt x="439525" y="516255"/>
                    </a:lnTo>
                    <a:cubicBezTo>
                      <a:pt x="440478" y="510540"/>
                      <a:pt x="442383" y="503872"/>
                      <a:pt x="445240" y="499110"/>
                    </a:cubicBezTo>
                    <a:cubicBezTo>
                      <a:pt x="448098" y="493395"/>
                      <a:pt x="454765" y="486727"/>
                      <a:pt x="465243" y="477202"/>
                    </a:cubicBezTo>
                    <a:cubicBezTo>
                      <a:pt x="472863" y="469582"/>
                      <a:pt x="477625" y="464820"/>
                      <a:pt x="479530" y="461963"/>
                    </a:cubicBezTo>
                    <a:cubicBezTo>
                      <a:pt x="482388" y="458152"/>
                      <a:pt x="483340" y="454342"/>
                      <a:pt x="483340" y="451485"/>
                    </a:cubicBezTo>
                    <a:cubicBezTo>
                      <a:pt x="483340" y="447675"/>
                      <a:pt x="482388" y="444817"/>
                      <a:pt x="480483" y="442913"/>
                    </a:cubicBezTo>
                    <a:cubicBezTo>
                      <a:pt x="478578" y="441007"/>
                      <a:pt x="475720" y="440055"/>
                      <a:pt x="471911" y="440055"/>
                    </a:cubicBezTo>
                    <a:cubicBezTo>
                      <a:pt x="468100" y="440055"/>
                      <a:pt x="465243" y="441007"/>
                      <a:pt x="463338" y="442913"/>
                    </a:cubicBezTo>
                    <a:cubicBezTo>
                      <a:pt x="461433" y="444817"/>
                      <a:pt x="459528" y="448627"/>
                      <a:pt x="459528" y="454342"/>
                    </a:cubicBezTo>
                    <a:lnTo>
                      <a:pt x="442383" y="452438"/>
                    </a:lnTo>
                    <a:cubicBezTo>
                      <a:pt x="443336" y="442913"/>
                      <a:pt x="447145" y="436245"/>
                      <a:pt x="451908" y="431482"/>
                    </a:cubicBezTo>
                    <a:cubicBezTo>
                      <a:pt x="456670" y="426720"/>
                      <a:pt x="464290" y="424815"/>
                      <a:pt x="472863" y="424815"/>
                    </a:cubicBezTo>
                    <a:cubicBezTo>
                      <a:pt x="481436" y="424815"/>
                      <a:pt x="489055" y="427672"/>
                      <a:pt x="493818" y="432435"/>
                    </a:cubicBezTo>
                    <a:cubicBezTo>
                      <a:pt x="498580" y="437197"/>
                      <a:pt x="501438" y="442913"/>
                      <a:pt x="501438" y="450532"/>
                    </a:cubicBezTo>
                    <a:cubicBezTo>
                      <a:pt x="501438" y="454342"/>
                      <a:pt x="500486" y="458152"/>
                      <a:pt x="499533" y="461963"/>
                    </a:cubicBezTo>
                    <a:cubicBezTo>
                      <a:pt x="497628" y="465772"/>
                      <a:pt x="495723" y="469582"/>
                      <a:pt x="492865" y="473392"/>
                    </a:cubicBezTo>
                    <a:cubicBezTo>
                      <a:pt x="490961" y="476250"/>
                      <a:pt x="487150" y="480060"/>
                      <a:pt x="481436" y="484822"/>
                    </a:cubicBezTo>
                    <a:cubicBezTo>
                      <a:pt x="475720" y="489585"/>
                      <a:pt x="472863" y="493395"/>
                      <a:pt x="470958" y="495300"/>
                    </a:cubicBezTo>
                    <a:cubicBezTo>
                      <a:pt x="469053" y="497205"/>
                      <a:pt x="468100" y="498157"/>
                      <a:pt x="467148" y="500063"/>
                    </a:cubicBezTo>
                    <a:lnTo>
                      <a:pt x="500486" y="5000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499" name="Freeform: Shape 75"/>
              <p:cNvSpPr/>
              <p:nvPr/>
            </p:nvSpPr>
            <p:spPr>
              <a:xfrm>
                <a:off x="9205912" y="2824162"/>
                <a:ext cx="137160" cy="170497"/>
              </a:xfrm>
              <a:custGeom>
                <a:avLst/>
                <a:gdLst>
                  <a:gd name="connsiteX0" fmla="*/ 68580 w 137160"/>
                  <a:gd name="connsiteY0" fmla="*/ 0 h 170497"/>
                  <a:gd name="connsiteX1" fmla="*/ 19050 w 137160"/>
                  <a:gd name="connsiteY1" fmla="*/ 20955 h 170497"/>
                  <a:gd name="connsiteX2" fmla="*/ 0 w 137160"/>
                  <a:gd name="connsiteY2" fmla="*/ 84772 h 170497"/>
                  <a:gd name="connsiteX3" fmla="*/ 19050 w 137160"/>
                  <a:gd name="connsiteY3" fmla="*/ 148590 h 170497"/>
                  <a:gd name="connsiteX4" fmla="*/ 68580 w 137160"/>
                  <a:gd name="connsiteY4" fmla="*/ 170497 h 170497"/>
                  <a:gd name="connsiteX5" fmla="*/ 118110 w 137160"/>
                  <a:gd name="connsiteY5" fmla="*/ 148590 h 170497"/>
                  <a:gd name="connsiteX6" fmla="*/ 137160 w 137160"/>
                  <a:gd name="connsiteY6" fmla="*/ 83820 h 170497"/>
                  <a:gd name="connsiteX7" fmla="*/ 118110 w 137160"/>
                  <a:gd name="connsiteY7" fmla="*/ 20003 h 170497"/>
                  <a:gd name="connsiteX8" fmla="*/ 68580 w 137160"/>
                  <a:gd name="connsiteY8" fmla="*/ 0 h 170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160" h="170497">
                    <a:moveTo>
                      <a:pt x="68580" y="0"/>
                    </a:moveTo>
                    <a:cubicBezTo>
                      <a:pt x="47625" y="0"/>
                      <a:pt x="31432" y="6667"/>
                      <a:pt x="19050" y="20955"/>
                    </a:cubicBezTo>
                    <a:cubicBezTo>
                      <a:pt x="6668" y="35242"/>
                      <a:pt x="0" y="56197"/>
                      <a:pt x="0" y="84772"/>
                    </a:cubicBezTo>
                    <a:cubicBezTo>
                      <a:pt x="0" y="112395"/>
                      <a:pt x="6668" y="134303"/>
                      <a:pt x="19050" y="148590"/>
                    </a:cubicBezTo>
                    <a:cubicBezTo>
                      <a:pt x="32385" y="162878"/>
                      <a:pt x="48577" y="170497"/>
                      <a:pt x="68580" y="170497"/>
                    </a:cubicBezTo>
                    <a:cubicBezTo>
                      <a:pt x="88582" y="170497"/>
                      <a:pt x="104775" y="162878"/>
                      <a:pt x="118110" y="148590"/>
                    </a:cubicBezTo>
                    <a:cubicBezTo>
                      <a:pt x="130493" y="134303"/>
                      <a:pt x="137160" y="112395"/>
                      <a:pt x="137160" y="83820"/>
                    </a:cubicBezTo>
                    <a:cubicBezTo>
                      <a:pt x="137160" y="55245"/>
                      <a:pt x="130493" y="34290"/>
                      <a:pt x="118110" y="20003"/>
                    </a:cubicBezTo>
                    <a:cubicBezTo>
                      <a:pt x="105727" y="6667"/>
                      <a:pt x="89535" y="0"/>
                      <a:pt x="6858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500" name="Graphic 1"/>
          <p:cNvGrpSpPr/>
          <p:nvPr/>
        </p:nvGrpSpPr>
        <p:grpSpPr>
          <a:xfrm>
            <a:off x="1382852" y="3857842"/>
            <a:ext cx="477894" cy="383576"/>
            <a:chOff x="6348412" y="2426970"/>
            <a:chExt cx="1081087" cy="867727"/>
          </a:xfrm>
          <a:solidFill>
            <a:schemeClr val="bg1"/>
          </a:solidFill>
        </p:grpSpPr>
        <p:grpSp>
          <p:nvGrpSpPr>
            <p:cNvPr id="1501" name="Graphic 1"/>
            <p:cNvGrpSpPr/>
            <p:nvPr/>
          </p:nvGrpSpPr>
          <p:grpSpPr>
            <a:xfrm>
              <a:off x="6348412" y="2426970"/>
              <a:ext cx="1081087" cy="529589"/>
              <a:chOff x="6348412" y="2426970"/>
              <a:chExt cx="1081087" cy="529589"/>
            </a:xfrm>
            <a:grpFill/>
          </p:grpSpPr>
          <p:sp>
            <p:nvSpPr>
              <p:cNvPr id="1503" name="Freeform: Shape 79"/>
              <p:cNvSpPr/>
              <p:nvPr/>
            </p:nvSpPr>
            <p:spPr>
              <a:xfrm>
                <a:off x="6348412" y="2426970"/>
                <a:ext cx="463867" cy="333375"/>
              </a:xfrm>
              <a:custGeom>
                <a:avLst/>
                <a:gdLst>
                  <a:gd name="connsiteX0" fmla="*/ 442913 w 463867"/>
                  <a:gd name="connsiteY0" fmla="*/ 189547 h 333375"/>
                  <a:gd name="connsiteX1" fmla="*/ 462915 w 463867"/>
                  <a:gd name="connsiteY1" fmla="*/ 194310 h 333375"/>
                  <a:gd name="connsiteX2" fmla="*/ 299085 w 463867"/>
                  <a:gd name="connsiteY2" fmla="*/ 333375 h 333375"/>
                  <a:gd name="connsiteX3" fmla="*/ 22860 w 463867"/>
                  <a:gd name="connsiteY3" fmla="*/ 184785 h 333375"/>
                  <a:gd name="connsiteX4" fmla="*/ 0 w 463867"/>
                  <a:gd name="connsiteY4" fmla="*/ 166688 h 333375"/>
                  <a:gd name="connsiteX5" fmla="*/ 22860 w 463867"/>
                  <a:gd name="connsiteY5" fmla="*/ 148590 h 333375"/>
                  <a:gd name="connsiteX6" fmla="*/ 299085 w 463867"/>
                  <a:gd name="connsiteY6" fmla="*/ 0 h 333375"/>
                  <a:gd name="connsiteX7" fmla="*/ 463868 w 463867"/>
                  <a:gd name="connsiteY7" fmla="*/ 146685 h 333375"/>
                  <a:gd name="connsiteX8" fmla="*/ 442913 w 463867"/>
                  <a:gd name="connsiteY8" fmla="*/ 143827 h 333375"/>
                  <a:gd name="connsiteX9" fmla="*/ 293370 w 463867"/>
                  <a:gd name="connsiteY9" fmla="*/ 143827 h 333375"/>
                  <a:gd name="connsiteX10" fmla="*/ 293370 w 463867"/>
                  <a:gd name="connsiteY10" fmla="*/ 189547 h 333375"/>
                  <a:gd name="connsiteX11" fmla="*/ 442913 w 463867"/>
                  <a:gd name="connsiteY11" fmla="*/ 18954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3867" h="333375">
                    <a:moveTo>
                      <a:pt x="442913" y="189547"/>
                    </a:moveTo>
                    <a:cubicBezTo>
                      <a:pt x="450532" y="189547"/>
                      <a:pt x="457200" y="191452"/>
                      <a:pt x="462915" y="194310"/>
                    </a:cubicBezTo>
                    <a:cubicBezTo>
                      <a:pt x="449580" y="273367"/>
                      <a:pt x="381000" y="333375"/>
                      <a:pt x="299085" y="333375"/>
                    </a:cubicBezTo>
                    <a:cubicBezTo>
                      <a:pt x="214313" y="333375"/>
                      <a:pt x="41910" y="200025"/>
                      <a:pt x="22860" y="184785"/>
                    </a:cubicBezTo>
                    <a:lnTo>
                      <a:pt x="0" y="166688"/>
                    </a:lnTo>
                    <a:lnTo>
                      <a:pt x="22860" y="148590"/>
                    </a:lnTo>
                    <a:cubicBezTo>
                      <a:pt x="41910" y="133350"/>
                      <a:pt x="215265" y="0"/>
                      <a:pt x="299085" y="0"/>
                    </a:cubicBezTo>
                    <a:cubicBezTo>
                      <a:pt x="383857" y="0"/>
                      <a:pt x="454343" y="63817"/>
                      <a:pt x="463868" y="146685"/>
                    </a:cubicBezTo>
                    <a:cubicBezTo>
                      <a:pt x="457200" y="144780"/>
                      <a:pt x="449580" y="143827"/>
                      <a:pt x="442913" y="143827"/>
                    </a:cubicBezTo>
                    <a:lnTo>
                      <a:pt x="293370" y="143827"/>
                    </a:lnTo>
                    <a:lnTo>
                      <a:pt x="293370" y="189547"/>
                    </a:lnTo>
                    <a:lnTo>
                      <a:pt x="442913" y="18954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504" name="Freeform: Shape 80"/>
              <p:cNvSpPr/>
              <p:nvPr/>
            </p:nvSpPr>
            <p:spPr>
              <a:xfrm>
                <a:off x="7052309" y="2685097"/>
                <a:ext cx="377189" cy="271462"/>
              </a:xfrm>
              <a:custGeom>
                <a:avLst/>
                <a:gdLst>
                  <a:gd name="connsiteX0" fmla="*/ 377190 w 377189"/>
                  <a:gd name="connsiteY0" fmla="*/ 135255 h 271462"/>
                  <a:gd name="connsiteX1" fmla="*/ 354330 w 377189"/>
                  <a:gd name="connsiteY1" fmla="*/ 153353 h 271462"/>
                  <a:gd name="connsiteX2" fmla="*/ 133350 w 377189"/>
                  <a:gd name="connsiteY2" fmla="*/ 271463 h 271462"/>
                  <a:gd name="connsiteX3" fmla="*/ 0 w 377189"/>
                  <a:gd name="connsiteY3" fmla="*/ 160973 h 271462"/>
                  <a:gd name="connsiteX4" fmla="*/ 28575 w 377189"/>
                  <a:gd name="connsiteY4" fmla="*/ 158115 h 271462"/>
                  <a:gd name="connsiteX5" fmla="*/ 155257 w 377189"/>
                  <a:gd name="connsiteY5" fmla="*/ 158115 h 271462"/>
                  <a:gd name="connsiteX6" fmla="*/ 155257 w 377189"/>
                  <a:gd name="connsiteY6" fmla="*/ 112395 h 271462"/>
                  <a:gd name="connsiteX7" fmla="*/ 29527 w 377189"/>
                  <a:gd name="connsiteY7" fmla="*/ 112395 h 271462"/>
                  <a:gd name="connsiteX8" fmla="*/ 0 w 377189"/>
                  <a:gd name="connsiteY8" fmla="*/ 115253 h 271462"/>
                  <a:gd name="connsiteX9" fmla="*/ 134302 w 377189"/>
                  <a:gd name="connsiteY9" fmla="*/ 0 h 271462"/>
                  <a:gd name="connsiteX10" fmla="*/ 355282 w 377189"/>
                  <a:gd name="connsiteY10" fmla="*/ 118110 h 271462"/>
                  <a:gd name="connsiteX11" fmla="*/ 377190 w 377189"/>
                  <a:gd name="connsiteY11" fmla="*/ 135255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7189" h="271462">
                    <a:moveTo>
                      <a:pt x="377190" y="135255"/>
                    </a:moveTo>
                    <a:lnTo>
                      <a:pt x="354330" y="153353"/>
                    </a:lnTo>
                    <a:cubicBezTo>
                      <a:pt x="339090" y="165735"/>
                      <a:pt x="201930" y="271463"/>
                      <a:pt x="133350" y="271463"/>
                    </a:cubicBezTo>
                    <a:cubicBezTo>
                      <a:pt x="67627" y="271463"/>
                      <a:pt x="12382" y="223838"/>
                      <a:pt x="0" y="160973"/>
                    </a:cubicBezTo>
                    <a:cubicBezTo>
                      <a:pt x="8572" y="159068"/>
                      <a:pt x="18097" y="158115"/>
                      <a:pt x="28575" y="158115"/>
                    </a:cubicBezTo>
                    <a:lnTo>
                      <a:pt x="155257" y="158115"/>
                    </a:lnTo>
                    <a:lnTo>
                      <a:pt x="155257" y="112395"/>
                    </a:lnTo>
                    <a:lnTo>
                      <a:pt x="29527" y="112395"/>
                    </a:lnTo>
                    <a:cubicBezTo>
                      <a:pt x="19050" y="112395"/>
                      <a:pt x="9525" y="113348"/>
                      <a:pt x="0" y="115253"/>
                    </a:cubicBezTo>
                    <a:cubicBezTo>
                      <a:pt x="9525" y="49530"/>
                      <a:pt x="66675" y="0"/>
                      <a:pt x="134302" y="0"/>
                    </a:cubicBezTo>
                    <a:cubicBezTo>
                      <a:pt x="202882" y="0"/>
                      <a:pt x="340042" y="105728"/>
                      <a:pt x="355282" y="118110"/>
                    </a:cubicBezTo>
                    <a:lnTo>
                      <a:pt x="377190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502" name="Freeform: Shape 78"/>
            <p:cNvSpPr/>
            <p:nvPr/>
          </p:nvSpPr>
          <p:spPr>
            <a:xfrm>
              <a:off x="6679881" y="2572702"/>
              <a:ext cx="498157" cy="721994"/>
            </a:xfrm>
            <a:custGeom>
              <a:avLst/>
              <a:gdLst>
                <a:gd name="connsiteX0" fmla="*/ 272415 w 498157"/>
                <a:gd name="connsiteY0" fmla="*/ 452438 h 721994"/>
                <a:gd name="connsiteX1" fmla="*/ 324803 w 498157"/>
                <a:gd name="connsiteY1" fmla="*/ 300990 h 721994"/>
                <a:gd name="connsiteX2" fmla="*/ 373380 w 498157"/>
                <a:gd name="connsiteY2" fmla="*/ 273367 h 721994"/>
                <a:gd name="connsiteX3" fmla="*/ 370523 w 498157"/>
                <a:gd name="connsiteY3" fmla="*/ 247650 h 721994"/>
                <a:gd name="connsiteX4" fmla="*/ 372428 w 498157"/>
                <a:gd name="connsiteY4" fmla="*/ 227647 h 721994"/>
                <a:gd name="connsiteX5" fmla="*/ 292418 w 498157"/>
                <a:gd name="connsiteY5" fmla="*/ 269557 h 721994"/>
                <a:gd name="connsiteX6" fmla="*/ 265748 w 498157"/>
                <a:gd name="connsiteY6" fmla="*/ 304800 h 721994"/>
                <a:gd name="connsiteX7" fmla="*/ 181928 w 498157"/>
                <a:gd name="connsiteY7" fmla="*/ 29527 h 721994"/>
                <a:gd name="connsiteX8" fmla="*/ 132398 w 498157"/>
                <a:gd name="connsiteY8" fmla="*/ 0 h 721994"/>
                <a:gd name="connsiteX9" fmla="*/ 133350 w 498157"/>
                <a:gd name="connsiteY9" fmla="*/ 20002 h 721994"/>
                <a:gd name="connsiteX10" fmla="*/ 131445 w 498157"/>
                <a:gd name="connsiteY10" fmla="*/ 47625 h 721994"/>
                <a:gd name="connsiteX11" fmla="*/ 149543 w 498157"/>
                <a:gd name="connsiteY11" fmla="*/ 60960 h 721994"/>
                <a:gd name="connsiteX12" fmla="*/ 226695 w 498157"/>
                <a:gd name="connsiteY12" fmla="*/ 451485 h 721994"/>
                <a:gd name="connsiteX13" fmla="*/ 0 w 498157"/>
                <a:gd name="connsiteY13" fmla="*/ 699135 h 721994"/>
                <a:gd name="connsiteX14" fmla="*/ 0 w 498157"/>
                <a:gd name="connsiteY14" fmla="*/ 721995 h 721994"/>
                <a:gd name="connsiteX15" fmla="*/ 498157 w 498157"/>
                <a:gd name="connsiteY15" fmla="*/ 721995 h 721994"/>
                <a:gd name="connsiteX16" fmla="*/ 498157 w 498157"/>
                <a:gd name="connsiteY16" fmla="*/ 699135 h 721994"/>
                <a:gd name="connsiteX17" fmla="*/ 272415 w 498157"/>
                <a:gd name="connsiteY17" fmla="*/ 452438 h 7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8157" h="721994">
                  <a:moveTo>
                    <a:pt x="272415" y="452438"/>
                  </a:moveTo>
                  <a:cubicBezTo>
                    <a:pt x="274320" y="416242"/>
                    <a:pt x="283845" y="342900"/>
                    <a:pt x="324803" y="300990"/>
                  </a:cubicBezTo>
                  <a:cubicBezTo>
                    <a:pt x="339090" y="286702"/>
                    <a:pt x="354330" y="277177"/>
                    <a:pt x="373380" y="273367"/>
                  </a:cubicBezTo>
                  <a:cubicBezTo>
                    <a:pt x="371475" y="264795"/>
                    <a:pt x="370523" y="256222"/>
                    <a:pt x="370523" y="247650"/>
                  </a:cubicBezTo>
                  <a:cubicBezTo>
                    <a:pt x="370523" y="240982"/>
                    <a:pt x="371475" y="234315"/>
                    <a:pt x="372428" y="227647"/>
                  </a:cubicBezTo>
                  <a:cubicBezTo>
                    <a:pt x="340995" y="233363"/>
                    <a:pt x="314325" y="247650"/>
                    <a:pt x="292418" y="269557"/>
                  </a:cubicBezTo>
                  <a:cubicBezTo>
                    <a:pt x="281940" y="280035"/>
                    <a:pt x="273368" y="292417"/>
                    <a:pt x="265748" y="304800"/>
                  </a:cubicBezTo>
                  <a:cubicBezTo>
                    <a:pt x="256223" y="202882"/>
                    <a:pt x="234315" y="83820"/>
                    <a:pt x="181928" y="29527"/>
                  </a:cubicBezTo>
                  <a:cubicBezTo>
                    <a:pt x="167640" y="14288"/>
                    <a:pt x="150495" y="4763"/>
                    <a:pt x="132398" y="0"/>
                  </a:cubicBezTo>
                  <a:cubicBezTo>
                    <a:pt x="133350" y="6667"/>
                    <a:pt x="133350" y="13335"/>
                    <a:pt x="133350" y="20002"/>
                  </a:cubicBezTo>
                  <a:cubicBezTo>
                    <a:pt x="133350" y="29527"/>
                    <a:pt x="132398" y="38100"/>
                    <a:pt x="131445" y="47625"/>
                  </a:cubicBezTo>
                  <a:cubicBezTo>
                    <a:pt x="137160" y="50482"/>
                    <a:pt x="143828" y="55245"/>
                    <a:pt x="149543" y="60960"/>
                  </a:cubicBezTo>
                  <a:cubicBezTo>
                    <a:pt x="214313" y="127635"/>
                    <a:pt x="227648" y="348615"/>
                    <a:pt x="226695" y="451485"/>
                  </a:cubicBezTo>
                  <a:cubicBezTo>
                    <a:pt x="100013" y="462915"/>
                    <a:pt x="0" y="569595"/>
                    <a:pt x="0" y="699135"/>
                  </a:cubicBezTo>
                  <a:lnTo>
                    <a:pt x="0" y="721995"/>
                  </a:lnTo>
                  <a:lnTo>
                    <a:pt x="498157" y="721995"/>
                  </a:lnTo>
                  <a:lnTo>
                    <a:pt x="498157" y="699135"/>
                  </a:lnTo>
                  <a:cubicBezTo>
                    <a:pt x="498157" y="571500"/>
                    <a:pt x="398145" y="464820"/>
                    <a:pt x="272415" y="452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07" name="矩形 1606"/>
          <p:cNvSpPr/>
          <p:nvPr/>
        </p:nvSpPr>
        <p:spPr>
          <a:xfrm>
            <a:off x="5252720" y="92646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8" name="矩形: 圆角 1607"/>
          <p:cNvSpPr/>
          <p:nvPr/>
        </p:nvSpPr>
        <p:spPr>
          <a:xfrm>
            <a:off x="5210175" y="93599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8508365" y="102171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新品运营与数据复盘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endParaRPr kumimoji="0" lang="en-US" altLang="zh-CN" sz="1400" b="1" i="0" u="none" strike="noStrike" kern="1200" cap="none" spc="-15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508365" y="126365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「现行框架下，基本无法取得完整的合规身份。」——浙江垦丁律师事务所联合创始人麻策（21世纪经济报道，2026年5月28日）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针对滞销新品调整详情页，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款月销量提升至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180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1" name="矩形: 圆角 1610"/>
          <p:cNvSpPr/>
          <p:nvPr/>
        </p:nvSpPr>
        <p:spPr>
          <a:xfrm>
            <a:off x="540702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新品测款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12" name="矩形: 圆角 1611"/>
          <p:cNvSpPr/>
          <p:nvPr/>
        </p:nvSpPr>
        <p:spPr>
          <a:xfrm>
            <a:off x="645858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流量投放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4" name="TextBox 226"/>
          <p:cNvSpPr txBox="1"/>
          <p:nvPr/>
        </p:nvSpPr>
        <p:spPr>
          <a:xfrm>
            <a:off x="5342255" y="102171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新品上架与流量运营​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15" name="TextBox 226"/>
          <p:cNvSpPr txBox="1"/>
          <p:nvPr/>
        </p:nvSpPr>
        <p:spPr>
          <a:xfrm>
            <a:off x="5342255" y="132461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季度上架 12 款新品，通过精准投放，新品点击率达 8.2%。​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5252720" y="236728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3" name="矩形: 圆角 1672"/>
          <p:cNvSpPr/>
          <p:nvPr/>
        </p:nvSpPr>
        <p:spPr>
          <a:xfrm>
            <a:off x="5210175" y="237680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8508365" y="2462530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物流链路与成本管控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8508365" y="270446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优化物流组合方案，单票物流成本与支出降低1.2美元。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与物流商协商批量折扣，季度物流总支出减少8%。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76" name="矩形: 圆角 1675"/>
          <p:cNvSpPr/>
          <p:nvPr/>
        </p:nvSpPr>
        <p:spPr>
          <a:xfrm>
            <a:off x="540702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物流对接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7" name="矩形: 圆角 1676"/>
          <p:cNvSpPr/>
          <p:nvPr/>
        </p:nvSpPr>
        <p:spPr>
          <a:xfrm>
            <a:off x="645858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时效提升​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8" name="TextBox 226"/>
          <p:cNvSpPr txBox="1"/>
          <p:nvPr/>
        </p:nvSpPr>
        <p:spPr>
          <a:xfrm>
            <a:off x="5342255" y="2462530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订单履约与物流时效优化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9" name="TextBox 226"/>
          <p:cNvSpPr txBox="1"/>
          <p:nvPr/>
        </p:nvSpPr>
        <p:spPr>
          <a:xfrm>
            <a:off x="5342255" y="276542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对接 3 家本地仓，订单发货时效从 48 小时缩至 24 小时。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81" name="矩形 1680"/>
          <p:cNvSpPr/>
          <p:nvPr/>
        </p:nvSpPr>
        <p:spPr>
          <a:xfrm>
            <a:off x="5252720" y="380809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2" name="矩形: 圆角 1681"/>
          <p:cNvSpPr/>
          <p:nvPr/>
        </p:nvSpPr>
        <p:spPr>
          <a:xfrm>
            <a:off x="5210175" y="381762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3" name="文本框 1682"/>
          <p:cNvSpPr txBox="1"/>
          <p:nvPr/>
        </p:nvSpPr>
        <p:spPr>
          <a:xfrm>
            <a:off x="8508365" y="390334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客户体验与满意度提升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8508365" y="414528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完善售后话术库，客户满意度数据从89%升至94%。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新增“客户反馈快速通道”，问题解决时长缩短4小时。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85" name="矩形: 圆角 1684"/>
          <p:cNvSpPr/>
          <p:nvPr/>
        </p:nvSpPr>
        <p:spPr>
          <a:xfrm>
            <a:off x="540702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客诉响应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6" name="矩形: 圆角 1685"/>
          <p:cNvSpPr/>
          <p:nvPr/>
        </p:nvSpPr>
        <p:spPr>
          <a:xfrm>
            <a:off x="645858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纠纷化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解​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7" name="TextBox 226"/>
          <p:cNvSpPr txBox="1"/>
          <p:nvPr/>
        </p:nvSpPr>
        <p:spPr>
          <a:xfrm>
            <a:off x="5342255" y="390334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客户服务与纠纷处理​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8" name="TextBox 226"/>
          <p:cNvSpPr txBox="1"/>
          <p:nvPr/>
        </p:nvSpPr>
        <p:spPr>
          <a:xfrm>
            <a:off x="5342255" y="420624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建立 24 小时客诉响应机制，纠纷解决率提升至 96%。​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90" name="矩形 1689"/>
          <p:cNvSpPr/>
          <p:nvPr/>
        </p:nvSpPr>
        <p:spPr>
          <a:xfrm>
            <a:off x="5252720" y="524891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1" name="矩形: 圆角 1690"/>
          <p:cNvSpPr/>
          <p:nvPr/>
        </p:nvSpPr>
        <p:spPr>
          <a:xfrm>
            <a:off x="5210175" y="525843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2" name="文本框 1691"/>
          <p:cNvSpPr txBox="1"/>
          <p:nvPr/>
        </p:nvSpPr>
        <p:spPr>
          <a:xfrm>
            <a:off x="8508365" y="534352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价格策略与竞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品应对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3" name="文本框 1692"/>
          <p:cNvSpPr txBox="1"/>
          <p:nvPr/>
        </p:nvSpPr>
        <p:spPr>
          <a:xfrm>
            <a:off x="8508365" y="558609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针对竞品降价，推出满减活动，保住75%市场份额。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对高利润产品设置阶梯价，带动整体客单价提升12%。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94" name="矩形: 圆角 1693"/>
          <p:cNvSpPr/>
          <p:nvPr/>
        </p:nvSpPr>
        <p:spPr>
          <a:xfrm>
            <a:off x="540702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竞品追踪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5" name="矩形: 圆角 1694"/>
          <p:cNvSpPr/>
          <p:nvPr/>
        </p:nvSpPr>
        <p:spPr>
          <a:xfrm>
            <a:off x="645858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定价优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化​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6" name="TextBox 226"/>
          <p:cNvSpPr txBox="1"/>
          <p:nvPr/>
        </p:nvSpPr>
        <p:spPr>
          <a:xfrm>
            <a:off x="5342255" y="534352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竞品分析与价格策略调整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7" name="TextBox 226"/>
          <p:cNvSpPr txBox="1"/>
          <p:nvPr/>
        </p:nvSpPr>
        <p:spPr>
          <a:xfrm>
            <a:off x="5342255" y="564705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</a:rPr>
              <a:t>每周监测 15 家竞品价格，动态调整定价，利润率稳 3.5%。</a:t>
            </a: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工作进度汇报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45%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92%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1.xml><?xml version="1.0" encoding="utf-8"?>
<p:tagLst xmlns:p="http://schemas.openxmlformats.org/presentationml/2006/main">
  <p:tag name="KSO_WM_SLIDE_NOBEATY" val="1"/>
</p:tagLst>
</file>

<file path=ppt/tags/tag48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2.xml><?xml version="1.0" encoding="utf-8"?>
<p:tagLst xmlns:p="http://schemas.openxmlformats.org/presentationml/2006/main">
  <p:tag name="KSO_WM_SLIDE_NOBEATY" val="1"/>
</p:tagLst>
</file>

<file path=ppt/tags/tag50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SLIDE_NOBEATY" val="1"/>
</p:tagLst>
</file>

<file path=ppt/tags/tag566.xml><?xml version="1.0" encoding="utf-8"?>
<p:tagLst xmlns:p="http://schemas.openxmlformats.org/presentationml/2006/main">
  <p:tag name="KSO_WM_SLIDE_NOBEATY" val="1"/>
</p:tagLst>
</file>

<file path=ppt/tags/tag567.xml><?xml version="1.0" encoding="utf-8"?>
<p:tagLst xmlns:p="http://schemas.openxmlformats.org/presentationml/2006/main">
  <p:tag name="KSO_WM_SLIDE_NOBEATY" val="1"/>
</p:tagLst>
</file>

<file path=ppt/tags/tag568.xml><?xml version="1.0" encoding="utf-8"?>
<p:tagLst xmlns:p="http://schemas.openxmlformats.org/presentationml/2006/main">
  <p:tag name="KSO_WM_SLIDE_NOBEATY" val="1"/>
</p:tagLst>
</file>

<file path=ppt/tags/tag569.xml><?xml version="1.0" encoding="utf-8"?>
<p:tagLst xmlns:p="http://schemas.openxmlformats.org/presentationml/2006/main">
  <p:tag name="KSO_WM_SLIDE_NOBEATY" val="1"/>
</p:tagLst>
</file>

<file path=ppt/tags/tag570.xml><?xml version="1.0" encoding="utf-8"?>
<p:tagLst xmlns:p="http://schemas.openxmlformats.org/presentationml/2006/main">
  <p:tag name="KSO_WM_SLIDE_NOBEATY" val="1"/>
</p:tagLst>
</file>

<file path=ppt/tags/tag571.xml><?xml version="1.0" encoding="utf-8"?>
<p:tagLst xmlns:p="http://schemas.openxmlformats.org/presentationml/2006/main">
  <p:tag name="KSO_WM_SLIDE_NOBEATY" val="1"/>
</p:tagLst>
</file>

<file path=ppt/tags/tag572.xml><?xml version="1.0" encoding="utf-8"?>
<p:tagLst xmlns:p="http://schemas.openxmlformats.org/presentationml/2006/main">
  <p:tag name="KSO_WM_SLIDE_NOBEATY" val="1"/>
</p:tagLst>
</file>

<file path=ppt/tags/tag573.xml><?xml version="1.0" encoding="utf-8"?>
<p:tagLst xmlns:p="http://schemas.openxmlformats.org/presentationml/2006/main">
  <p:tag name="KSO_WM_SLIDE_NOBEATY" val="1"/>
</p:tagLst>
</file>

<file path=ppt/tags/tag574.xml><?xml version="1.0" encoding="utf-8"?>
<p:tagLst xmlns:p="http://schemas.openxmlformats.org/presentationml/2006/main">
  <p:tag name="KSO_WM_SLIDE_NOBEATY" val="1"/>
</p:tagLst>
</file>

<file path=ppt/tags/tag575.xml><?xml version="1.0" encoding="utf-8"?>
<p:tagLst xmlns:p="http://schemas.openxmlformats.org/presentationml/2006/main">
  <p:tag name="KSO_WM_SLIDE_NOBEATY" val="1"/>
</p:tagLst>
</file>

<file path=ppt/tags/tag576.xml><?xml version="1.0" encoding="utf-8"?>
<p:tagLst xmlns:p="http://schemas.openxmlformats.org/presentationml/2006/main">
  <p:tag name="KSO_WM_SLIDE_NOBEATY" val="1"/>
</p:tagLst>
</file>

<file path=ppt/tags/tag577.xml><?xml version="1.0" encoding="utf-8"?>
<p:tagLst xmlns:p="http://schemas.openxmlformats.org/presentationml/2006/main">
  <p:tag name="KSO_WM_SLIDE_NOBEATY" val="1"/>
</p:tagLst>
</file>

<file path=ppt/tags/tag578.xml><?xml version="1.0" encoding="utf-8"?>
<p:tagLst xmlns:p="http://schemas.openxmlformats.org/presentationml/2006/main">
  <p:tag name="KSO_WM_SLIDE_NOBEATY" val="1"/>
</p:tagLst>
</file>

<file path=ppt/tags/tag579.xml><?xml version="1.0" encoding="utf-8"?>
<p:tagLst xmlns:p="http://schemas.openxmlformats.org/presentationml/2006/main">
  <p:tag name="KSO_WM_SLIDE_NOBEATY" val="1"/>
</p:tagLst>
</file>

<file path=ppt/tags/tag580.xml><?xml version="1.0" encoding="utf-8"?>
<p:tagLst xmlns:p="http://schemas.openxmlformats.org/presentationml/2006/main">
  <p:tag name="KSO_WM_SLIDE_NOBEATY" val="1"/>
</p:tagLst>
</file>

<file path=ppt/tags/tag581.xml><?xml version="1.0" encoding="utf-8"?>
<p:tagLst xmlns:p="http://schemas.openxmlformats.org/presentationml/2006/main">
  <p:tag name="KSO_WM_SLIDE_NOBEATY" val="1"/>
</p:tagLst>
</file>

<file path=ppt/tags/tag582.xml><?xml version="1.0" encoding="utf-8"?>
<p:tagLst xmlns:p="http://schemas.openxmlformats.org/presentationml/2006/main">
  <p:tag name="KSO_WM_SLIDE_NOBEATY" val="1"/>
</p:tagLst>
</file>

<file path=ppt/tags/tag583.xml><?xml version="1.0" encoding="utf-8"?>
<p:tagLst xmlns:p="http://schemas.openxmlformats.org/presentationml/2006/main">
  <p:tag name="KSO_WM_SLIDE_NOBEATY" val="1"/>
</p:tagLst>
</file>

<file path=ppt/tags/tag58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3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3.xml><?xml version="1.0" encoding="utf-8"?>
<p:tagLst xmlns:p="http://schemas.openxmlformats.org/presentationml/2006/main">
  <p:tag name="KSO_WM_SLIDE_NOBEATY" val="1"/>
</p:tagLst>
</file>

<file path=ppt/tags/tag604.xml><?xml version="1.0" encoding="utf-8"?>
<p:tagLst xmlns:p="http://schemas.openxmlformats.org/presentationml/2006/main">
  <p:tag name="KSO_WM_SLIDE_NOBEATY" val="1"/>
</p:tagLst>
</file>

<file path=ppt/tags/tag605.xml><?xml version="1.0" encoding="utf-8"?>
<p:tagLst xmlns:p="http://schemas.openxmlformats.org/presentationml/2006/main">
  <p:tag name="KSO_WM_SLIDE_NOBEATY" val="1"/>
</p:tagLst>
</file>

<file path=ppt/tags/tag606.xml><?xml version="1.0" encoding="utf-8"?>
<p:tagLst xmlns:p="http://schemas.openxmlformats.org/presentationml/2006/main">
  <p:tag name="KSO_WM_SLIDE_NOBEATY" val="1"/>
</p:tagLst>
</file>

<file path=ppt/tags/tag607.xml><?xml version="1.0" encoding="utf-8"?>
<p:tagLst xmlns:p="http://schemas.openxmlformats.org/presentationml/2006/main">
  <p:tag name="KSO_WM_SLIDE_NOBEATY" val="1"/>
</p:tagLst>
</file>

<file path=ppt/tags/tag608.xml><?xml version="1.0" encoding="utf-8"?>
<p:tagLst xmlns:p="http://schemas.openxmlformats.org/presentationml/2006/main">
  <p:tag name="KSO_WM_SLIDE_NOBEATY" val="1"/>
</p:tagLst>
</file>

<file path=ppt/tags/tag609.xml><?xml version="1.0" encoding="utf-8"?>
<p:tagLst xmlns:p="http://schemas.openxmlformats.org/presentationml/2006/main">
  <p:tag name="KSO_WM_SLIDE_NOBEATY" val="1"/>
</p:tagLst>
</file>

<file path=ppt/tags/tag610.xml><?xml version="1.0" encoding="utf-8"?>
<p:tagLst xmlns:p="http://schemas.openxmlformats.org/presentationml/2006/main">
  <p:tag name="KSO_WM_SLIDE_NOBEATY" val="1"/>
</p:tagLst>
</file>

<file path=ppt/tags/tag611.xml><?xml version="1.0" encoding="utf-8"?>
<p:tagLst xmlns:p="http://schemas.openxmlformats.org/presentationml/2006/main">
  <p:tag name="KSO_WM_SLIDE_NOBEATY" val="1"/>
</p:tagLst>
</file>

<file path=ppt/tags/tag612.xml><?xml version="1.0" encoding="utf-8"?>
<p:tagLst xmlns:p="http://schemas.openxmlformats.org/presentationml/2006/main">
  <p:tag name="KSO_WM_SLIDE_NOBEATY" val="1"/>
</p:tagLst>
</file>

<file path=ppt/tags/tag61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4.xml><?xml version="1.0" encoding="utf-8"?>
<p:tagLst xmlns:p="http://schemas.openxmlformats.org/presentationml/2006/main">
  <p:tag name="KSO_WM_SLIDE_NOBEATY" val="1"/>
</p:tagLst>
</file>

<file path=ppt/tags/tag655.xml><?xml version="1.0" encoding="utf-8"?>
<p:tagLst xmlns:p="http://schemas.openxmlformats.org/presentationml/2006/main">
  <p:tag name="KSO_WM_SLIDE_NOBEATY" val="1"/>
</p:tagLst>
</file>

<file path=ppt/tags/tag656.xml><?xml version="1.0" encoding="utf-8"?>
<p:tagLst xmlns:p="http://schemas.openxmlformats.org/presentationml/2006/main">
  <p:tag name="KSO_WM_SLIDE_NOBEATY" val="1"/>
</p:tagLst>
</file>

<file path=ppt/tags/tag657.xml><?xml version="1.0" encoding="utf-8"?>
<p:tagLst xmlns:p="http://schemas.openxmlformats.org/presentationml/2006/main">
  <p:tag name="KSO_WM_SLIDE_NOBEATY" val="1"/>
</p:tagLst>
</file>

<file path=ppt/tags/tag658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